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74" r:id="rId5"/>
    <p:sldId id="273" r:id="rId6"/>
    <p:sldId id="271" r:id="rId7"/>
    <p:sldId id="272" r:id="rId8"/>
    <p:sldId id="270" r:id="rId9"/>
    <p:sldId id="259" r:id="rId10"/>
    <p:sldId id="275" r:id="rId11"/>
    <p:sldId id="261" r:id="rId12"/>
    <p:sldId id="291" r:id="rId13"/>
    <p:sldId id="260" r:id="rId14"/>
    <p:sldId id="276" r:id="rId15"/>
    <p:sldId id="277" r:id="rId16"/>
    <p:sldId id="278" r:id="rId17"/>
    <p:sldId id="279" r:id="rId18"/>
    <p:sldId id="280" r:id="rId19"/>
    <p:sldId id="281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6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3061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Uvodni slajd: najavi da prezentacija prvo objašnjava zašto je konsenzus težak problem, zatim ideju NBFT algoritma, a na kraju kako je algoritam pretočen u C++ simulator.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Objasni da konsenzus znači dogovor više nezavisnih čvorova oko iste vrednosti. U kontekstu rada to je važno za blockchain i slične sisteme gde ne smemo da dozvolimo da neispravan čvor promeni konačnu odluku.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Ovde istakni prelaz: PBFT je osnova, ali problem je skalabilnost. NBFT pokušava da zadrži tolerantnost na greške, ali smanji komunikaciju preko grupisanja i predstavnika grupa.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Ovde istakni prelaz: PBFT je osnova, ali problem je skalabilnost. NBFT pokušava da zadrži tolerantnost na greške, ali smanji komunikaciju preko grupisanja i predstavnika grupa.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4585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Ovde istakni prelaz: PBFT je osnova, ali problem je skalabilnost. NBFT pokušava da zadrži tolerantnost na greške, ali smanji komunikaciju preko grupisanja i predstavnika grupa.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0599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Ovde istakni prelaz: PBFT je osnova, ali problem je skalabilnost. NBFT pokušava da zadrži tolerantnost na greške, ali smanji komunikaciju preko grupisanja i predstavnika grupa.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6645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Ovde istakni prelaz: PBFT je osnova, ali problem je skalabilnost. NBFT pokušava da zadrži tolerantnost na greške, ali smanji komunikaciju preko grupisanja i predstavnika grupa.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8332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Ovde istakni prelaz: PBFT je osnova, ali problem je skalabilnost. NBFT pokušava da zadrži tolerantnost na greške, ali smanji komunikaciju preko grupisanja i predstavnika grupa.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0960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Objasni parametre na primeru implementacije: n=17, jedan primary i 16 čvorova u 4 grupe po 4. Lokalni kvorum je 2E+1=3, a globalni prag u out-prepare je (R-w)m=12.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Objasni parametre na primeru implementacije: n=17, jedan primary i 16 čvorova u 4 grupe po 4. Lokalni kvorum je 2E+1=3, a globalni prag u out-prepare je (R-w)m=12.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232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Ovaj slajd koristiš kao mapu celog algoritma. Naglasi da su faze iz rada direktno mapirane u tipove poruka u simulatoru.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Ovaj slajd koristiš kao mapu celog algoritma. Naglasi da su faze iz rada direktno mapirane u tipove poruka u simulatoru.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071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Ovde reci da se u radu koristi consistent hashing. Poenta nije samo raspodela, već i smanjenje rizika dogovorenog napada, jer uloge nisu unapred statički vezane za iste čvorove.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Ovde reci da se u radu koristi consistent hashing. Poenta nije samo raspodela, već i smanjenje rizika dogovorenog napada, jer uloge nisu unapred statički vezane za iste čvorove.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7290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Ovde reci da se u radu koristi consistent hashing. Poenta nije samo raspodela, već i smanjenje rizika dogovorenog napada, jer uloge nisu unapred statički vezane za iste čvorove.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3784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Ovde reci da se u radu koristi consistent hashing. Poenta nije samo raspodela, već i smanjenje rizika dogovorenog napada, jer uloge nisu unapred statički vezane za iste čvorove.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1546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Ovde reci da se u radu koristi consistent hashing. Poenta nije samo raspodela, već i smanjenje rizika dogovorenog napada, jer uloge nisu unapred statički vezane za iste čvorove.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1280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Ovde reci da se u radu koristi consistent hashing. Poenta nije samo raspodela, već i smanjenje rizika dogovorenog napada, jer uloge nisu unapred statički vezane za iste čvorove.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9536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Ovde reci da se u radu koristi consistent hashing. Poenta nije samo raspodela, već i smanjenje rizika dogovorenog napada, jer uloge nisu unapred statički vezane za iste čvorove.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4427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Ovde reci da se u radu koristi consistent hashing. Poenta nije samo raspodela, već i smanjenje rizika dogovorenog napada, jer uloge nisu unapred statički vezane za iste čvorove.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901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Ovde reci da se u radu koristi consistent hashing. Poenta nije samo raspodela, već i smanjenje rizika dogovorenog napada, jer uloge nisu unapred statički vezane za iste čvorove.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8369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Ovde reci da se u radu koristi consistent hashing. Poenta nije samo raspodela, već i smanjenje rizika dogovorenog napada, jer uloge nisu unapred statički vezane za iste čvorove.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9714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Ovde reci da se u radu koristi consistent hashing. Poenta nije samo raspodela, već i smanjenje rizika dogovorenog napada, jer uloge nisu unapred statički vezane za iste čvorove.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2350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Ovde reci da se u radu koristi consistent hashing. Poenta nije samo raspodela, već i smanjenje rizika dogovorenog napada, jer uloge nisu unapred statički vezane za iste čvorove.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1891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Ovde reci da se u radu koristi consistent hashing. Poenta nije samo raspodela, već i smanjenje rizika dogovorenog napada, jer uloge nisu unapred statički vezane za iste čvorove.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5345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Ovde reci da se u radu koristi consistent hashing. Poenta nije samo raspodela, već i smanjenje rizika dogovorenog napada, jer uloge nisu unapred statički vezane za iste čvorove.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5271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Ovde reci da se u radu koristi consistent hashing. Poenta nije samo raspodela, već i smanjenje rizika dogovorenog napada, jer uloge nisu unapred statički vezane za iste čvorove.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051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21"/>
          <p:cNvSpPr/>
          <p:nvPr/>
        </p:nvSpPr>
        <p:spPr>
          <a:xfrm>
            <a:off x="685800" y="731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1234440"/>
            <a:ext cx="6126480" cy="1417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r>
              <a:rPr lang="en-US" sz="4400" dirty="0">
                <a:solidFill>
                  <a:srgbClr val="CBD5E1"/>
                </a:solidFill>
              </a:rPr>
              <a:t>Improved Fault-Tolerant Consensus Based on the PBFT Algorithm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713232" y="29718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3232" y="6080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Jelena Gajić  •  E2 16/2025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MOTIVACIJA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Zašto je potreban konsenzus?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12680" y="64465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NBFT konsenzus  • 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49377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Distribuirani sistem nema jednu centralnu komponentu kojoj svi bezuslovno veruju. Čvorovi moraju razmenom poruka da dođu do iste odluke.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4937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je teži kada deo čvorova kasni, ne odgovara ili šalje pogrešne vrednosti.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 flipV="1">
            <a:off x="6583680" y="2356866"/>
            <a:ext cx="1508760" cy="386334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183880" y="2468880"/>
            <a:ext cx="502920" cy="118872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00800" y="3886200"/>
            <a:ext cx="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89320" y="2423160"/>
            <a:ext cx="685800" cy="685800"/>
          </a:xfrm>
          <a:prstGeom prst="ellipse">
            <a:avLst/>
          </a:prstGeom>
          <a:solidFill>
            <a:srgbClr val="2DD4BF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635758"/>
            <a:ext cx="6858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120"/>
                </a:solidFill>
              </a:rPr>
              <a:t>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09560" y="1828800"/>
            <a:ext cx="685800" cy="685800"/>
          </a:xfrm>
          <a:prstGeom prst="ellipse">
            <a:avLst/>
          </a:prstGeom>
          <a:solidFill>
            <a:srgbClr val="2DD4BF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9560" y="2041398"/>
            <a:ext cx="6858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120"/>
                </a:solidFill>
              </a:rPr>
              <a:t>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49640" y="3520440"/>
            <a:ext cx="685800" cy="685800"/>
          </a:xfrm>
          <a:prstGeom prst="ellipse">
            <a:avLst/>
          </a:prstGeom>
          <a:solidFill>
            <a:srgbClr val="FB7185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3733038"/>
            <a:ext cx="6858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120"/>
                </a:solidFill>
              </a:rPr>
              <a:t>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3886200"/>
            <a:ext cx="685800" cy="685800"/>
          </a:xfrm>
          <a:prstGeom prst="ellipse">
            <a:avLst/>
          </a:prstGeom>
          <a:solidFill>
            <a:srgbClr val="2DD4BF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4098798"/>
            <a:ext cx="6858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120"/>
                </a:solidFill>
              </a:rPr>
              <a:t>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489204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2DD4BF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4768" y="4946904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120"/>
                </a:solidFill>
              </a:rPr>
              <a:t>ispravni čvorovi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275320" y="489204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FB7185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85048" y="4946904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120"/>
                </a:solidFill>
              </a:rPr>
              <a:t>vizantijski čvor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97880" y="5532120"/>
            <a:ext cx="51206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Cilj: svi ispravni čvorovi odluče istu vrednost.</a:t>
            </a:r>
            <a:endParaRPr lang="en-US" sz="1800" dirty="0"/>
          </a:p>
        </p:txBody>
      </p:sp>
      <p:cxnSp>
        <p:nvCxnSpPr>
          <p:cNvPr id="26" name="Straight Arrow Connector 25"/>
          <p:cNvCxnSpPr>
            <a:endCxn id="18" idx="0"/>
          </p:cNvCxnSpPr>
          <p:nvPr/>
        </p:nvCxnSpPr>
        <p:spPr>
          <a:xfrm>
            <a:off x="6400800" y="2896362"/>
            <a:ext cx="22860" cy="989838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6583680" y="2302002"/>
            <a:ext cx="1508760" cy="1840231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V="1">
            <a:off x="6515100" y="3886200"/>
            <a:ext cx="2263140" cy="41148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6" idx="2"/>
            <a:endCxn id="12" idx="5"/>
          </p:cNvCxnSpPr>
          <p:nvPr/>
        </p:nvCxnSpPr>
        <p:spPr>
          <a:xfrm flipH="1" flipV="1">
            <a:off x="6574687" y="3008527"/>
            <a:ext cx="1974953" cy="854813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GLAVNA IDEJA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pl-PL" sz="3200" dirty="0">
                <a:solidFill>
                  <a:schemeClr val="bg1"/>
                </a:solidFill>
              </a:rPr>
              <a:t>Uvod u BFT i PBFT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1206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700" dirty="0"/>
          </a:p>
        </p:txBody>
      </p:sp>
      <p:sp>
        <p:nvSpPr>
          <p:cNvPr id="64" name="Rectangle 63"/>
          <p:cNvSpPr/>
          <p:nvPr/>
        </p:nvSpPr>
        <p:spPr>
          <a:xfrm>
            <a:off x="685800" y="1417320"/>
            <a:ext cx="1110996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Problem Byzantine Fault Tolerance poznat je od 1982. godine.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Cilj BFT algoritama je da distribuirani sistem postigne konsenzus i kada se neki čvorovi ponašaju neispravno ili zlonamerno.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Originalni BFT algoritmi nisu bili praktični zbog veoma velike komunikacione složenosti.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PBFT algoritam je predložen 1999. godine kao praktičnije rešenje Byzantine fault tolerance problema.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PBFT je smanjio složenost sa eksponencijalne na </a:t>
            </a:r>
            <a:r>
              <a:rPr lang="en-US" dirty="0" err="1" smtClean="0">
                <a:solidFill>
                  <a:schemeClr val="bg1"/>
                </a:solidFill>
                <a:latin typeface="Arial" panose="020B0604020202020204" pitchFamily="34" charset="0"/>
              </a:rPr>
              <a:t>polinomsku</a:t>
            </a:r>
            <a:r>
              <a:rPr lang="sr-Latn-RS" dirty="0" smtClean="0">
                <a:solidFill>
                  <a:schemeClr val="bg1"/>
                </a:solidFill>
                <a:latin typeface="Arial" panose="020B0604020202020204" pitchFamily="34" charset="0"/>
              </a:rPr>
              <a:t>.</a:t>
            </a: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GLAVNA IDEJA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pl-PL" sz="3200" dirty="0">
                <a:solidFill>
                  <a:schemeClr val="bg1"/>
                </a:solidFill>
              </a:rPr>
              <a:t>Ideje poboljšanja PBFT-a i prelazak na NBFT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1206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700" dirty="0"/>
          </a:p>
        </p:txBody>
      </p:sp>
      <p:sp>
        <p:nvSpPr>
          <p:cNvPr id="64" name="Rectangle 63"/>
          <p:cNvSpPr/>
          <p:nvPr/>
        </p:nvSpPr>
        <p:spPr>
          <a:xfrm>
            <a:off x="685800" y="1276004"/>
            <a:ext cx="1110996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>
                <a:solidFill>
                  <a:schemeClr val="bg1"/>
                </a:solidFill>
              </a:rPr>
              <a:t>Korišćeni su različiti pristupi: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r-Latn-RS" dirty="0">
                <a:solidFill>
                  <a:schemeClr val="bg1"/>
                </a:solidFill>
              </a:rPr>
              <a:t>višeslojni </a:t>
            </a:r>
            <a:r>
              <a:rPr lang="sr-Latn-RS" dirty="0" smtClean="0">
                <a:solidFill>
                  <a:schemeClr val="bg1"/>
                </a:solidFill>
              </a:rPr>
              <a:t>PBFT</a:t>
            </a:r>
            <a:endParaRPr lang="sr-Latn-RS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r-Latn-RS" dirty="0">
                <a:solidFill>
                  <a:schemeClr val="bg1"/>
                </a:solidFill>
              </a:rPr>
              <a:t>grupisanje </a:t>
            </a:r>
            <a:r>
              <a:rPr lang="sr-Latn-RS" dirty="0" smtClean="0">
                <a:solidFill>
                  <a:schemeClr val="bg1"/>
                </a:solidFill>
              </a:rPr>
              <a:t>čvorova</a:t>
            </a:r>
            <a:endParaRPr lang="sr-Latn-RS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r-Latn-RS" dirty="0">
                <a:solidFill>
                  <a:schemeClr val="bg1"/>
                </a:solidFill>
              </a:rPr>
              <a:t>sharding </a:t>
            </a:r>
            <a:r>
              <a:rPr lang="sr-Latn-RS" dirty="0" smtClean="0">
                <a:solidFill>
                  <a:schemeClr val="bg1"/>
                </a:solidFill>
              </a:rPr>
              <a:t>mreže</a:t>
            </a:r>
            <a:endParaRPr lang="sr-Latn-RS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r-Latn-RS" dirty="0" smtClean="0">
                <a:solidFill>
                  <a:schemeClr val="bg1"/>
                </a:solidFill>
              </a:rPr>
              <a:t>threshold </a:t>
            </a:r>
            <a:r>
              <a:rPr lang="sr-Latn-RS" dirty="0">
                <a:solidFill>
                  <a:schemeClr val="bg1"/>
                </a:solidFill>
              </a:rPr>
              <a:t>signature </a:t>
            </a:r>
            <a:r>
              <a:rPr lang="sr-Latn-RS" dirty="0" smtClean="0">
                <a:solidFill>
                  <a:schemeClr val="bg1"/>
                </a:solidFill>
              </a:rPr>
              <a:t>mehanizmi</a:t>
            </a:r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>
                <a:solidFill>
                  <a:schemeClr val="bg1"/>
                </a:solidFill>
              </a:rPr>
              <a:t>Prethodna poboljšanja PBFT-a uglavnom su bila usmerena na: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r-Latn-RS" dirty="0">
                <a:solidFill>
                  <a:schemeClr val="bg1"/>
                </a:solidFill>
              </a:rPr>
              <a:t>smanjenje komunikacione </a:t>
            </a:r>
            <a:r>
              <a:rPr lang="sr-Latn-RS" dirty="0" smtClean="0">
                <a:solidFill>
                  <a:schemeClr val="bg1"/>
                </a:solidFill>
              </a:rPr>
              <a:t>složenosti</a:t>
            </a:r>
            <a:endParaRPr lang="sr-Latn-RS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r-Latn-RS" dirty="0">
                <a:solidFill>
                  <a:schemeClr val="bg1"/>
                </a:solidFill>
              </a:rPr>
              <a:t>povećanje </a:t>
            </a:r>
            <a:r>
              <a:rPr lang="sr-Latn-RS" dirty="0" smtClean="0">
                <a:solidFill>
                  <a:schemeClr val="bg1"/>
                </a:solidFill>
              </a:rPr>
              <a:t>skalabilnosti</a:t>
            </a:r>
            <a:endParaRPr lang="sr-Latn-RS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r-Latn-RS" dirty="0">
                <a:solidFill>
                  <a:schemeClr val="bg1"/>
                </a:solidFill>
              </a:rPr>
              <a:t>ubrzanje procesa </a:t>
            </a:r>
            <a:r>
              <a:rPr lang="sr-Latn-RS" dirty="0" smtClean="0">
                <a:solidFill>
                  <a:schemeClr val="bg1"/>
                </a:solidFill>
              </a:rPr>
              <a:t>konsenzusa</a:t>
            </a:r>
            <a:endParaRPr lang="en-US" dirty="0" smtClean="0">
              <a:solidFill>
                <a:schemeClr val="bg1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Ova rešenja mogu poboljšati performanse, ali često imaju nedostatke: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smanjuju stepen </a:t>
            </a:r>
            <a:r>
              <a:rPr lang="sr-Latn-RS" dirty="0" smtClean="0">
                <a:solidFill>
                  <a:schemeClr val="bg1"/>
                </a:solidFill>
                <a:latin typeface="Arial" panose="020B0604020202020204" pitchFamily="34" charset="0"/>
              </a:rPr>
              <a:t>decentralizacije</a:t>
            </a: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u konsenzusu ne učestvuju svi </a:t>
            </a:r>
            <a:r>
              <a:rPr lang="sr-Latn-RS" dirty="0" smtClean="0">
                <a:solidFill>
                  <a:schemeClr val="bg1"/>
                </a:solidFill>
                <a:latin typeface="Arial" panose="020B0604020202020204" pitchFamily="34" charset="0"/>
              </a:rPr>
              <a:t>čvorovi</a:t>
            </a: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povećava se zavisnost od izabranih čvorova ili primary </a:t>
            </a:r>
            <a:r>
              <a:rPr lang="sr-Latn-RS" dirty="0" smtClean="0">
                <a:solidFill>
                  <a:schemeClr val="bg1"/>
                </a:solidFill>
                <a:latin typeface="Arial" panose="020B0604020202020204" pitchFamily="34" charset="0"/>
              </a:rPr>
              <a:t>čvora</a:t>
            </a: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sigurnost i tolerancija grešaka mogu biti </a:t>
            </a:r>
            <a:r>
              <a:rPr lang="sr-Latn-RS" dirty="0" smtClean="0">
                <a:solidFill>
                  <a:schemeClr val="bg1"/>
                </a:solidFill>
                <a:latin typeface="Arial" panose="020B0604020202020204" pitchFamily="34" charset="0"/>
              </a:rPr>
              <a:t>oslabljene</a:t>
            </a: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NBFT se uvodi kao rešenje koje pokušava da istovremeno poboljša: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 smtClean="0">
                <a:solidFill>
                  <a:schemeClr val="bg1"/>
                </a:solidFill>
                <a:latin typeface="Arial" panose="020B0604020202020204" pitchFamily="34" charset="0"/>
              </a:rPr>
              <a:t>skalabilnost</a:t>
            </a: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komunikacionu </a:t>
            </a:r>
            <a:r>
              <a:rPr lang="sr-Latn-RS" dirty="0" smtClean="0">
                <a:solidFill>
                  <a:schemeClr val="bg1"/>
                </a:solidFill>
                <a:latin typeface="Arial" panose="020B0604020202020204" pitchFamily="34" charset="0"/>
              </a:rPr>
              <a:t>efikasnost</a:t>
            </a: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 smtClean="0">
                <a:solidFill>
                  <a:schemeClr val="bg1"/>
                </a:solidFill>
                <a:latin typeface="Arial" panose="020B0604020202020204" pitchFamily="34" charset="0"/>
              </a:rPr>
              <a:t>decentralizaciju</a:t>
            </a: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sr-Latn-RS" dirty="0">
              <a:latin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lvl="1"/>
            <a:endParaRPr lang="sr-Latn-RS" dirty="0">
              <a:solidFill>
                <a:schemeClr val="bg1"/>
              </a:solidFill>
            </a:endParaRPr>
          </a:p>
          <a:p>
            <a:pPr lvl="1"/>
            <a:endParaRPr lang="sr-Latn-RS" dirty="0">
              <a:solidFill>
                <a:schemeClr val="bg1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98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GLAVNA IDEJA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sr-Latn-RS" sz="3200" dirty="0">
                <a:solidFill>
                  <a:schemeClr val="bg1"/>
                </a:solidFill>
              </a:rPr>
              <a:t>Osnovna ideja algoritma NBFT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1206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700" dirty="0"/>
          </a:p>
        </p:txBody>
      </p:sp>
      <p:sp>
        <p:nvSpPr>
          <p:cNvPr id="62" name="Rectangle 61"/>
          <p:cNvSpPr/>
          <p:nvPr/>
        </p:nvSpPr>
        <p:spPr>
          <a:xfrm>
            <a:off x="640080" y="1417320"/>
            <a:ext cx="992539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 smtClean="0">
                <a:solidFill>
                  <a:schemeClr val="bg1"/>
                </a:solidFill>
                <a:latin typeface="Arial" panose="020B0604020202020204" pitchFamily="34" charset="0"/>
              </a:rPr>
              <a:t>Glavni </a:t>
            </a: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cilj je da se smanji komunikaciona složenost i poveća skalabilnost mreže.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Čvorovi se ne posmatraju kao jedna velika grupa, već se dele u manje grupe pomoću consistent hash algoritma.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Konsenzus se prvo postiže unutar svake grupe, a zatim se odluke grupa koriste za globalni konsenzus.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 smtClean="0">
                <a:solidFill>
                  <a:schemeClr val="bg1"/>
                </a:solidFill>
                <a:latin typeface="Arial" panose="020B0604020202020204" pitchFamily="34" charset="0"/>
              </a:rPr>
              <a:t>Algoritam </a:t>
            </a: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nastoji da poveća granicu tolerancije grešaka u odnosu na klasični PBFT. </a:t>
            </a:r>
            <a:endParaRPr lang="en-US" dirty="0" smtClean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" y="3059243"/>
            <a:ext cx="923544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NBFT skriva identitet consensus čvorova unapred.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Čvorovi ne znaju unapred ko će biti izabran kao primary ili predstavnik grupe.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Time se smanjuje mogućnost udruživanja Byzantine čvorova.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 smtClean="0">
                <a:solidFill>
                  <a:schemeClr val="bg1"/>
                </a:solidFill>
                <a:latin typeface="Arial" panose="020B0604020202020204" pitchFamily="34" charset="0"/>
              </a:rPr>
              <a:t>Ideja </a:t>
            </a: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je slična pooling-u u neuronskim mrežama: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veliki skup čvorova se postepeno svodi na manji broj predstavnika.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2290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GLAVNA IDEJA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sr-Latn-RS" sz="3200" dirty="0">
                <a:solidFill>
                  <a:schemeClr val="bg1"/>
                </a:solidFill>
              </a:rPr>
              <a:t>Ključni pojmovi NBFT algoritma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1206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700" dirty="0"/>
          </a:p>
        </p:txBody>
      </p:sp>
      <p:sp>
        <p:nvSpPr>
          <p:cNvPr id="62" name="Rectangle 61"/>
          <p:cNvSpPr/>
          <p:nvPr/>
        </p:nvSpPr>
        <p:spPr>
          <a:xfrm>
            <a:off x="640080" y="1417320"/>
            <a:ext cx="99253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r-Latn-R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" y="1414385"/>
            <a:ext cx="1053638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b="1" dirty="0">
                <a:solidFill>
                  <a:schemeClr val="bg1"/>
                </a:solidFill>
                <a:latin typeface="Arial" panose="020B0604020202020204" pitchFamily="34" charset="0"/>
              </a:rPr>
              <a:t>Consistent hash algoritam</a:t>
            </a: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koristi se za podelu consensus čvorova u manje </a:t>
            </a:r>
            <a:r>
              <a:rPr lang="sr-Latn-RS" dirty="0" smtClean="0">
                <a:solidFill>
                  <a:schemeClr val="bg1"/>
                </a:solidFill>
                <a:latin typeface="Arial" panose="020B0604020202020204" pitchFamily="34" charset="0"/>
              </a:rPr>
              <a:t>grupe</a:t>
            </a: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smanjuje broj poruka između </a:t>
            </a:r>
            <a:r>
              <a:rPr lang="sr-Latn-RS" dirty="0" smtClean="0">
                <a:solidFill>
                  <a:schemeClr val="bg1"/>
                </a:solidFill>
                <a:latin typeface="Arial" panose="020B0604020202020204" pitchFamily="34" charset="0"/>
              </a:rPr>
              <a:t>čvorova</a:t>
            </a: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poboljšava skalabilnost </a:t>
            </a:r>
            <a:r>
              <a:rPr lang="sr-Latn-RS" dirty="0" smtClean="0">
                <a:solidFill>
                  <a:schemeClr val="bg1"/>
                </a:solidFill>
                <a:latin typeface="Arial" panose="020B0604020202020204" pitchFamily="34" charset="0"/>
              </a:rPr>
              <a:t>mreže</a:t>
            </a: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b="1" dirty="0">
                <a:solidFill>
                  <a:schemeClr val="bg1"/>
                </a:solidFill>
                <a:latin typeface="Arial" panose="020B0604020202020204" pitchFamily="34" charset="0"/>
              </a:rPr>
              <a:t>Grupni konsenzus</a:t>
            </a: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konsenzus se prvo postiže unutar svake </a:t>
            </a:r>
            <a:r>
              <a:rPr lang="sr-Latn-RS" dirty="0" smtClean="0">
                <a:solidFill>
                  <a:schemeClr val="bg1"/>
                </a:solidFill>
                <a:latin typeface="Arial" panose="020B0604020202020204" pitchFamily="34" charset="0"/>
              </a:rPr>
              <a:t>grupe</a:t>
            </a: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zatim se odluke grupa koriste u globalnom </a:t>
            </a:r>
            <a:r>
              <a:rPr lang="sr-Latn-RS" dirty="0" smtClean="0">
                <a:solidFill>
                  <a:schemeClr val="bg1"/>
                </a:solidFill>
                <a:latin typeface="Arial" panose="020B0604020202020204" pitchFamily="34" charset="0"/>
              </a:rPr>
              <a:t>konsenzusu</a:t>
            </a: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b="1" dirty="0">
                <a:solidFill>
                  <a:schemeClr val="bg1"/>
                </a:solidFill>
                <a:latin typeface="Arial" panose="020B0604020202020204" pitchFamily="34" charset="0"/>
              </a:rPr>
              <a:t>Nodal decision broadcast model</a:t>
            </a: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omogućava da se odluka grupe prosledi ostalim </a:t>
            </a:r>
            <a:r>
              <a:rPr lang="sr-Latn-RS" dirty="0" smtClean="0">
                <a:solidFill>
                  <a:schemeClr val="bg1"/>
                </a:solidFill>
                <a:latin typeface="Arial" panose="020B0604020202020204" pitchFamily="34" charset="0"/>
              </a:rPr>
              <a:t>grupama</a:t>
            </a: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sprečava da jedan Byzantine predstavnik sam promeni odluku </a:t>
            </a:r>
            <a:r>
              <a:rPr lang="sr-Latn-RS" dirty="0" smtClean="0">
                <a:solidFill>
                  <a:schemeClr val="bg1"/>
                </a:solidFill>
                <a:latin typeface="Arial" panose="020B0604020202020204" pitchFamily="34" charset="0"/>
              </a:rPr>
              <a:t>grupe</a:t>
            </a: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odluka mora imati podršku čvorova iz </a:t>
            </a:r>
            <a:r>
              <a:rPr lang="sr-Latn-RS" dirty="0" smtClean="0">
                <a:solidFill>
                  <a:schemeClr val="bg1"/>
                </a:solidFill>
                <a:latin typeface="Arial" panose="020B0604020202020204" pitchFamily="34" charset="0"/>
              </a:rPr>
              <a:t>grupe</a:t>
            </a: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326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GLAVNA IDEJA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sr-Latn-RS" sz="3200" dirty="0">
                <a:solidFill>
                  <a:schemeClr val="bg1"/>
                </a:solidFill>
              </a:rPr>
              <a:t>Ključni pojmovi NBFT algoritma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1206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700" dirty="0"/>
          </a:p>
        </p:txBody>
      </p:sp>
      <p:sp>
        <p:nvSpPr>
          <p:cNvPr id="62" name="Rectangle 61"/>
          <p:cNvSpPr/>
          <p:nvPr/>
        </p:nvSpPr>
        <p:spPr>
          <a:xfrm>
            <a:off x="640080" y="1417320"/>
            <a:ext cx="99253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r-Latn-R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1053638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b="1" dirty="0">
                <a:solidFill>
                  <a:schemeClr val="bg1"/>
                </a:solidFill>
                <a:latin typeface="Arial" panose="020B0604020202020204" pitchFamily="34" charset="0"/>
              </a:rPr>
              <a:t>Threshold vote-counting model</a:t>
            </a: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uvodi prag za brojanje glasova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odluka se prihvata samo ako ima dovoljno validnih glasova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smanjuje uticaj Byzantine čvorova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b="1" dirty="0">
                <a:solidFill>
                  <a:schemeClr val="bg1"/>
                </a:solidFill>
                <a:latin typeface="Arial" panose="020B0604020202020204" pitchFamily="34" charset="0"/>
              </a:rPr>
              <a:t>Joint fault analysis</a:t>
            </a: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analizira se koliko neispravnih čvorova može postojati u grupama i celoj </a:t>
            </a:r>
            <a:r>
              <a:rPr lang="sr-Latn-RS" dirty="0" smtClean="0">
                <a:solidFill>
                  <a:schemeClr val="bg1"/>
                </a:solidFill>
                <a:latin typeface="Arial" panose="020B0604020202020204" pitchFamily="34" charset="0"/>
              </a:rPr>
              <a:t>mreži</a:t>
            </a: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cilj je da sistem ostane ispravan i kada deo čvorova </a:t>
            </a:r>
            <a:r>
              <a:rPr lang="sr-Latn-RS" dirty="0" smtClean="0">
                <a:solidFill>
                  <a:schemeClr val="bg1"/>
                </a:solidFill>
                <a:latin typeface="Arial" panose="020B0604020202020204" pitchFamily="34" charset="0"/>
              </a:rPr>
              <a:t>greši</a:t>
            </a: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b="1" dirty="0">
                <a:solidFill>
                  <a:schemeClr val="bg1"/>
                </a:solidFill>
                <a:latin typeface="Arial" panose="020B0604020202020204" pitchFamily="34" charset="0"/>
              </a:rPr>
              <a:t>FND model</a:t>
            </a: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koristi se za simulaciju broja neispravnih </a:t>
            </a:r>
            <a:r>
              <a:rPr lang="sr-Latn-RS" dirty="0" smtClean="0">
                <a:solidFill>
                  <a:schemeClr val="bg1"/>
                </a:solidFill>
                <a:latin typeface="Arial" panose="020B0604020202020204" pitchFamily="34" charset="0"/>
              </a:rPr>
              <a:t>čvorova</a:t>
            </a: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proverava se granica tolerancije grešaka NBFT </a:t>
            </a:r>
            <a:r>
              <a:rPr lang="sr-Latn-RS" dirty="0" smtClean="0">
                <a:solidFill>
                  <a:schemeClr val="bg1"/>
                </a:solidFill>
                <a:latin typeface="Arial" panose="020B0604020202020204" pitchFamily="34" charset="0"/>
              </a:rPr>
              <a:t>algoritma</a:t>
            </a: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118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GLAVNA IDEJA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Od PBFT-a ka NBFT-u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12680" y="64465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NBFT konsenzus  •  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51206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PBFT: svi čvorovi intenzivno komuniciraju sa svima. To je dobro za bezbednost, ali komunikacioni trošak brzo raste.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0" y="1417320"/>
            <a:ext cx="4937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NBFT: mreža se prvo deli u grupe. Svaka grupa postiže lokalni dogovor, a zatim predstavnici grupa učestvuju u globalnom delu.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931920" y="4206240"/>
            <a:ext cx="0" cy="791894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931920" y="4206240"/>
            <a:ext cx="0" cy="791894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931920" y="4206240"/>
            <a:ext cx="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931920" y="4206240"/>
            <a:ext cx="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931920" y="4206240"/>
            <a:ext cx="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06140" y="4998134"/>
            <a:ext cx="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06140" y="4998134"/>
            <a:ext cx="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406140" y="4998134"/>
            <a:ext cx="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406140" y="4998134"/>
            <a:ext cx="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354580" y="4998134"/>
            <a:ext cx="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354580" y="4998134"/>
            <a:ext cx="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354580" y="4998134"/>
            <a:ext cx="10515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828800" y="4206240"/>
            <a:ext cx="52578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828800" y="4206240"/>
            <a:ext cx="15773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354580" y="3414346"/>
            <a:ext cx="10515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794760" y="4069080"/>
            <a:ext cx="347472" cy="347472"/>
          </a:xfrm>
          <a:prstGeom prst="ellipse">
            <a:avLst/>
          </a:prstGeom>
          <a:solidFill>
            <a:srgbClr val="FB7185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94760" y="4176796"/>
            <a:ext cx="347472" cy="132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120"/>
                </a:solidFill>
              </a:rPr>
              <a:t>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268980" y="4860974"/>
            <a:ext cx="347472" cy="347472"/>
          </a:xfrm>
          <a:prstGeom prst="ellipse">
            <a:avLst/>
          </a:prstGeom>
          <a:solidFill>
            <a:srgbClr val="FB7185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8980" y="4968690"/>
            <a:ext cx="347472" cy="132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120"/>
                </a:solidFill>
              </a:rPr>
              <a:t>1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217420" y="4860974"/>
            <a:ext cx="347472" cy="347472"/>
          </a:xfrm>
          <a:prstGeom prst="ellipse">
            <a:avLst/>
          </a:prstGeom>
          <a:solidFill>
            <a:srgbClr val="FB7185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17420" y="4968690"/>
            <a:ext cx="347472" cy="132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120"/>
                </a:solidFill>
              </a:rPr>
              <a:t>2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691640" y="4069080"/>
            <a:ext cx="347472" cy="347472"/>
          </a:xfrm>
          <a:prstGeom prst="ellipse">
            <a:avLst/>
          </a:prstGeom>
          <a:solidFill>
            <a:srgbClr val="FB7185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91640" y="4176796"/>
            <a:ext cx="347472" cy="132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120"/>
                </a:solidFill>
              </a:rPr>
              <a:t>3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217420" y="3277186"/>
            <a:ext cx="347472" cy="347472"/>
          </a:xfrm>
          <a:prstGeom prst="ellipse">
            <a:avLst/>
          </a:prstGeom>
          <a:solidFill>
            <a:srgbClr val="FB7185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17420" y="3384903"/>
            <a:ext cx="347472" cy="132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120"/>
                </a:solidFill>
              </a:rPr>
              <a:t>4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268980" y="3277186"/>
            <a:ext cx="347472" cy="347472"/>
          </a:xfrm>
          <a:prstGeom prst="ellipse">
            <a:avLst/>
          </a:prstGeom>
          <a:solidFill>
            <a:srgbClr val="FB7185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68980" y="3384903"/>
            <a:ext cx="347472" cy="132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120"/>
                </a:solidFill>
              </a:rPr>
              <a:t>5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828800" y="5394960"/>
            <a:ext cx="1920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PBFT: više poruka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492240" y="283464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15263E"/>
          </a:solidFill>
          <a:ln w="1397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21040" y="283464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15263E"/>
          </a:solidFill>
          <a:ln w="1397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06640" y="43434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15263E"/>
          </a:solidFill>
          <a:ln w="1397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75120" y="3063240"/>
            <a:ext cx="292608" cy="292608"/>
          </a:xfrm>
          <a:prstGeom prst="ellipse">
            <a:avLst/>
          </a:prstGeom>
          <a:solidFill>
            <a:srgbClr val="FBBF24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0" y="3153948"/>
            <a:ext cx="292608" cy="11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120"/>
                </a:solidFill>
              </a:rPr>
              <a:t>r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7086600" y="3063240"/>
            <a:ext cx="256032" cy="256032"/>
          </a:xfrm>
          <a:prstGeom prst="ellipse">
            <a:avLst/>
          </a:prstGeom>
          <a:solidFill>
            <a:srgbClr val="2DD4BF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86600" y="3142610"/>
            <a:ext cx="256032" cy="97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06640" y="3429000"/>
            <a:ext cx="256032" cy="256032"/>
          </a:xfrm>
          <a:prstGeom prst="ellipse">
            <a:avLst/>
          </a:prstGeom>
          <a:solidFill>
            <a:srgbClr val="2DD4BF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6640" y="3508370"/>
            <a:ext cx="256032" cy="97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503920" y="3063240"/>
            <a:ext cx="292608" cy="292608"/>
          </a:xfrm>
          <a:prstGeom prst="ellipse">
            <a:avLst/>
          </a:prstGeom>
          <a:solidFill>
            <a:srgbClr val="FBBF24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03920" y="3153948"/>
            <a:ext cx="292608" cy="11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120"/>
                </a:solidFill>
              </a:rPr>
              <a:t>r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8915400" y="3063240"/>
            <a:ext cx="256032" cy="256032"/>
          </a:xfrm>
          <a:prstGeom prst="ellipse">
            <a:avLst/>
          </a:prstGeom>
          <a:solidFill>
            <a:srgbClr val="2DD4BF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15400" y="3142610"/>
            <a:ext cx="256032" cy="97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235440" y="3429000"/>
            <a:ext cx="256032" cy="256032"/>
          </a:xfrm>
          <a:prstGeom prst="ellipse">
            <a:avLst/>
          </a:prstGeom>
          <a:solidFill>
            <a:srgbClr val="2DD4BF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35440" y="3508370"/>
            <a:ext cx="256032" cy="97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589520" y="4572000"/>
            <a:ext cx="292608" cy="292608"/>
          </a:xfrm>
          <a:prstGeom prst="ellipse">
            <a:avLst/>
          </a:prstGeom>
          <a:solidFill>
            <a:srgbClr val="FBBF24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89520" y="4662708"/>
            <a:ext cx="292608" cy="11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120"/>
                </a:solidFill>
              </a:rPr>
              <a:t>r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8001000" y="4572000"/>
            <a:ext cx="256032" cy="256032"/>
          </a:xfrm>
          <a:prstGeom prst="ellipse">
            <a:avLst/>
          </a:prstGeom>
          <a:solidFill>
            <a:srgbClr val="2DD4BF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001000" y="4651370"/>
            <a:ext cx="256032" cy="97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321040" y="4937760"/>
            <a:ext cx="256032" cy="256032"/>
          </a:xfrm>
          <a:prstGeom prst="ellipse">
            <a:avLst/>
          </a:prstGeom>
          <a:solidFill>
            <a:srgbClr val="2DD4BF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21040" y="5017130"/>
            <a:ext cx="256032" cy="97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858000" y="3429000"/>
            <a:ext cx="1673352" cy="0"/>
          </a:xfrm>
          <a:prstGeom prst="line">
            <a:avLst/>
          </a:prstGeom>
          <a:noFill/>
          <a:ln w="12700">
            <a:solidFill>
              <a:srgbClr val="FBBF24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8732520" y="3703320"/>
            <a:ext cx="0" cy="822960"/>
          </a:xfrm>
          <a:prstGeom prst="line">
            <a:avLst/>
          </a:prstGeom>
          <a:noFill/>
          <a:ln w="12700">
            <a:solidFill>
              <a:srgbClr val="FBBF24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7818120" y="4526280"/>
            <a:ext cx="0" cy="0"/>
          </a:xfrm>
          <a:prstGeom prst="line">
            <a:avLst/>
          </a:prstGeom>
          <a:noFill/>
          <a:ln w="12700">
            <a:solidFill>
              <a:srgbClr val="FBBF24"/>
            </a:solidFill>
            <a:prstDash val="solid"/>
            <a:tailEnd type="triangle"/>
          </a:ln>
        </p:spPr>
      </p:sp>
      <p:sp>
        <p:nvSpPr>
          <p:cNvPr id="60" name="Text 58"/>
          <p:cNvSpPr/>
          <p:nvPr/>
        </p:nvSpPr>
        <p:spPr>
          <a:xfrm>
            <a:off x="6949440" y="5532120"/>
            <a:ext cx="32918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NBFT: lokalno + predstavnici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118345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MATEMATIKA IZ RADA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Parametri algoritma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12680" y="64465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NBFT konsenzus  • 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27363" y="1512915"/>
            <a:ext cx="11163993" cy="465512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 radu se mreža modeluje preko ukupnog broja čvorova n i veličine grupe m</a:t>
            </a:r>
            <a:r>
              <a:rPr lang="en-US" sz="1800" dirty="0" smtClean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0" indent="0" algn="l">
              <a:buNone/>
            </a:pPr>
            <a:endParaRPr lang="en-US" sz="1800" dirty="0" smtClean="0">
              <a:solidFill>
                <a:srgbClr val="F8FAFC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b="1" dirty="0">
                <a:solidFill>
                  <a:schemeClr val="bg1"/>
                </a:solidFill>
                <a:latin typeface="Arial" panose="020B0604020202020204" pitchFamily="34" charset="0"/>
              </a:rPr>
              <a:t>n</a:t>
            </a: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 predstavlja ukupan broj čvorova u mreži.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Mreža se deli na grupe, a svaka grupa ima </a:t>
            </a:r>
            <a:r>
              <a:rPr lang="sr-Latn-RS" b="1" dirty="0">
                <a:solidFill>
                  <a:schemeClr val="bg1"/>
                </a:solidFill>
                <a:latin typeface="Arial" panose="020B0604020202020204" pitchFamily="34" charset="0"/>
              </a:rPr>
              <a:t>m</a:t>
            </a: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 čvorova.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Broj čvorova u grupi se određuje po PBFT pravilu: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/>
            </a:r>
            <a:b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m = </a:t>
            </a:r>
            <a:r>
              <a:rPr lang="sr-Latn-RS" dirty="0" smtClean="0">
                <a:solidFill>
                  <a:schemeClr val="bg1"/>
                </a:solidFill>
                <a:latin typeface="Arial" panose="020B0604020202020204" pitchFamily="34" charset="0"/>
              </a:rPr>
              <a:t>3f </a:t>
            </a: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+ 1</a:t>
            </a:r>
            <a:b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</a:b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f</a:t>
            </a:r>
            <a:r>
              <a:rPr lang="sr-Latn-RS" dirty="0" smtClean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predstavlja broj Byzantine čvorova koje jedna grupa može da toleriše.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Jedna grupa može da podnese najviše: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/>
            </a:r>
            <a:b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sr-Latn-RS" dirty="0">
                <a:solidFill>
                  <a:schemeClr val="bg1"/>
                </a:solidFill>
              </a:rPr>
              <a:t>E = [(m − 1)/3] </a:t>
            </a:r>
            <a:endParaRPr lang="en-US" dirty="0" smtClean="0">
              <a:solidFill>
                <a:schemeClr val="bg1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Byzantine čvorova.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b="1" dirty="0">
                <a:solidFill>
                  <a:schemeClr val="bg1"/>
                </a:solidFill>
                <a:latin typeface="Arial" panose="020B0604020202020204" pitchFamily="34" charset="0"/>
              </a:rPr>
              <a:t>R</a:t>
            </a: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 predstavlja broj grupa, odnosno broj grupnih predstavnika koji učestvuju u globalnom konsenzusu: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/>
            </a:r>
            <a:b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sr-Latn-RS" dirty="0">
                <a:solidFill>
                  <a:schemeClr val="bg1"/>
                </a:solidFill>
              </a:rPr>
              <a:t>R = [(n − 1)/m</a:t>
            </a:r>
            <a:r>
              <a:rPr lang="sr-Latn-RS" dirty="0" smtClean="0">
                <a:solidFill>
                  <a:schemeClr val="bg1"/>
                </a:solidFill>
              </a:rPr>
              <a:t>]</a:t>
            </a:r>
            <a:endParaRPr lang="en-US" dirty="0" smtClean="0">
              <a:solidFill>
                <a:schemeClr val="bg1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Cela mreža može da toleriše najviše: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/>
            </a:r>
            <a:b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sr-Latn-RS" dirty="0">
                <a:solidFill>
                  <a:schemeClr val="bg1"/>
                </a:solidFill>
              </a:rPr>
              <a:t>w = [(R − 1)/3] </a:t>
            </a:r>
            <a:endParaRPr lang="en-US" dirty="0" smtClean="0">
              <a:solidFill>
                <a:schemeClr val="bg1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neispravnih grupa ili predstavnika.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lang="en-US" sz="1800" dirty="0" smtClean="0">
              <a:solidFill>
                <a:srgbClr val="F8FAFC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l">
              <a:buNone/>
            </a:pPr>
            <a:endParaRPr lang="en-US" dirty="0">
              <a:solidFill>
                <a:srgbClr val="F8FAFC"/>
              </a:solidFill>
              <a:latin typeface="Aptos" pitchFamily="34" charset="0"/>
              <a:ea typeface="Aptos" pitchFamily="34" charset="-122"/>
            </a:endParaRPr>
          </a:p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063240" y="1965960"/>
            <a:ext cx="32461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63240" y="2468880"/>
            <a:ext cx="32461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63240" y="2971800"/>
            <a:ext cx="32461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63240" y="3474720"/>
            <a:ext cx="32461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63240" y="3977640"/>
            <a:ext cx="32461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MATEMATIKA IZ RADA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Parametri algoritma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12680" y="64465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NBFT konsenzus  • 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5303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 radu se mreža modeluje preko ukupnog broja čvorova n i veličine grupe m</a:t>
            </a:r>
            <a:r>
              <a:rPr lang="en-US" sz="1800" dirty="0" smtClean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0" indent="0" algn="l">
              <a:buNone/>
            </a:pPr>
            <a:endParaRPr lang="en-US" dirty="0">
              <a:solidFill>
                <a:srgbClr val="F8FAFC"/>
              </a:solidFill>
              <a:latin typeface="Aptos" pitchFamily="34" charset="0"/>
              <a:ea typeface="Aptos" pitchFamily="34" charset="-122"/>
            </a:endParaRPr>
          </a:p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22402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17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63240" y="1965960"/>
            <a:ext cx="32461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ukupan broj čvorova u </a:t>
            </a:r>
            <a:r>
              <a:rPr lang="en-US" sz="1500" dirty="0" err="1" smtClean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mreži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22402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 = 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63240" y="2468880"/>
            <a:ext cx="32461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veličina jedne grupe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971800"/>
            <a:ext cx="22402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= </a:t>
            </a:r>
            <a:r>
              <a:rPr lang="en-US" sz="1600" b="1" dirty="0" smtClean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((</a:t>
            </a:r>
            <a:r>
              <a:rPr lang="en-US" sz="16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n−1)/m) = 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63240" y="2971800"/>
            <a:ext cx="32461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broj grupa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3474720"/>
            <a:ext cx="22402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= </a:t>
            </a:r>
            <a:r>
              <a:rPr lang="en-US" sz="1600" b="1" dirty="0" smtClean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((</a:t>
            </a:r>
            <a:r>
              <a:rPr lang="en-US" sz="16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m−1)/3) = 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63240" y="3474720"/>
            <a:ext cx="32461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lokalna tolerancija grupe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3977640"/>
            <a:ext cx="22402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 = </a:t>
            </a:r>
            <a:r>
              <a:rPr lang="en-US" sz="1600" b="1" dirty="0" smtClean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((</a:t>
            </a:r>
            <a:r>
              <a:rPr lang="en-US" sz="16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R−1)/3) = 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63240" y="3977640"/>
            <a:ext cx="32461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tolerisane abnormalne grupe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0" y="2743200"/>
            <a:ext cx="749808" cy="749808"/>
          </a:xfrm>
          <a:prstGeom prst="ellipse">
            <a:avLst/>
          </a:prstGeom>
          <a:solidFill>
            <a:srgbClr val="FB7185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2975640"/>
            <a:ext cx="749808" cy="284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120"/>
                </a:solidFill>
              </a:rPr>
              <a:t>P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083296" y="3493008"/>
            <a:ext cx="1051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20840" y="155448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15263E"/>
          </a:solidFill>
          <a:ln w="1397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93992" y="1600200"/>
            <a:ext cx="502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22008" y="1993392"/>
            <a:ext cx="228600" cy="228600"/>
          </a:xfrm>
          <a:prstGeom prst="ellipse">
            <a:avLst/>
          </a:prstGeom>
          <a:solidFill>
            <a:srgbClr val="FBBF24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22008" y="2064258"/>
            <a:ext cx="228600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87768" y="1993392"/>
            <a:ext cx="228600" cy="228600"/>
          </a:xfrm>
          <a:prstGeom prst="ellipse">
            <a:avLst/>
          </a:prstGeom>
          <a:solidFill>
            <a:srgbClr val="2DD4BF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87768" y="2064258"/>
            <a:ext cx="228600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653528" y="1993392"/>
            <a:ext cx="228600" cy="228600"/>
          </a:xfrm>
          <a:prstGeom prst="ellipse">
            <a:avLst/>
          </a:prstGeom>
          <a:solidFill>
            <a:srgbClr val="2DD4BF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53528" y="2064258"/>
            <a:ext cx="228600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87768" y="2304288"/>
            <a:ext cx="228600" cy="228600"/>
          </a:xfrm>
          <a:prstGeom prst="ellipse">
            <a:avLst/>
          </a:prstGeom>
          <a:solidFill>
            <a:srgbClr val="2DD4BF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87768" y="2375154"/>
            <a:ext cx="228600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613648" y="3044952"/>
            <a:ext cx="0" cy="0"/>
          </a:xfrm>
          <a:prstGeom prst="line">
            <a:avLst/>
          </a:prstGeom>
          <a:noFill/>
          <a:ln w="1079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012680" y="155448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15263E"/>
          </a:solidFill>
          <a:ln w="1397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85832" y="1600200"/>
            <a:ext cx="502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G1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213848" y="1993392"/>
            <a:ext cx="228600" cy="228600"/>
          </a:xfrm>
          <a:prstGeom prst="ellipse">
            <a:avLst/>
          </a:prstGeom>
          <a:solidFill>
            <a:srgbClr val="FBBF24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13848" y="2064258"/>
            <a:ext cx="228600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579608" y="1993392"/>
            <a:ext cx="228600" cy="228600"/>
          </a:xfrm>
          <a:prstGeom prst="ellipse">
            <a:avLst/>
          </a:prstGeom>
          <a:solidFill>
            <a:srgbClr val="2DD4BF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79608" y="2064258"/>
            <a:ext cx="228600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945368" y="1993392"/>
            <a:ext cx="228600" cy="228600"/>
          </a:xfrm>
          <a:prstGeom prst="ellipse">
            <a:avLst/>
          </a:prstGeom>
          <a:solidFill>
            <a:srgbClr val="2DD4BF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945368" y="2064258"/>
            <a:ext cx="228600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579608" y="2304288"/>
            <a:ext cx="228600" cy="228600"/>
          </a:xfrm>
          <a:prstGeom prst="ellipse">
            <a:avLst/>
          </a:prstGeom>
          <a:solidFill>
            <a:srgbClr val="2DD4BF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579608" y="2375154"/>
            <a:ext cx="228600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 flipV="1">
            <a:off x="8604504" y="2561463"/>
            <a:ext cx="1600200" cy="457199"/>
          </a:xfrm>
          <a:prstGeom prst="line">
            <a:avLst/>
          </a:prstGeom>
          <a:noFill/>
          <a:ln w="1079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720840" y="457200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15263E"/>
          </a:solidFill>
          <a:ln w="1397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93992" y="4617720"/>
            <a:ext cx="502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G2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922008" y="5010912"/>
            <a:ext cx="228600" cy="228600"/>
          </a:xfrm>
          <a:prstGeom prst="ellipse">
            <a:avLst/>
          </a:prstGeom>
          <a:solidFill>
            <a:srgbClr val="FBBF24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22008" y="5081778"/>
            <a:ext cx="228600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287768" y="5010912"/>
            <a:ext cx="228600" cy="228600"/>
          </a:xfrm>
          <a:prstGeom prst="ellipse">
            <a:avLst/>
          </a:prstGeom>
          <a:solidFill>
            <a:srgbClr val="2DD4BF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87768" y="5081778"/>
            <a:ext cx="228600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653528" y="5010912"/>
            <a:ext cx="228600" cy="228600"/>
          </a:xfrm>
          <a:prstGeom prst="ellipse">
            <a:avLst/>
          </a:prstGeom>
          <a:solidFill>
            <a:srgbClr val="2DD4BF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53528" y="5081778"/>
            <a:ext cx="228600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287768" y="5321808"/>
            <a:ext cx="228600" cy="228600"/>
          </a:xfrm>
          <a:prstGeom prst="ellipse">
            <a:avLst/>
          </a:prstGeom>
          <a:solidFill>
            <a:srgbClr val="2DD4BF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87768" y="5392674"/>
            <a:ext cx="228600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 flipH="1">
            <a:off x="7882128" y="3108960"/>
            <a:ext cx="731520" cy="1675638"/>
          </a:xfrm>
          <a:prstGeom prst="line">
            <a:avLst/>
          </a:prstGeom>
          <a:noFill/>
          <a:ln w="1079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10012680" y="457200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15263E"/>
          </a:solidFill>
          <a:ln w="1397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085832" y="4617720"/>
            <a:ext cx="502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G3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0213848" y="5010912"/>
            <a:ext cx="228600" cy="228600"/>
          </a:xfrm>
          <a:prstGeom prst="ellipse">
            <a:avLst/>
          </a:prstGeom>
          <a:solidFill>
            <a:srgbClr val="FBBF24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213848" y="5081778"/>
            <a:ext cx="228600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0579608" y="5010912"/>
            <a:ext cx="228600" cy="228600"/>
          </a:xfrm>
          <a:prstGeom prst="ellipse">
            <a:avLst/>
          </a:prstGeom>
          <a:solidFill>
            <a:srgbClr val="2DD4BF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579608" y="5081778"/>
            <a:ext cx="228600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0945368" y="5010912"/>
            <a:ext cx="228600" cy="228600"/>
          </a:xfrm>
          <a:prstGeom prst="ellipse">
            <a:avLst/>
          </a:prstGeom>
          <a:solidFill>
            <a:srgbClr val="2DD4BF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945368" y="5081778"/>
            <a:ext cx="228600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10579608" y="5321808"/>
            <a:ext cx="228600" cy="228600"/>
          </a:xfrm>
          <a:prstGeom prst="ellipse">
            <a:avLst/>
          </a:prstGeom>
          <a:solidFill>
            <a:srgbClr val="2DD4BF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579608" y="5392674"/>
            <a:ext cx="228600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613648" y="3044952"/>
            <a:ext cx="2112264" cy="2121408"/>
          </a:xfrm>
          <a:prstGeom prst="line">
            <a:avLst/>
          </a:prstGeom>
          <a:noFill/>
          <a:ln w="10795">
            <a:solidFill>
              <a:srgbClr val="334155"/>
            </a:solidFill>
            <a:prstDash val="solid"/>
            <a:tailEnd type="triangle"/>
          </a:ln>
        </p:spPr>
      </p:sp>
      <p:cxnSp>
        <p:nvCxnSpPr>
          <p:cNvPr id="65" name="Straight Arrow Connector 64"/>
          <p:cNvCxnSpPr>
            <a:stCxn id="18" idx="0"/>
          </p:cNvCxnSpPr>
          <p:nvPr/>
        </p:nvCxnSpPr>
        <p:spPr>
          <a:xfrm flipH="1" flipV="1">
            <a:off x="7882128" y="2532888"/>
            <a:ext cx="722376" cy="442752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1184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FAZNI PREGLED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 NBFT algoritma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12680" y="64465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NBFT konsenzus  •  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675965" y="4494494"/>
            <a:ext cx="146304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77517" y="4064726"/>
            <a:ext cx="1325880" cy="868680"/>
          </a:xfrm>
          <a:prstGeom prst="roundRect">
            <a:avLst>
              <a:gd name="adj" fmla="val 12632"/>
            </a:avLst>
          </a:prstGeom>
          <a:solidFill>
            <a:srgbClr val="15263E"/>
          </a:solidFill>
          <a:ln w="1397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0669" y="4137878"/>
            <a:ext cx="292608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8957" y="4403054"/>
            <a:ext cx="1143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CLIENT_REQUEST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450669" y="4686518"/>
            <a:ext cx="1179576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klijent šalje zahtev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3102429" y="4494494"/>
            <a:ext cx="146304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803981" y="4064726"/>
            <a:ext cx="1325880" cy="868680"/>
          </a:xfrm>
          <a:prstGeom prst="roundRect">
            <a:avLst>
              <a:gd name="adj" fmla="val 12632"/>
            </a:avLst>
          </a:prstGeom>
          <a:solidFill>
            <a:srgbClr val="15263E"/>
          </a:solidFill>
          <a:ln w="1397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7133" y="4137878"/>
            <a:ext cx="292608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95421" y="4403054"/>
            <a:ext cx="1143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PRE_PREPARE1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1877133" y="4686518"/>
            <a:ext cx="1179576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predlaže vrednost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4528893" y="4494494"/>
            <a:ext cx="146304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230445" y="4064726"/>
            <a:ext cx="1325880" cy="868680"/>
          </a:xfrm>
          <a:prstGeom prst="roundRect">
            <a:avLst>
              <a:gd name="adj" fmla="val 12632"/>
            </a:avLst>
          </a:prstGeom>
          <a:solidFill>
            <a:srgbClr val="15263E"/>
          </a:solidFill>
          <a:ln w="1397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03597" y="4137878"/>
            <a:ext cx="292608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21885" y="4403054"/>
            <a:ext cx="1143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IN_PREPARE1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3303597" y="4686518"/>
            <a:ext cx="1179576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čvorovi glasaju u grupi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5955357" y="4494494"/>
            <a:ext cx="146304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656909" y="4064726"/>
            <a:ext cx="1325880" cy="868680"/>
          </a:xfrm>
          <a:prstGeom prst="roundRect">
            <a:avLst>
              <a:gd name="adj" fmla="val 12632"/>
            </a:avLst>
          </a:prstGeom>
          <a:solidFill>
            <a:srgbClr val="15263E"/>
          </a:solidFill>
          <a:ln w="1397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0061" y="4137878"/>
            <a:ext cx="292608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48349" y="4403054"/>
            <a:ext cx="1143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IN_PREPARE2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4730061" y="4686518"/>
            <a:ext cx="1179576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predstavnik potvrđuje lokalni kvorum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7381821" y="4494494"/>
            <a:ext cx="146304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083373" y="4064726"/>
            <a:ext cx="1325880" cy="868680"/>
          </a:xfrm>
          <a:prstGeom prst="roundRect">
            <a:avLst>
              <a:gd name="adj" fmla="val 12632"/>
            </a:avLst>
          </a:prstGeom>
          <a:solidFill>
            <a:srgbClr val="1C314F"/>
          </a:solidFill>
          <a:ln w="1397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56525" y="4137878"/>
            <a:ext cx="292608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74813" y="4403054"/>
            <a:ext cx="1143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OUT_PREPARE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6156525" y="4686518"/>
            <a:ext cx="1179576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predstavnici sabiraju glasove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8808285" y="4494494"/>
            <a:ext cx="146304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509837" y="4064726"/>
            <a:ext cx="1325880" cy="868680"/>
          </a:xfrm>
          <a:prstGeom prst="roundRect">
            <a:avLst>
              <a:gd name="adj" fmla="val 12632"/>
            </a:avLst>
          </a:prstGeom>
          <a:solidFill>
            <a:srgbClr val="1C314F"/>
          </a:solidFill>
          <a:ln w="1397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2989" y="4137878"/>
            <a:ext cx="292608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601277" y="4403054"/>
            <a:ext cx="1143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582989" y="4686518"/>
            <a:ext cx="1179576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dokaz se šalje primary čvoru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10234749" y="4494494"/>
            <a:ext cx="146304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936301" y="4064726"/>
            <a:ext cx="1325880" cy="868680"/>
          </a:xfrm>
          <a:prstGeom prst="roundRect">
            <a:avLst>
              <a:gd name="adj" fmla="val 12632"/>
            </a:avLst>
          </a:prstGeom>
          <a:solidFill>
            <a:srgbClr val="1C314F"/>
          </a:solidFill>
          <a:ln w="1397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09453" y="4137878"/>
            <a:ext cx="292608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027741" y="4403054"/>
            <a:ext cx="1143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PRE_PREPARE2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9009453" y="4686518"/>
            <a:ext cx="1179576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broadcast-uje finalni dokaz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11718036" y="5367528"/>
            <a:ext cx="146304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0362765" y="4064726"/>
            <a:ext cx="1325880" cy="868680"/>
          </a:xfrm>
          <a:prstGeom prst="roundRect">
            <a:avLst>
              <a:gd name="adj" fmla="val 12632"/>
            </a:avLst>
          </a:prstGeom>
          <a:solidFill>
            <a:srgbClr val="1C314F"/>
          </a:solidFill>
          <a:ln w="1397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435917" y="4137878"/>
            <a:ext cx="292608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454205" y="4403054"/>
            <a:ext cx="1143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REPLY</a:t>
            </a:r>
            <a:endParaRPr lang="en-US" sz="930" dirty="0"/>
          </a:p>
        </p:txBody>
      </p:sp>
      <p:sp>
        <p:nvSpPr>
          <p:cNvPr id="45" name="Text 43"/>
          <p:cNvSpPr/>
          <p:nvPr/>
        </p:nvSpPr>
        <p:spPr>
          <a:xfrm>
            <a:off x="10435917" y="4686518"/>
            <a:ext cx="1179576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čvorovi odgovaraju klijentu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1097280" y="3794760"/>
            <a:ext cx="98755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909137" y="3973286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48" name="Rectangle 47"/>
          <p:cNvSpPr/>
          <p:nvPr/>
        </p:nvSpPr>
        <p:spPr>
          <a:xfrm>
            <a:off x="606551" y="1276670"/>
            <a:ext cx="776238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r-Latn-RS" b="1" dirty="0">
                <a:solidFill>
                  <a:schemeClr val="bg1"/>
                </a:solidFill>
              </a:rPr>
              <a:t>Faze NBFT konsenzusa</a:t>
            </a:r>
            <a:endParaRPr lang="sr-Latn-R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sr-Latn-RS" b="1" dirty="0">
                <a:solidFill>
                  <a:schemeClr val="bg1"/>
                </a:solidFill>
              </a:rPr>
              <a:t>Preprepare1:</a:t>
            </a:r>
            <a:r>
              <a:rPr lang="sr-Latn-RS" dirty="0">
                <a:solidFill>
                  <a:schemeClr val="bg1"/>
                </a:solidFill>
              </a:rPr>
              <a:t> primary čvor prima zahtev klijenta i pokreće konsenzus.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b="1" dirty="0">
                <a:solidFill>
                  <a:schemeClr val="bg1"/>
                </a:solidFill>
              </a:rPr>
              <a:t>In-prepare1:</a:t>
            </a:r>
            <a:r>
              <a:rPr lang="sr-Latn-RS" dirty="0">
                <a:solidFill>
                  <a:schemeClr val="bg1"/>
                </a:solidFill>
              </a:rPr>
              <a:t> čvorovi se organizuju u grupe i počinju proveru zahteva.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b="1" dirty="0">
                <a:solidFill>
                  <a:schemeClr val="bg1"/>
                </a:solidFill>
              </a:rPr>
              <a:t>In-prepare2:</a:t>
            </a:r>
            <a:r>
              <a:rPr lang="sr-Latn-RS" dirty="0">
                <a:solidFill>
                  <a:schemeClr val="bg1"/>
                </a:solidFill>
              </a:rPr>
              <a:t> unutar svake grupe postiže se lokalni konsenzus.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b="1" dirty="0">
                <a:solidFill>
                  <a:schemeClr val="bg1"/>
                </a:solidFill>
              </a:rPr>
              <a:t>Out-prepare:</a:t>
            </a:r>
            <a:r>
              <a:rPr lang="sr-Latn-RS" dirty="0">
                <a:solidFill>
                  <a:schemeClr val="bg1"/>
                </a:solidFill>
              </a:rPr>
              <a:t> predstavnici grupa učestvuju u globalnom konsenzusu.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b="1" dirty="0">
                <a:solidFill>
                  <a:schemeClr val="bg1"/>
                </a:solidFill>
              </a:rPr>
              <a:t>Commit:</a:t>
            </a:r>
            <a:r>
              <a:rPr lang="sr-Latn-RS" dirty="0">
                <a:solidFill>
                  <a:schemeClr val="bg1"/>
                </a:solidFill>
              </a:rPr>
              <a:t> odluka se potvrđuje ako postoji dovoljan broj validnih glasova.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b="1" dirty="0">
                <a:solidFill>
                  <a:schemeClr val="bg1"/>
                </a:solidFill>
              </a:rPr>
              <a:t>Preprepare2:</a:t>
            </a:r>
            <a:r>
              <a:rPr lang="sr-Latn-RS" dirty="0">
                <a:solidFill>
                  <a:schemeClr val="bg1"/>
                </a:solidFill>
              </a:rPr>
              <a:t> konačna odluka se priprema i </a:t>
            </a:r>
            <a:r>
              <a:rPr lang="sr-Latn-RS" dirty="0" smtClean="0">
                <a:solidFill>
                  <a:schemeClr val="bg1"/>
                </a:solidFill>
              </a:rPr>
              <a:t>upisuje.</a:t>
            </a:r>
            <a:endParaRPr lang="sr-Latn-R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FAZNI PREGLED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 NBFT algoritma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12680" y="64465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NBFT konsenzus  •  6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718036" y="5367528"/>
            <a:ext cx="146304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  <a:tailEnd type="triangle"/>
          </a:ln>
        </p:spPr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577" y="1421970"/>
            <a:ext cx="7482263" cy="48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514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IZBOR ČVOROVA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Konzistentno heširanje: izbor uloga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12680" y="64465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NBFT konsenzus  •  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52120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52120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086600" y="2103120"/>
            <a:ext cx="3017520" cy="3017520"/>
          </a:xfrm>
          <a:prstGeom prst="arc">
            <a:avLst/>
          </a:prstGeom>
          <a:noFill/>
          <a:ln w="38100">
            <a:solidFill>
              <a:srgbClr val="67E8F9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49056" y="1956816"/>
            <a:ext cx="292608" cy="292608"/>
          </a:xfrm>
          <a:prstGeom prst="ellipse">
            <a:avLst/>
          </a:prstGeom>
          <a:solidFill>
            <a:srgbClr val="FBBF24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49056" y="2047524"/>
            <a:ext cx="292608" cy="11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120"/>
                </a:solidFill>
              </a:rPr>
              <a:t>r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9203436" y="2158952"/>
            <a:ext cx="292608" cy="292608"/>
          </a:xfrm>
          <a:prstGeom prst="ellipse">
            <a:avLst/>
          </a:prstGeom>
          <a:solidFill>
            <a:srgbClr val="2DD4BF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03436" y="2249660"/>
            <a:ext cx="292608" cy="11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9755680" y="2711196"/>
            <a:ext cx="292608" cy="292608"/>
          </a:xfrm>
          <a:prstGeom prst="ellipse">
            <a:avLst/>
          </a:prstGeom>
          <a:solidFill>
            <a:srgbClr val="FB7185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55680" y="2801904"/>
            <a:ext cx="292608" cy="11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120"/>
                </a:solidFill>
              </a:rPr>
              <a:t>P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9957816" y="3465576"/>
            <a:ext cx="292608" cy="292608"/>
          </a:xfrm>
          <a:prstGeom prst="ellipse">
            <a:avLst/>
          </a:prstGeom>
          <a:solidFill>
            <a:srgbClr val="FBBF24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57816" y="3556284"/>
            <a:ext cx="292608" cy="11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120"/>
                </a:solidFill>
              </a:rPr>
              <a:t>r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9755680" y="4219956"/>
            <a:ext cx="292608" cy="292608"/>
          </a:xfrm>
          <a:prstGeom prst="ellipse">
            <a:avLst/>
          </a:prstGeom>
          <a:solidFill>
            <a:srgbClr val="2DD4BF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55680" y="4310664"/>
            <a:ext cx="292608" cy="11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9203436" y="4772200"/>
            <a:ext cx="292608" cy="292608"/>
          </a:xfrm>
          <a:prstGeom prst="ellipse">
            <a:avLst/>
          </a:prstGeom>
          <a:solidFill>
            <a:srgbClr val="2DD4BF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03436" y="4862909"/>
            <a:ext cx="292608" cy="11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8449056" y="4974336"/>
            <a:ext cx="292608" cy="292608"/>
          </a:xfrm>
          <a:prstGeom prst="ellipse">
            <a:avLst/>
          </a:prstGeom>
          <a:solidFill>
            <a:srgbClr val="FBBF24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49056" y="5065044"/>
            <a:ext cx="292608" cy="11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120"/>
                </a:solidFill>
              </a:rPr>
              <a:t>r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7694676" y="4772200"/>
            <a:ext cx="292608" cy="292608"/>
          </a:xfrm>
          <a:prstGeom prst="ellipse">
            <a:avLst/>
          </a:prstGeom>
          <a:solidFill>
            <a:srgbClr val="2DD4BF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94676" y="4862909"/>
            <a:ext cx="292608" cy="11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7142432" y="4219956"/>
            <a:ext cx="292608" cy="292608"/>
          </a:xfrm>
          <a:prstGeom prst="ellipse">
            <a:avLst/>
          </a:prstGeom>
          <a:solidFill>
            <a:srgbClr val="2DD4BF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42432" y="4310664"/>
            <a:ext cx="292608" cy="11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940296" y="3465576"/>
            <a:ext cx="292608" cy="292608"/>
          </a:xfrm>
          <a:prstGeom prst="ellipse">
            <a:avLst/>
          </a:prstGeom>
          <a:solidFill>
            <a:srgbClr val="FBBF24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0296" y="3556284"/>
            <a:ext cx="292608" cy="11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120"/>
                </a:solidFill>
              </a:rPr>
              <a:t>r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7142432" y="2711196"/>
            <a:ext cx="292608" cy="292608"/>
          </a:xfrm>
          <a:prstGeom prst="ellipse">
            <a:avLst/>
          </a:prstGeom>
          <a:solidFill>
            <a:srgbClr val="2DD4BF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42432" y="2801904"/>
            <a:ext cx="292608" cy="11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7694676" y="2158952"/>
            <a:ext cx="292608" cy="292608"/>
          </a:xfrm>
          <a:prstGeom prst="ellipse">
            <a:avLst/>
          </a:prstGeom>
          <a:solidFill>
            <a:srgbClr val="2DD4BF"/>
          </a:solidFill>
          <a:ln w="13970">
            <a:solidFill>
              <a:srgbClr val="F8FAFC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94676" y="2249660"/>
            <a:ext cx="292608" cy="11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9966960" y="2423160"/>
            <a:ext cx="868680" cy="0"/>
          </a:xfrm>
          <a:prstGeom prst="line">
            <a:avLst/>
          </a:prstGeom>
          <a:noFill/>
          <a:ln w="17780">
            <a:solidFill>
              <a:srgbClr val="FBBF24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6720840" y="5806440"/>
            <a:ext cx="42062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6" name="Rectangle 35"/>
          <p:cNvSpPr/>
          <p:nvPr/>
        </p:nvSpPr>
        <p:spPr>
          <a:xfrm>
            <a:off x="519684" y="1264920"/>
            <a:ext cx="6096000" cy="4616648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sz="1400" dirty="0" smtClean="0">
                <a:solidFill>
                  <a:schemeClr val="bg1"/>
                </a:solidFill>
                <a:latin typeface="Arial" panose="020B0604020202020204" pitchFamily="34" charset="0"/>
              </a:rPr>
              <a:t>NBFT </a:t>
            </a:r>
            <a:r>
              <a:rPr lang="sr-Latn-RS" sz="1400" dirty="0">
                <a:solidFill>
                  <a:schemeClr val="bg1"/>
                </a:solidFill>
                <a:latin typeface="Arial" panose="020B0604020202020204" pitchFamily="34" charset="0"/>
              </a:rPr>
              <a:t>koristi </a:t>
            </a:r>
            <a:r>
              <a:rPr lang="sr-Latn-RS" sz="1400" b="1" dirty="0">
                <a:solidFill>
                  <a:schemeClr val="bg1"/>
                </a:solidFill>
                <a:latin typeface="Arial" panose="020B0604020202020204" pitchFamily="34" charset="0"/>
              </a:rPr>
              <a:t>consistent hash algoritam</a:t>
            </a:r>
            <a:r>
              <a:rPr lang="sr-Latn-RS" sz="1400" dirty="0">
                <a:solidFill>
                  <a:schemeClr val="bg1"/>
                </a:solidFill>
                <a:latin typeface="Arial" panose="020B0604020202020204" pitchFamily="34" charset="0"/>
              </a:rPr>
              <a:t> za: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sz="1400" dirty="0">
                <a:solidFill>
                  <a:schemeClr val="bg1"/>
                </a:solidFill>
                <a:latin typeface="Arial" panose="020B0604020202020204" pitchFamily="34" charset="0"/>
              </a:rPr>
              <a:t>izbor primary čvora,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sz="1400" dirty="0">
                <a:solidFill>
                  <a:schemeClr val="bg1"/>
                </a:solidFill>
                <a:latin typeface="Arial" panose="020B0604020202020204" pitchFamily="34" charset="0"/>
              </a:rPr>
              <a:t>podelu čvorova u grupe,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sz="1400" dirty="0">
                <a:solidFill>
                  <a:schemeClr val="bg1"/>
                </a:solidFill>
                <a:latin typeface="Arial" panose="020B0604020202020204" pitchFamily="34" charset="0"/>
              </a:rPr>
              <a:t>izbor predstavnika svake grupe.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sz="1400" dirty="0">
                <a:solidFill>
                  <a:schemeClr val="bg1"/>
                </a:solidFill>
                <a:latin typeface="Arial" panose="020B0604020202020204" pitchFamily="34" charset="0"/>
              </a:rPr>
              <a:t>Svaki čvor se mapira na hash prsten pomoću: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sr-Latn-RS" sz="1400" dirty="0">
                <a:solidFill>
                  <a:schemeClr val="bg1"/>
                </a:solidFill>
                <a:latin typeface="Arial" panose="020B0604020202020204" pitchFamily="34" charset="0"/>
              </a:rPr>
              <a:t/>
            </a:r>
            <a:br>
              <a:rPr lang="sr-Latn-RS" sz="14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sr-Latn-RS" sz="1400" dirty="0" smtClean="0">
                <a:solidFill>
                  <a:schemeClr val="bg1"/>
                </a:solidFill>
                <a:latin typeface="Arial" panose="020B0604020202020204" pitchFamily="34" charset="0"/>
              </a:rPr>
              <a:t>hash(nodeip)</a:t>
            </a:r>
            <a:endParaRPr lang="en-US" sz="1400" dirty="0" smtClean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dirty="0" smtClean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sz="14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Primary </a:t>
            </a:r>
            <a:r>
              <a:rPr lang="sr-Latn-RS" sz="1400" b="1" dirty="0">
                <a:solidFill>
                  <a:schemeClr val="bg1"/>
                </a:solidFill>
                <a:latin typeface="Arial" panose="020B0604020202020204" pitchFamily="34" charset="0"/>
              </a:rPr>
              <a:t>čvor</a:t>
            </a:r>
            <a:r>
              <a:rPr lang="sr-Latn-RS" sz="1400" dirty="0">
                <a:solidFill>
                  <a:schemeClr val="bg1"/>
                </a:solidFill>
                <a:latin typeface="Arial" panose="020B0604020202020204" pitchFamily="34" charset="0"/>
              </a:rPr>
              <a:t> se bira na osnovu: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sr-Latn-RS" sz="1400" dirty="0">
                <a:solidFill>
                  <a:schemeClr val="bg1"/>
                </a:solidFill>
                <a:latin typeface="Arial" panose="020B0604020202020204" pitchFamily="34" charset="0"/>
              </a:rPr>
              <a:t/>
            </a:r>
            <a:br>
              <a:rPr lang="sr-Latn-RS" sz="14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sr-Latn-RS" sz="1400" dirty="0">
                <a:solidFill>
                  <a:schemeClr val="bg1"/>
                </a:solidFill>
                <a:latin typeface="Arial" panose="020B0604020202020204" pitchFamily="34" charset="0"/>
              </a:rPr>
              <a:t>hash(masterip + previoushash + viewnumber)</a:t>
            </a:r>
            <a:br>
              <a:rPr lang="sr-Latn-RS" sz="14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endParaRPr lang="sr-Latn-RS" sz="14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sz="1400" dirty="0">
                <a:solidFill>
                  <a:schemeClr val="bg1"/>
                </a:solidFill>
                <a:latin typeface="Arial" panose="020B0604020202020204" pitchFamily="34" charset="0"/>
              </a:rPr>
              <a:t>Nakon izbora primary čvora, ostali čvorovi se </a:t>
            </a:r>
            <a:r>
              <a:rPr lang="en-US" sz="1400" dirty="0" err="1" smtClean="0">
                <a:solidFill>
                  <a:schemeClr val="bg1"/>
                </a:solidFill>
                <a:latin typeface="Arial" panose="020B0604020202020204" pitchFamily="34" charset="0"/>
              </a:rPr>
              <a:t>raspoređuju</a:t>
            </a:r>
            <a:r>
              <a:rPr lang="en-US" sz="1400" dirty="0" smtClean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sr-Latn-RS" sz="1400" dirty="0" smtClean="0">
                <a:solidFill>
                  <a:schemeClr val="bg1"/>
                </a:solidFill>
                <a:latin typeface="Arial" panose="020B0604020202020204" pitchFamily="34" charset="0"/>
              </a:rPr>
              <a:t>po </a:t>
            </a:r>
            <a:r>
              <a:rPr lang="sr-Latn-RS" sz="1400" dirty="0">
                <a:solidFill>
                  <a:schemeClr val="bg1"/>
                </a:solidFill>
                <a:latin typeface="Arial" panose="020B0604020202020204" pitchFamily="34" charset="0"/>
              </a:rPr>
              <a:t>hash prstenu i dele u grupe od po </a:t>
            </a:r>
            <a:r>
              <a:rPr lang="sr-Latn-RS" sz="1400" b="1" dirty="0">
                <a:solidFill>
                  <a:schemeClr val="bg1"/>
                </a:solidFill>
                <a:latin typeface="Arial" panose="020B0604020202020204" pitchFamily="34" charset="0"/>
              </a:rPr>
              <a:t>m čvorova</a:t>
            </a:r>
            <a:r>
              <a:rPr lang="sr-Latn-RS" sz="1400" dirty="0">
                <a:solidFill>
                  <a:schemeClr val="bg1"/>
                </a:solidFill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sz="1400" b="1" dirty="0">
                <a:solidFill>
                  <a:schemeClr val="bg1"/>
                </a:solidFill>
                <a:latin typeface="Arial" panose="020B0604020202020204" pitchFamily="34" charset="0"/>
              </a:rPr>
              <a:t>Predstavnik grupe</a:t>
            </a:r>
            <a:r>
              <a:rPr lang="sr-Latn-RS" sz="1400" dirty="0">
                <a:solidFill>
                  <a:schemeClr val="bg1"/>
                </a:solidFill>
                <a:latin typeface="Arial" panose="020B0604020202020204" pitchFamily="34" charset="0"/>
              </a:rPr>
              <a:t> bira se pomoću: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sr-Latn-RS" sz="1400" dirty="0">
                <a:solidFill>
                  <a:schemeClr val="bg1"/>
                </a:solidFill>
                <a:latin typeface="Arial" panose="020B0604020202020204" pitchFamily="34" charset="0"/>
              </a:rPr>
              <a:t/>
            </a:r>
            <a:br>
              <a:rPr lang="sr-Latn-RS" sz="14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sr-Latn-RS" sz="1400" dirty="0">
                <a:solidFill>
                  <a:schemeClr val="bg1"/>
                </a:solidFill>
                <a:latin typeface="Arial" panose="020B0604020202020204" pitchFamily="34" charset="0"/>
              </a:rPr>
              <a:t>hash(masterip + viewnumber + </a:t>
            </a:r>
            <a:r>
              <a:rPr lang="sr-Latn-RS" sz="1400" dirty="0" smtClean="0">
                <a:solidFill>
                  <a:schemeClr val="bg1"/>
                </a:solidFill>
                <a:latin typeface="Arial" panose="020B0604020202020204" pitchFamily="34" charset="0"/>
              </a:rPr>
              <a:t>groupnumber)</a:t>
            </a:r>
            <a:endParaRPr lang="en-US" sz="1400" dirty="0" smtClean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l-PL" sz="1400" dirty="0">
                <a:solidFill>
                  <a:schemeClr val="bg1"/>
                </a:solidFill>
              </a:rPr>
              <a:t>Grupisanje počinje od pozicije određene izrazom</a:t>
            </a:r>
            <a:r>
              <a:rPr lang="pl-PL" sz="1400" dirty="0" smtClean="0">
                <a:solidFill>
                  <a:schemeClr val="bg1"/>
                </a:solidFill>
              </a:rPr>
              <a:t>:</a:t>
            </a:r>
            <a:endParaRPr lang="en-US" sz="1400" dirty="0" smtClean="0">
              <a:solidFill>
                <a:schemeClr val="bg1"/>
              </a:solidFill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sr-Latn-RS" sz="1400" dirty="0">
                <a:solidFill>
                  <a:schemeClr val="bg1"/>
                </a:solidFill>
              </a:rPr>
              <a:t>[viewnumber / nodenumber]</a:t>
            </a:r>
            <a:endParaRPr lang="pl-PL" sz="1400" dirty="0">
              <a:solidFill>
                <a:schemeClr val="bg1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sr-Latn-RS" sz="14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IZBOR ČVOROVA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sr-Latn-RS" sz="3200" dirty="0">
                <a:solidFill>
                  <a:schemeClr val="bg1"/>
                </a:solidFill>
              </a:rPr>
              <a:t>Node Decision Broadcast Model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12680" y="64465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NBFT konsenzus  •  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52120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52120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720840" y="5806440"/>
            <a:ext cx="42062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7" name="Rectangle 36"/>
          <p:cNvSpPr/>
          <p:nvPr/>
        </p:nvSpPr>
        <p:spPr>
          <a:xfrm>
            <a:off x="697991" y="1418808"/>
            <a:ext cx="6096001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Model služi da proveri da li predstavnički primarni čvor grupe ispravno predstavlja rezultat svoje grupe.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sr-Latn-RS" sz="1600" b="1" dirty="0">
                <a:solidFill>
                  <a:schemeClr val="bg1"/>
                </a:solidFill>
                <a:latin typeface="Arial" panose="020B0604020202020204" pitchFamily="34" charset="0"/>
              </a:rPr>
              <a:t>Zašto je potreban?</a:t>
            </a: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/>
            </a:r>
            <a:b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Ako je predstavnički čvor Byzantine ili neispravan, može pogrešno uticati na konsenzus cele mreže.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sr-Latn-RS" sz="1600" b="1" dirty="0">
                <a:solidFill>
                  <a:schemeClr val="bg1"/>
                </a:solidFill>
                <a:latin typeface="Arial" panose="020B0604020202020204" pitchFamily="34" charset="0"/>
              </a:rPr>
              <a:t>Kada grupa reaguje?</a:t>
            </a: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/>
            </a:r>
            <a:b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Grupa ne dozvoljava predstavniku da sam učestvuje u out-prepare fazi ako: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poruka predstavnika nije ista kao poruke ostalih čvorova,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poruka predstavnika ne stigne na vreme,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broj agregiranih potpisa je manji od </a:t>
            </a:r>
            <a:r>
              <a:rPr lang="sr-Latn-RS" sz="1600" dirty="0">
                <a:solidFill>
                  <a:schemeClr val="bg1"/>
                </a:solidFill>
                <a:latin typeface="Arial Unicode MS" panose="020B0604020202020204" pitchFamily="34" charset="-128"/>
              </a:rPr>
              <a:t>2E + 1</a:t>
            </a:r>
            <a:r>
              <a:rPr lang="sr-Latn-RS" sz="1600" dirty="0">
                <a:solidFill>
                  <a:schemeClr val="bg1"/>
                </a:solidFill>
              </a:rPr>
              <a:t>. </a:t>
            </a:r>
            <a:endParaRPr lang="sr-Latn-RS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sr-Latn-RS" sz="1600" b="1" dirty="0">
                <a:solidFill>
                  <a:schemeClr val="bg1"/>
                </a:solidFill>
                <a:latin typeface="Arial" panose="020B0604020202020204" pitchFamily="34" charset="0"/>
              </a:rPr>
              <a:t>Šta se tada dešava?</a:t>
            </a: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/>
            </a:r>
            <a:b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Obični čvorovi iz grupe sami šalju broadcast poruku predstavničkim čvorovima drugih grupa.</a:t>
            </a:r>
          </a:p>
        </p:txBody>
      </p:sp>
    </p:spTree>
    <p:extLst>
      <p:ext uri="{BB962C8B-B14F-4D97-AF65-F5344CB8AC3E}">
        <p14:creationId xmlns:p14="http://schemas.microsoft.com/office/powerpoint/2010/main" val="4081904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IZBOR ČVOROVA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sr-Latn-RS" sz="3200" dirty="0">
                <a:solidFill>
                  <a:schemeClr val="bg1"/>
                </a:solidFill>
              </a:rPr>
              <a:t>Node Decision Broadcast Model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12680" y="64465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NBFT konsenzus  •  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52120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52120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720840" y="5806440"/>
            <a:ext cx="42062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3118" y="1325880"/>
            <a:ext cx="3162741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623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IZBOR ČVOROVA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sr-Latn-RS" sz="3200" dirty="0">
                <a:solidFill>
                  <a:schemeClr val="bg1"/>
                </a:solidFill>
              </a:rPr>
              <a:t>Threshold Vote-Counting Model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12680" y="64465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NBFT konsenzus  •  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52120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19" y="310461"/>
            <a:ext cx="9919064" cy="433425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Koristi se u </a:t>
            </a:r>
            <a:r>
              <a:rPr lang="sr-Latn-RS" sz="1600" b="1" dirty="0">
                <a:solidFill>
                  <a:schemeClr val="bg1"/>
                </a:solidFill>
                <a:latin typeface="Arial" panose="020B0604020202020204" pitchFamily="34" charset="0"/>
              </a:rPr>
              <a:t>out-prepare</a:t>
            </a: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 fazi za brojanje glasova između grupa.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Cilj je da se smanji uticaj </a:t>
            </a:r>
            <a:r>
              <a:rPr lang="sr-Latn-RS" sz="1600" b="1" dirty="0">
                <a:solidFill>
                  <a:schemeClr val="bg1"/>
                </a:solidFill>
                <a:latin typeface="Arial" panose="020B0604020202020204" pitchFamily="34" charset="0"/>
              </a:rPr>
              <a:t>Byzantine čvorova</a:t>
            </a: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 na konačan konsenzus.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Ako grupa ima dovoljno validnih potpisa, tj. više od </a:t>
            </a:r>
            <a:r>
              <a:rPr lang="sr-Latn-RS" sz="1600" dirty="0">
                <a:solidFill>
                  <a:schemeClr val="bg1"/>
                </a:solidFill>
                <a:latin typeface="Arial Unicode MS" panose="020B0604020202020204" pitchFamily="34" charset="-128"/>
              </a:rPr>
              <a:t>m − E</a:t>
            </a:r>
            <a:r>
              <a:rPr lang="sr-Latn-RS" sz="1600" dirty="0">
                <a:solidFill>
                  <a:schemeClr val="bg1"/>
                </a:solidFill>
              </a:rPr>
              <a:t>, računa se kao </a:t>
            </a:r>
            <a:r>
              <a:rPr lang="sr-Latn-RS" sz="1600" b="1" dirty="0">
                <a:solidFill>
                  <a:schemeClr val="bg1"/>
                </a:solidFill>
                <a:latin typeface="Arial" panose="020B0604020202020204" pitchFamily="34" charset="0"/>
              </a:rPr>
              <a:t>cela grupa</a:t>
            </a: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: </a:t>
            </a:r>
            <a:r>
              <a:rPr lang="sr-Latn-RS" sz="1600" dirty="0">
                <a:solidFill>
                  <a:schemeClr val="bg1"/>
                </a:solidFill>
                <a:latin typeface="Arial Unicode MS" panose="020B0604020202020204" pitchFamily="34" charset="-128"/>
              </a:rPr>
              <a:t>m</a:t>
            </a:r>
            <a:r>
              <a:rPr lang="sr-Latn-RS" sz="1600" dirty="0">
                <a:solidFill>
                  <a:schemeClr val="bg1"/>
                </a:solidFill>
              </a:rPr>
              <a:t> glasova.</a:t>
            </a:r>
            <a:endParaRPr lang="sr-Latn-RS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Ako grupa nema dovoljno potpisa, računa se samo broj stvarno validnih potpisa.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Validan potpis običnog čvora vredi </a:t>
            </a:r>
            <a:r>
              <a:rPr lang="sr-Latn-RS" sz="1600" b="1" dirty="0">
                <a:solidFill>
                  <a:schemeClr val="bg1"/>
                </a:solidFill>
                <a:latin typeface="Arial" panose="020B0604020202020204" pitchFamily="34" charset="0"/>
              </a:rPr>
              <a:t>1 glas</a:t>
            </a: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Kada se skupi dovoljno glasova za istu poruku, potpisi se agregiraju i šalju glavnom primary čvoru.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Primary čvor zatim šalje dokaz svim čvorovima da je mreža postigla konsenzus.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Klijent smatra da je konsenzus završen kada dobije dovoljno odgovora od različitih čvorova. </a:t>
            </a:r>
          </a:p>
          <a:p>
            <a:pPr marL="0" indent="0" algn="l"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6720840" y="5806440"/>
            <a:ext cx="42062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59330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IZBOR ČVOROVA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sr-Latn-RS" sz="3200" dirty="0">
                <a:solidFill>
                  <a:schemeClr val="bg1"/>
                </a:solidFill>
              </a:rPr>
              <a:t>Threshold Vote-Counting Model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12680" y="64465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NBFT konsenzus  •  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52120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19" y="310461"/>
            <a:ext cx="9919064" cy="433425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6720840" y="5806440"/>
            <a:ext cx="42062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137" y="1434453"/>
            <a:ext cx="4100702" cy="464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876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IZBOR ČVOROVA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sr-Latn-RS" sz="3200" dirty="0">
                <a:solidFill>
                  <a:schemeClr val="bg1"/>
                </a:solidFill>
              </a:rPr>
              <a:t>Error Tolerance Number Interval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12680" y="64465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NBFT konsenzus  •  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52120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19" y="310461"/>
            <a:ext cx="9919064" cy="433425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6720840" y="5806440"/>
            <a:ext cx="42062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0" name="Rectangle 9"/>
          <p:cNvSpPr/>
          <p:nvPr/>
        </p:nvSpPr>
        <p:spPr>
          <a:xfrm>
            <a:off x="640080" y="1249804"/>
            <a:ext cx="10904583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 smtClean="0">
                <a:solidFill>
                  <a:schemeClr val="bg1"/>
                </a:solidFill>
                <a:latin typeface="Arial" panose="020B0604020202020204" pitchFamily="34" charset="0"/>
              </a:rPr>
              <a:t>U </a:t>
            </a: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PBFT-u je tolerancija grešaka jedna vrednost: sistem radi ako je broj Byzantine čvorova ≤ </a:t>
            </a:r>
            <a:r>
              <a:rPr lang="sr-Latn-RS" sz="1600" dirty="0">
                <a:solidFill>
                  <a:schemeClr val="bg1"/>
                </a:solidFill>
                <a:latin typeface="Arial Unicode MS" panose="020B0604020202020204" pitchFamily="34" charset="-128"/>
              </a:rPr>
              <a:t>1/3</a:t>
            </a:r>
            <a:r>
              <a:rPr lang="sr-Latn-RS" sz="800" dirty="0">
                <a:solidFill>
                  <a:schemeClr val="bg1"/>
                </a:solidFill>
              </a:rPr>
              <a:t>.</a:t>
            </a: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U NBFT-u tolerancija nije jedna vrednost, već </a:t>
            </a:r>
            <a:r>
              <a:rPr lang="sr-Latn-RS" b="1" dirty="0">
                <a:solidFill>
                  <a:schemeClr val="bg1"/>
                </a:solidFill>
                <a:latin typeface="Arial" panose="020B0604020202020204" pitchFamily="34" charset="0"/>
              </a:rPr>
              <a:t>interval</a:t>
            </a: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, jer zavisi od rasporeda Byzantine čvorova po grupama.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U out-prepare fazi postoji </a:t>
            </a:r>
            <a:r>
              <a:rPr lang="sr-Latn-RS" sz="1600" dirty="0">
                <a:solidFill>
                  <a:schemeClr val="bg1"/>
                </a:solidFill>
                <a:latin typeface="Arial Unicode MS" panose="020B0604020202020204" pitchFamily="34" charset="-128"/>
              </a:rPr>
              <a:t>R</a:t>
            </a:r>
            <a:r>
              <a:rPr lang="sr-Latn-RS" sz="1600" dirty="0">
                <a:solidFill>
                  <a:schemeClr val="bg1"/>
                </a:solidFill>
              </a:rPr>
              <a:t> grupa</a:t>
            </a:r>
            <a:r>
              <a:rPr lang="sr-Latn-RS" sz="800" dirty="0">
                <a:solidFill>
                  <a:schemeClr val="bg1"/>
                </a:solidFill>
              </a:rPr>
              <a:t>.</a:t>
            </a: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Najviše </a:t>
            </a:r>
            <a:r>
              <a:rPr lang="sr-Latn-RS" sz="1600" dirty="0">
                <a:solidFill>
                  <a:schemeClr val="bg1"/>
                </a:solidFill>
                <a:latin typeface="Arial Unicode MS" panose="020B0604020202020204" pitchFamily="34" charset="-128"/>
              </a:rPr>
              <a:t>w</a:t>
            </a:r>
            <a:r>
              <a:rPr lang="sr-Latn-RS" sz="1600" dirty="0">
                <a:solidFill>
                  <a:schemeClr val="bg1"/>
                </a:solidFill>
              </a:rPr>
              <a:t> grupa može imati abnormalan konsenzus</a:t>
            </a:r>
            <a:r>
              <a:rPr lang="sr-Latn-RS" sz="800" dirty="0">
                <a:solidFill>
                  <a:schemeClr val="bg1"/>
                </a:solidFill>
              </a:rPr>
              <a:t>.</a:t>
            </a: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Ako su predstavnički čvorovi Byzantine, konsenzus može da propadne ranije.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Ako predstavnički čvorovi rade ispravno, svaka ispravna grupa može tolerisati </a:t>
            </a: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do </a:t>
            </a:r>
            <a:r>
              <a:rPr lang="sr-Latn-RS" sz="1600" dirty="0">
                <a:solidFill>
                  <a:schemeClr val="bg1"/>
                </a:solidFill>
                <a:latin typeface="Arial Unicode MS" panose="020B0604020202020204" pitchFamily="34" charset="-128"/>
              </a:rPr>
              <a:t>E</a:t>
            </a:r>
            <a:r>
              <a:rPr lang="sr-Latn-RS" sz="1600" dirty="0">
                <a:solidFill>
                  <a:schemeClr val="bg1"/>
                </a:solidFill>
              </a:rPr>
              <a:t> Byzantine čvorova.</a:t>
            </a:r>
            <a:endParaRPr lang="sr-Latn-RS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Maksimalna tolerancija se računa kao</a:t>
            </a:r>
            <a:r>
              <a:rPr lang="sr-Latn-RS" dirty="0" smtClean="0">
                <a:solidFill>
                  <a:schemeClr val="bg1"/>
                </a:solidFill>
                <a:latin typeface="Arial" panose="020B0604020202020204" pitchFamily="34" charset="0"/>
              </a:rPr>
              <a:t>:</a:t>
            </a:r>
            <a:endParaRPr lang="en-US" dirty="0" smtClean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/>
            </a:r>
            <a:b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</a:br>
            <a:endParaRPr lang="en-US" dirty="0" smtClean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</a:rPr>
              <a:t>                                                             </a:t>
            </a:r>
            <a:r>
              <a:rPr lang="de-DE" dirty="0">
                <a:solidFill>
                  <a:schemeClr val="bg1"/>
                </a:solidFill>
              </a:rPr>
              <a:t>T=w⋅m+(R−w)⋅E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gde je: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sr-Latn-RS" sz="1600" dirty="0">
                <a:solidFill>
                  <a:schemeClr val="bg1"/>
                </a:solidFill>
                <a:latin typeface="Arial Unicode MS" panose="020B0604020202020204" pitchFamily="34" charset="-128"/>
              </a:rPr>
              <a:t>m</a:t>
            </a:r>
            <a:r>
              <a:rPr lang="sr-Latn-RS" sz="1600" dirty="0">
                <a:solidFill>
                  <a:schemeClr val="bg1"/>
                </a:solidFill>
              </a:rPr>
              <a:t> — broj čvorova u grupi</a:t>
            </a:r>
            <a:br>
              <a:rPr lang="sr-Latn-RS" sz="1600" dirty="0">
                <a:solidFill>
                  <a:schemeClr val="bg1"/>
                </a:solidFill>
              </a:rPr>
            </a:br>
            <a:r>
              <a:rPr lang="sr-Latn-RS" sz="1600" dirty="0">
                <a:solidFill>
                  <a:schemeClr val="bg1"/>
                </a:solidFill>
                <a:latin typeface="Arial Unicode MS" panose="020B0604020202020204" pitchFamily="34" charset="-128"/>
              </a:rPr>
              <a:t>R</a:t>
            </a:r>
            <a:r>
              <a:rPr lang="sr-Latn-RS" sz="1600" dirty="0">
                <a:solidFill>
                  <a:schemeClr val="bg1"/>
                </a:solidFill>
              </a:rPr>
              <a:t> — broj grupa</a:t>
            </a:r>
            <a:br>
              <a:rPr lang="sr-Latn-RS" sz="1600" dirty="0">
                <a:solidFill>
                  <a:schemeClr val="bg1"/>
                </a:solidFill>
              </a:rPr>
            </a:br>
            <a:r>
              <a:rPr lang="sr-Latn-RS" sz="1600" dirty="0">
                <a:solidFill>
                  <a:schemeClr val="bg1"/>
                </a:solidFill>
                <a:latin typeface="Arial Unicode MS" panose="020B0604020202020204" pitchFamily="34" charset="-128"/>
              </a:rPr>
              <a:t>w</a:t>
            </a:r>
            <a:r>
              <a:rPr lang="sr-Latn-RS" sz="1600" dirty="0">
                <a:solidFill>
                  <a:schemeClr val="bg1"/>
                </a:solidFill>
              </a:rPr>
              <a:t> — broj grupa koje mogu biti abnormalne</a:t>
            </a:r>
            <a:br>
              <a:rPr lang="sr-Latn-RS" sz="1600" dirty="0">
                <a:solidFill>
                  <a:schemeClr val="bg1"/>
                </a:solidFill>
              </a:rPr>
            </a:br>
            <a:r>
              <a:rPr lang="sr-Latn-RS" sz="1600" dirty="0">
                <a:solidFill>
                  <a:schemeClr val="bg1"/>
                </a:solidFill>
                <a:latin typeface="Arial Unicode MS" panose="020B0604020202020204" pitchFamily="34" charset="-128"/>
              </a:rPr>
              <a:t>E</a:t>
            </a:r>
            <a:r>
              <a:rPr lang="sr-Latn-RS" sz="1600" dirty="0">
                <a:solidFill>
                  <a:schemeClr val="bg1"/>
                </a:solidFill>
              </a:rPr>
              <a:t> — maksimalan broj Byzantine čvorova u jednoj grupi</a:t>
            </a:r>
            <a:br>
              <a:rPr lang="sr-Latn-RS" sz="1600" dirty="0">
                <a:solidFill>
                  <a:schemeClr val="bg1"/>
                </a:solidFill>
              </a:rPr>
            </a:br>
            <a:r>
              <a:rPr lang="sr-Latn-RS" sz="1600" dirty="0">
                <a:solidFill>
                  <a:schemeClr val="bg1"/>
                </a:solidFill>
                <a:latin typeface="Arial Unicode MS" panose="020B0604020202020204" pitchFamily="34" charset="-128"/>
              </a:rPr>
              <a:t>T</a:t>
            </a:r>
            <a:r>
              <a:rPr lang="sr-Latn-RS" sz="1600" dirty="0">
                <a:solidFill>
                  <a:schemeClr val="bg1"/>
                </a:solidFill>
              </a:rPr>
              <a:t> — maksimalan broj tolerisanih Byzantine </a:t>
            </a:r>
            <a:r>
              <a:rPr lang="sr-Latn-RS" sz="1600" dirty="0" smtClean="0">
                <a:solidFill>
                  <a:schemeClr val="bg1"/>
                </a:solidFill>
              </a:rPr>
              <a:t>čvorova</a:t>
            </a:r>
            <a:endParaRPr lang="sr-Latn-RS" sz="1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18" y="3571871"/>
            <a:ext cx="3646714" cy="121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397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IZBOR ČVOROVA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Probability That All Primary Nodes Are Byzantine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98467" y="548640"/>
            <a:ext cx="9919064" cy="433425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1097280"/>
            <a:ext cx="1020209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sr-Latn-RS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Analizira se najgori slučaj za NBFT: svi predstavnički primarni čvorovi su Byzantine.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Ako postoji </a:t>
            </a:r>
            <a:r>
              <a:rPr lang="sr-Latn-RS" sz="1600" dirty="0">
                <a:solidFill>
                  <a:schemeClr val="bg1"/>
                </a:solidFill>
                <a:latin typeface="Arial Unicode MS" panose="020B0604020202020204" pitchFamily="34" charset="-128"/>
              </a:rPr>
              <a:t>R</a:t>
            </a:r>
            <a:r>
              <a:rPr lang="sr-Latn-RS" sz="1600" dirty="0">
                <a:solidFill>
                  <a:schemeClr val="bg1"/>
                </a:solidFill>
              </a:rPr>
              <a:t> grupa, postoji i </a:t>
            </a:r>
            <a:r>
              <a:rPr lang="sr-Latn-RS" sz="1600" dirty="0">
                <a:solidFill>
                  <a:schemeClr val="bg1"/>
                </a:solidFill>
                <a:latin typeface="Arial Unicode MS" panose="020B0604020202020204" pitchFamily="34" charset="-128"/>
              </a:rPr>
              <a:t>R</a:t>
            </a:r>
            <a:r>
              <a:rPr lang="sr-Latn-RS" sz="1600" dirty="0">
                <a:solidFill>
                  <a:schemeClr val="bg1"/>
                </a:solidFill>
              </a:rPr>
              <a:t> representative primary čvorova.</a:t>
            </a:r>
            <a:endParaRPr lang="sr-Latn-RS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sz="1600" dirty="0">
                <a:solidFill>
                  <a:schemeClr val="bg1"/>
                </a:solidFill>
                <a:latin typeface="Arial Unicode MS" panose="020B0604020202020204" pitchFamily="34" charset="-128"/>
              </a:rPr>
              <a:t>K</a:t>
            </a:r>
            <a:r>
              <a:rPr lang="sr-Latn-RS" sz="1600" dirty="0">
                <a:solidFill>
                  <a:schemeClr val="bg1"/>
                </a:solidFill>
              </a:rPr>
              <a:t> predstavlja verovatnoću da su svih </a:t>
            </a:r>
            <a:r>
              <a:rPr lang="sr-Latn-RS" sz="1600" dirty="0">
                <a:solidFill>
                  <a:schemeClr val="bg1"/>
                </a:solidFill>
                <a:latin typeface="Arial Unicode MS" panose="020B0604020202020204" pitchFamily="34" charset="-128"/>
              </a:rPr>
              <a:t>R</a:t>
            </a:r>
            <a:r>
              <a:rPr lang="sr-Latn-RS" sz="1600" dirty="0">
                <a:solidFill>
                  <a:schemeClr val="bg1"/>
                </a:solidFill>
              </a:rPr>
              <a:t> predstavnika Byzantine.</a:t>
            </a:r>
            <a:endParaRPr lang="sr-Latn-RS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Formula: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/>
            </a:r>
            <a:b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/>
            </a:r>
            <a:b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endParaRPr lang="sr-Latn-RS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gde je: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sr-Latn-RS" sz="1600" dirty="0">
                <a:solidFill>
                  <a:schemeClr val="bg1"/>
                </a:solidFill>
                <a:latin typeface="Arial Unicode MS" panose="020B0604020202020204" pitchFamily="34" charset="-128"/>
              </a:rPr>
              <a:t>n</a:t>
            </a:r>
            <a:r>
              <a:rPr lang="sr-Latn-RS" sz="1600" dirty="0">
                <a:solidFill>
                  <a:schemeClr val="bg1"/>
                </a:solidFill>
              </a:rPr>
              <a:t> — ukupan broj čvorova</a:t>
            </a: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/>
            </a:r>
            <a:b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sr-Latn-RS" sz="1600" dirty="0">
                <a:solidFill>
                  <a:schemeClr val="bg1"/>
                </a:solidFill>
                <a:latin typeface="Arial Unicode MS" panose="020B0604020202020204" pitchFamily="34" charset="-128"/>
              </a:rPr>
              <a:t>i</a:t>
            </a:r>
            <a:r>
              <a:rPr lang="sr-Latn-RS" sz="1600" dirty="0">
                <a:solidFill>
                  <a:schemeClr val="bg1"/>
                </a:solidFill>
              </a:rPr>
              <a:t> — broj Byzantine čvorova u mreži</a:t>
            </a: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/>
            </a:r>
            <a:b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sr-Latn-RS" sz="1600" dirty="0">
                <a:solidFill>
                  <a:schemeClr val="bg1"/>
                </a:solidFill>
                <a:latin typeface="Arial Unicode MS" panose="020B0604020202020204" pitchFamily="34" charset="-128"/>
              </a:rPr>
              <a:t>R</a:t>
            </a:r>
            <a:r>
              <a:rPr lang="sr-Latn-RS" sz="1600" dirty="0">
                <a:solidFill>
                  <a:schemeClr val="bg1"/>
                </a:solidFill>
              </a:rPr>
              <a:t> — broj grupa / predstavničkih čvorova</a:t>
            </a: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/>
            </a:r>
            <a:b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sr-Latn-RS" sz="1600" dirty="0">
                <a:solidFill>
                  <a:schemeClr val="bg1"/>
                </a:solidFill>
                <a:latin typeface="Arial Unicode MS" panose="020B0604020202020204" pitchFamily="34" charset="-128"/>
              </a:rPr>
              <a:t>C_i^R</a:t>
            </a:r>
            <a:r>
              <a:rPr lang="sr-Latn-RS" sz="1600" dirty="0">
                <a:solidFill>
                  <a:schemeClr val="bg1"/>
                </a:solidFill>
              </a:rPr>
              <a:t> — izbor svih predstavnika iz Byzantine čvorova</a:t>
            </a: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/>
            </a:r>
            <a:b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sr-Latn-RS" sz="1600" dirty="0">
                <a:solidFill>
                  <a:schemeClr val="bg1"/>
                </a:solidFill>
                <a:latin typeface="Arial Unicode MS" panose="020B0604020202020204" pitchFamily="34" charset="-128"/>
              </a:rPr>
              <a:t>C_n^R</a:t>
            </a:r>
            <a:r>
              <a:rPr lang="sr-Latn-RS" sz="1600" dirty="0">
                <a:solidFill>
                  <a:schemeClr val="bg1"/>
                </a:solidFill>
              </a:rPr>
              <a:t> — svi mogući izbori predstavnika</a:t>
            </a:r>
            <a:endParaRPr lang="sr-Latn-RS" sz="1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894" y="2420451"/>
            <a:ext cx="1162212" cy="59063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715767"/>
            <a:ext cx="4648849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715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IZBOR ČVOROVA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sr-Latn-RS" sz="3200" dirty="0">
                <a:solidFill>
                  <a:schemeClr val="bg1"/>
                </a:solidFill>
              </a:rPr>
              <a:t>P Points of Analysis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98467" y="548640"/>
            <a:ext cx="9919064" cy="433425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1097280"/>
            <a:ext cx="1020209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sr-Latn-RS" sz="1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39" y="1266557"/>
            <a:ext cx="10903131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 smtClean="0">
                <a:solidFill>
                  <a:schemeClr val="bg1"/>
                </a:solidFill>
              </a:rPr>
              <a:t>P </a:t>
            </a:r>
            <a:r>
              <a:rPr lang="sr-Latn-RS" sz="1600" dirty="0">
                <a:solidFill>
                  <a:schemeClr val="bg1"/>
                </a:solidFill>
              </a:rPr>
              <a:t>tačka predstavlja granični procenat Byzantine čvorova od kog postoji rizik da više grupa zajedno sruši konsenzus.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b="1" dirty="0">
                <a:solidFill>
                  <a:schemeClr val="bg1"/>
                </a:solidFill>
              </a:rPr>
              <a:t>Formula</a:t>
            </a:r>
            <a:r>
              <a:rPr lang="sr-Latn-RS" sz="1600" dirty="0">
                <a:solidFill>
                  <a:schemeClr val="bg1"/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r-Latn-RS" sz="1600" dirty="0">
                <a:solidFill>
                  <a:schemeClr val="bg1"/>
                </a:solidFill>
              </a:rPr>
              <a:t>P = minimalan broj Byzantine čvorova potreban za rušenje konsenzusa / ukupan broj čvorova u mreži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>
                <a:solidFill>
                  <a:schemeClr val="bg1"/>
                </a:solidFill>
              </a:rPr>
              <a:t>Drugim rečima, P pokazuje koliki procenat mreže mora biti Byzantine da bi postojao rizik od zajedničkog napada između grupa.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>
                <a:solidFill>
                  <a:schemeClr val="bg1"/>
                </a:solidFill>
              </a:rPr>
              <a:t>Ovaj napad se naziva </a:t>
            </a:r>
            <a:r>
              <a:rPr lang="sr-Latn-RS" sz="1600" b="1" dirty="0">
                <a:solidFill>
                  <a:schemeClr val="bg1"/>
                </a:solidFill>
              </a:rPr>
              <a:t>joint evil between groups</a:t>
            </a:r>
            <a:r>
              <a:rPr lang="sr-Latn-RS" sz="16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>
                <a:solidFill>
                  <a:schemeClr val="bg1"/>
                </a:solidFill>
              </a:rPr>
              <a:t>Jedna grupa se kvari kada ima više Byzantine čvorova nego što može da toleriše.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>
                <a:solidFill>
                  <a:schemeClr val="bg1"/>
                </a:solidFill>
              </a:rPr>
              <a:t>Ako jedna grupa može da toleriše E Byzantine čvorova, onda je za kvarenje jedne grupe potrebno: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r-Latn-RS" sz="1600" dirty="0">
                <a:solidFill>
                  <a:schemeClr val="bg1"/>
                </a:solidFill>
              </a:rPr>
              <a:t>E + 1 Byzantine čvorova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>
                <a:solidFill>
                  <a:schemeClr val="bg1"/>
                </a:solidFill>
              </a:rPr>
              <a:t>Ako je za rušenje mreže potrebno oštetiti Hmax + 1 grupa, onda je minimalan broj Byzantine čvorova potreban za takav napad: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r-Latn-RS" sz="1600" dirty="0">
                <a:solidFill>
                  <a:schemeClr val="bg1"/>
                </a:solidFill>
              </a:rPr>
              <a:t>(E + 1) * (Hmax + 1</a:t>
            </a:r>
            <a:r>
              <a:rPr lang="sr-Latn-RS" sz="1600" dirty="0" smtClean="0">
                <a:solidFill>
                  <a:schemeClr val="bg1"/>
                </a:solidFill>
              </a:rPr>
              <a:t>)</a:t>
            </a:r>
            <a:endParaRPr lang="en-US" sz="16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 smtClean="0">
                <a:solidFill>
                  <a:schemeClr val="bg1"/>
                </a:solidFill>
              </a:rPr>
              <a:t>Zato </a:t>
            </a:r>
            <a:r>
              <a:rPr lang="sr-Latn-RS" sz="1600" dirty="0">
                <a:solidFill>
                  <a:schemeClr val="bg1"/>
                </a:solidFill>
              </a:rPr>
              <a:t>se P računa kao: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>
                <a:solidFill>
                  <a:schemeClr val="bg1"/>
                </a:solidFill>
              </a:rPr>
              <a:t>P = ((E + 1) * (Hmax + 1)) / 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r-Latn-RS" sz="1600" dirty="0" smtClean="0">
                <a:solidFill>
                  <a:schemeClr val="bg1"/>
                </a:solidFill>
              </a:rPr>
              <a:t>n </a:t>
            </a:r>
            <a:r>
              <a:rPr lang="sr-Latn-RS" sz="1600" dirty="0">
                <a:solidFill>
                  <a:schemeClr val="bg1"/>
                </a:solidFill>
              </a:rPr>
              <a:t>— ukupan broj čvorova u mreži</a:t>
            </a:r>
            <a:br>
              <a:rPr lang="sr-Latn-RS" sz="1600" dirty="0">
                <a:solidFill>
                  <a:schemeClr val="bg1"/>
                </a:solidFill>
              </a:rPr>
            </a:br>
            <a:r>
              <a:rPr lang="sr-Latn-RS" sz="1600" dirty="0">
                <a:solidFill>
                  <a:schemeClr val="bg1"/>
                </a:solidFill>
              </a:rPr>
              <a:t>E — broj Byzantine čvorova koje jedna grupa može da toleriše</a:t>
            </a:r>
            <a:br>
              <a:rPr lang="sr-Latn-RS" sz="1600" dirty="0">
                <a:solidFill>
                  <a:schemeClr val="bg1"/>
                </a:solidFill>
              </a:rPr>
            </a:br>
            <a:r>
              <a:rPr lang="sr-Latn-RS" sz="1600" dirty="0">
                <a:solidFill>
                  <a:schemeClr val="bg1"/>
                </a:solidFill>
              </a:rPr>
              <a:t>Hmax — najveći broj oštećenih grupa koje mreža još može da izdrži</a:t>
            </a:r>
            <a:br>
              <a:rPr lang="sr-Latn-RS" sz="1600" dirty="0">
                <a:solidFill>
                  <a:schemeClr val="bg1"/>
                </a:solidFill>
              </a:rPr>
            </a:br>
            <a:r>
              <a:rPr lang="sr-Latn-RS" sz="1600" dirty="0">
                <a:solidFill>
                  <a:schemeClr val="bg1"/>
                </a:solidFill>
              </a:rPr>
              <a:t>Hmax + 1 — najmanji broj oštećenih grupa koji može da sruši konsenzus</a:t>
            </a:r>
          </a:p>
          <a:p>
            <a:pPr lvl="2"/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8803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IZBOR ČVOROVA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sr-Latn-RS" sz="3200" dirty="0">
                <a:solidFill>
                  <a:schemeClr val="bg1"/>
                </a:solidFill>
              </a:rPr>
              <a:t>P Points of Analysis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98467" y="548640"/>
            <a:ext cx="9919064" cy="433425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1097280"/>
            <a:ext cx="1020209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sr-Latn-RS" sz="1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39" y="1266557"/>
            <a:ext cx="10903131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400" dirty="0">
                <a:solidFill>
                  <a:schemeClr val="bg1"/>
                </a:solidFill>
              </a:rPr>
              <a:t>Formula proverava sledeće pitanje: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400" dirty="0">
                <a:solidFill>
                  <a:schemeClr val="bg1"/>
                </a:solidFill>
              </a:rPr>
              <a:t>Ako je oštećeno H grupa, da li mreža i dalje može da skupi dovoljno glasova za konsenzus?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400" dirty="0">
                <a:solidFill>
                  <a:schemeClr val="bg1"/>
                </a:solidFill>
              </a:rPr>
              <a:t>Formula, lakše zapisana: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r-Latn-RS" sz="1400" dirty="0">
                <a:solidFill>
                  <a:schemeClr val="bg1"/>
                </a:solidFill>
              </a:rPr>
              <a:t>m * (R - H) + (m - 1 - E) * H &gt;= (R - w) * 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r-Latn-RS" sz="1400" dirty="0" smtClean="0">
                <a:solidFill>
                  <a:schemeClr val="bg1"/>
                </a:solidFill>
              </a:rPr>
              <a:t>m </a:t>
            </a:r>
            <a:r>
              <a:rPr lang="sr-Latn-RS" sz="1400" dirty="0">
                <a:solidFill>
                  <a:schemeClr val="bg1"/>
                </a:solidFill>
              </a:rPr>
              <a:t>— broj čvorova u jednoj grupi</a:t>
            </a:r>
            <a:br>
              <a:rPr lang="sr-Latn-RS" sz="1400" dirty="0">
                <a:solidFill>
                  <a:schemeClr val="bg1"/>
                </a:solidFill>
              </a:rPr>
            </a:br>
            <a:r>
              <a:rPr lang="sr-Latn-RS" sz="1400" dirty="0">
                <a:solidFill>
                  <a:schemeClr val="bg1"/>
                </a:solidFill>
              </a:rPr>
              <a:t>R — ukupan broj grupa</a:t>
            </a:r>
            <a:br>
              <a:rPr lang="sr-Latn-RS" sz="1400" dirty="0">
                <a:solidFill>
                  <a:schemeClr val="bg1"/>
                </a:solidFill>
              </a:rPr>
            </a:br>
            <a:r>
              <a:rPr lang="sr-Latn-RS" sz="1400" dirty="0">
                <a:solidFill>
                  <a:schemeClr val="bg1"/>
                </a:solidFill>
              </a:rPr>
              <a:t>H — broj oštećenih grupa</a:t>
            </a:r>
            <a:br>
              <a:rPr lang="sr-Latn-RS" sz="1400" dirty="0">
                <a:solidFill>
                  <a:schemeClr val="bg1"/>
                </a:solidFill>
              </a:rPr>
            </a:br>
            <a:r>
              <a:rPr lang="sr-Latn-RS" sz="1400" dirty="0">
                <a:solidFill>
                  <a:schemeClr val="bg1"/>
                </a:solidFill>
              </a:rPr>
              <a:t>E — broj Byzantine čvorova koje jedna grupa može da toleriše</a:t>
            </a:r>
            <a:br>
              <a:rPr lang="sr-Latn-RS" sz="1400" dirty="0">
                <a:solidFill>
                  <a:schemeClr val="bg1"/>
                </a:solidFill>
              </a:rPr>
            </a:br>
            <a:r>
              <a:rPr lang="sr-Latn-RS" sz="1400" dirty="0">
                <a:solidFill>
                  <a:schemeClr val="bg1"/>
                </a:solidFill>
              </a:rPr>
              <a:t>w — broj grupa koje mreža može da toleriše kao abnormalne</a:t>
            </a:r>
            <a:br>
              <a:rPr lang="sr-Latn-RS" sz="1400" dirty="0">
                <a:solidFill>
                  <a:schemeClr val="bg1"/>
                </a:solidFill>
              </a:rPr>
            </a:br>
            <a:r>
              <a:rPr lang="sr-Latn-RS" sz="1400" dirty="0">
                <a:solidFill>
                  <a:schemeClr val="bg1"/>
                </a:solidFill>
              </a:rPr>
              <a:t>(R - w) * m — prag glasova potreban za konsenzus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400" dirty="0">
                <a:solidFill>
                  <a:schemeClr val="bg1"/>
                </a:solidFill>
              </a:rPr>
              <a:t>Prvi deo formule: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r-Latn-RS" sz="1400" dirty="0">
                <a:solidFill>
                  <a:schemeClr val="bg1"/>
                </a:solidFill>
              </a:rPr>
              <a:t>m * (R - 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chemeClr val="bg1"/>
                </a:solidFill>
              </a:rPr>
              <a:t>P</a:t>
            </a:r>
            <a:r>
              <a:rPr lang="sr-Latn-RS" sz="1400" dirty="0" smtClean="0">
                <a:solidFill>
                  <a:schemeClr val="bg1"/>
                </a:solidFill>
              </a:rPr>
              <a:t>redstavlja </a:t>
            </a:r>
            <a:r>
              <a:rPr lang="sr-Latn-RS" sz="1400" dirty="0">
                <a:solidFill>
                  <a:schemeClr val="bg1"/>
                </a:solidFill>
              </a:rPr>
              <a:t>glasove iz grupa koje nisu oštećene.</a:t>
            </a:r>
            <a:br>
              <a:rPr lang="sr-Latn-RS" sz="1400" dirty="0">
                <a:solidFill>
                  <a:schemeClr val="bg1"/>
                </a:solidFill>
              </a:rPr>
            </a:br>
            <a:r>
              <a:rPr lang="sr-Latn-RS" sz="1400" dirty="0">
                <a:solidFill>
                  <a:schemeClr val="bg1"/>
                </a:solidFill>
              </a:rPr>
              <a:t>Ako grupa nije oštećena, ona se računa kao cela grupa, odnosno daje m glasova.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400" dirty="0">
                <a:solidFill>
                  <a:schemeClr val="bg1"/>
                </a:solidFill>
              </a:rPr>
              <a:t>Drugi deo formule</a:t>
            </a:r>
            <a:r>
              <a:rPr lang="sr-Latn-RS" sz="1400" dirty="0" smtClean="0">
                <a:solidFill>
                  <a:schemeClr val="bg1"/>
                </a:solidFill>
              </a:rPr>
              <a:t>: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r-Latn-RS" sz="1400" dirty="0" smtClean="0">
                <a:solidFill>
                  <a:schemeClr val="bg1"/>
                </a:solidFill>
              </a:rPr>
              <a:t>(</a:t>
            </a:r>
            <a:r>
              <a:rPr lang="sr-Latn-RS" sz="1400" dirty="0">
                <a:solidFill>
                  <a:schemeClr val="bg1"/>
                </a:solidFill>
              </a:rPr>
              <a:t>m - 1 - E) * 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chemeClr val="bg1"/>
                </a:solidFill>
              </a:rPr>
              <a:t>P</a:t>
            </a:r>
            <a:r>
              <a:rPr lang="sr-Latn-RS" sz="1400" dirty="0" smtClean="0">
                <a:solidFill>
                  <a:schemeClr val="bg1"/>
                </a:solidFill>
              </a:rPr>
              <a:t>redstavlja </a:t>
            </a:r>
            <a:r>
              <a:rPr lang="sr-Latn-RS" sz="1400" dirty="0">
                <a:solidFill>
                  <a:schemeClr val="bg1"/>
                </a:solidFill>
              </a:rPr>
              <a:t>glasove ispravnih običnih čvorova koji ostaju u oštećenim grupama.</a:t>
            </a:r>
            <a:br>
              <a:rPr lang="sr-Latn-RS" sz="1400" dirty="0">
                <a:solidFill>
                  <a:schemeClr val="bg1"/>
                </a:solidFill>
              </a:rPr>
            </a:br>
            <a:r>
              <a:rPr lang="sr-Latn-RS" sz="1400" dirty="0">
                <a:solidFill>
                  <a:schemeClr val="bg1"/>
                </a:solidFill>
              </a:rPr>
              <a:t>Oštećena grupa se više ne računa kao cela grupa, ali pojedinačni ispravni čvorovi iz nje i dalje mogu dati validne glasove.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400" dirty="0">
                <a:solidFill>
                  <a:schemeClr val="bg1"/>
                </a:solidFill>
              </a:rPr>
              <a:t>Desna strana formule: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r-Latn-RS" sz="1400" dirty="0">
                <a:solidFill>
                  <a:schemeClr val="bg1"/>
                </a:solidFill>
              </a:rPr>
              <a:t>(R - w) * 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chemeClr val="bg1"/>
                </a:solidFill>
              </a:rPr>
              <a:t>P</a:t>
            </a:r>
            <a:r>
              <a:rPr lang="sr-Latn-RS" sz="1400" dirty="0" smtClean="0">
                <a:solidFill>
                  <a:schemeClr val="bg1"/>
                </a:solidFill>
              </a:rPr>
              <a:t>redstavlja </a:t>
            </a:r>
            <a:r>
              <a:rPr lang="sr-Latn-RS" sz="1400" dirty="0">
                <a:solidFill>
                  <a:schemeClr val="bg1"/>
                </a:solidFill>
              </a:rPr>
              <a:t>prag glasova koji mreža mora da dostigne da bi konsenzus bio moguć.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400" dirty="0">
                <a:solidFill>
                  <a:schemeClr val="bg1"/>
                </a:solidFill>
              </a:rPr>
              <a:t>Ako leva strana formule ostaje veća ili jednaka desnoj strani, mreža još može da postigne konsenzus.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400" dirty="0">
                <a:solidFill>
                  <a:schemeClr val="bg1"/>
                </a:solidFill>
              </a:rPr>
              <a:t>Ako leva strana padne ispod tog praga, konsenzus propada.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r-Latn-R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277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IZBOR ČVOROVA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sr-Latn-RS" sz="3200" dirty="0">
                <a:solidFill>
                  <a:schemeClr val="bg1"/>
                </a:solidFill>
              </a:rPr>
              <a:t>P Points of Analysis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98467" y="548640"/>
            <a:ext cx="9919064" cy="433425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1097280"/>
            <a:ext cx="1020209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sr-Latn-RS" sz="1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70" y="1420445"/>
            <a:ext cx="6601746" cy="48584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06816" y="1402158"/>
            <a:ext cx="451071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>
                <a:solidFill>
                  <a:schemeClr val="bg1"/>
                </a:solidFill>
              </a:rPr>
              <a:t>Graf prikazuje P vrednost za različite veličine grupa: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>
                <a:solidFill>
                  <a:schemeClr val="bg1"/>
                </a:solidFill>
              </a:rPr>
              <a:t>m = 4</a:t>
            </a:r>
            <a:br>
              <a:rPr lang="sr-Latn-RS" dirty="0">
                <a:solidFill>
                  <a:schemeClr val="bg1"/>
                </a:solidFill>
              </a:rPr>
            </a:br>
            <a:r>
              <a:rPr lang="sr-Latn-RS" dirty="0">
                <a:solidFill>
                  <a:schemeClr val="bg1"/>
                </a:solidFill>
              </a:rPr>
              <a:t>m = 7</a:t>
            </a:r>
            <a:br>
              <a:rPr lang="sr-Latn-RS" dirty="0">
                <a:solidFill>
                  <a:schemeClr val="bg1"/>
                </a:solidFill>
              </a:rPr>
            </a:br>
            <a:r>
              <a:rPr lang="sr-Latn-RS" dirty="0">
                <a:solidFill>
                  <a:schemeClr val="bg1"/>
                </a:solidFill>
              </a:rPr>
              <a:t>m = 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>
                <a:solidFill>
                  <a:schemeClr val="bg1"/>
                </a:solidFill>
              </a:rPr>
              <a:t>Za male mreže postoje oscilacije, jer podela čvorova u grupe dosta utiče na rezultat.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>
                <a:solidFill>
                  <a:schemeClr val="bg1"/>
                </a:solidFill>
              </a:rPr>
              <a:t>Kako broj čvorova raste, P vrednost se približava vrednosti: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>
                <a:solidFill>
                  <a:schemeClr val="bg1"/>
                </a:solidFill>
              </a:rPr>
              <a:t>P ≈ 1/3</a:t>
            </a:r>
          </a:p>
        </p:txBody>
      </p:sp>
    </p:spTree>
    <p:extLst>
      <p:ext uri="{BB962C8B-B14F-4D97-AF65-F5344CB8AC3E}">
        <p14:creationId xmlns:p14="http://schemas.microsoft.com/office/powerpoint/2010/main" val="339639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IZBOR ČVOROVA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sr-Latn-RS" sz="3200" dirty="0">
                <a:solidFill>
                  <a:schemeClr val="bg1"/>
                </a:solidFill>
              </a:rPr>
              <a:t>NBFT Simulation Consensus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Rectangle 8"/>
          <p:cNvSpPr/>
          <p:nvPr/>
        </p:nvSpPr>
        <p:spPr>
          <a:xfrm>
            <a:off x="640080" y="1097280"/>
            <a:ext cx="1020209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sr-Latn-RS" sz="1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0780" y="1073331"/>
            <a:ext cx="1116966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sr-Latn-RS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Cilj simulacije je da proveri gornju granicu tolerancije grešaka NBFT algoritma.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Koristi se </a:t>
            </a:r>
            <a:r>
              <a:rPr lang="sr-Latn-RS" sz="1600" b="1" dirty="0">
                <a:solidFill>
                  <a:schemeClr val="bg1"/>
                </a:solidFill>
                <a:latin typeface="Arial" panose="020B0604020202020204" pitchFamily="34" charset="0"/>
              </a:rPr>
              <a:t>FND model</a:t>
            </a: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 i prethodne analize: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verovatnoća da su svi predstavnici Byzantine je skoro 0,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joint evil između grupa je malo verovatan kada je Byzantine čvorova manje od 1/3.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Eksperimenti su rađeni za veličine mreže: </a:t>
            </a:r>
            <a:r>
              <a:rPr lang="sr-Latn-RS" sz="1600" dirty="0">
                <a:solidFill>
                  <a:schemeClr val="bg1"/>
                </a:solidFill>
                <a:latin typeface="Arial Unicode MS" panose="020B0604020202020204" pitchFamily="34" charset="-128"/>
              </a:rPr>
              <a:t>n = 101</a:t>
            </a:r>
            <a:r>
              <a:rPr lang="sr-Latn-RS" sz="1600" dirty="0">
                <a:solidFill>
                  <a:schemeClr val="bg1"/>
                </a:solidFill>
              </a:rPr>
              <a:t>, </a:t>
            </a:r>
            <a:r>
              <a:rPr lang="sr-Latn-RS" sz="1600" dirty="0">
                <a:solidFill>
                  <a:schemeClr val="bg1"/>
                </a:solidFill>
                <a:latin typeface="Arial Unicode MS" panose="020B0604020202020204" pitchFamily="34" charset="-128"/>
              </a:rPr>
              <a:t>201</a:t>
            </a:r>
            <a:r>
              <a:rPr lang="sr-Latn-RS" sz="1600" dirty="0">
                <a:solidFill>
                  <a:schemeClr val="bg1"/>
                </a:solidFill>
              </a:rPr>
              <a:t>, </a:t>
            </a:r>
            <a:r>
              <a:rPr lang="sr-Latn-RS" sz="1600" dirty="0">
                <a:solidFill>
                  <a:schemeClr val="bg1"/>
                </a:solidFill>
                <a:latin typeface="Arial Unicode MS" panose="020B0604020202020204" pitchFamily="34" charset="-128"/>
              </a:rPr>
              <a:t>301</a:t>
            </a:r>
            <a:r>
              <a:rPr lang="sr-Latn-RS" sz="1600" dirty="0">
                <a:solidFill>
                  <a:schemeClr val="bg1"/>
                </a:solidFill>
              </a:rPr>
              <a:t>.</a:t>
            </a:r>
            <a:endParaRPr lang="sr-Latn-RS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Posmatrane su veličine grupa: </a:t>
            </a:r>
            <a:r>
              <a:rPr lang="sr-Latn-RS" sz="1600" dirty="0">
                <a:solidFill>
                  <a:schemeClr val="bg1"/>
                </a:solidFill>
                <a:latin typeface="Arial Unicode MS" panose="020B0604020202020204" pitchFamily="34" charset="-128"/>
              </a:rPr>
              <a:t>m = 4</a:t>
            </a:r>
            <a:r>
              <a:rPr lang="sr-Latn-RS" sz="1600" dirty="0">
                <a:solidFill>
                  <a:schemeClr val="bg1"/>
                </a:solidFill>
              </a:rPr>
              <a:t> i </a:t>
            </a:r>
            <a:r>
              <a:rPr lang="sr-Latn-RS" sz="1600" dirty="0">
                <a:solidFill>
                  <a:schemeClr val="bg1"/>
                </a:solidFill>
                <a:latin typeface="Arial Unicode MS" panose="020B0604020202020204" pitchFamily="34" charset="-128"/>
              </a:rPr>
              <a:t>m = 7</a:t>
            </a:r>
            <a:r>
              <a:rPr lang="sr-Latn-RS" sz="1600" dirty="0">
                <a:solidFill>
                  <a:schemeClr val="bg1"/>
                </a:solidFill>
              </a:rPr>
              <a:t>.</a:t>
            </a:r>
            <a:endParaRPr lang="sr-Latn-RS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Za svaki broj Byzantine čvorova urađeno je </a:t>
            </a:r>
            <a:r>
              <a:rPr lang="sr-Latn-RS" sz="1600" dirty="0">
                <a:solidFill>
                  <a:schemeClr val="bg1"/>
                </a:solidFill>
                <a:latin typeface="Arial Unicode MS" panose="020B0604020202020204" pitchFamily="34" charset="-128"/>
              </a:rPr>
              <a:t>200</a:t>
            </a:r>
            <a:r>
              <a:rPr lang="sr-Latn-RS" sz="1600" dirty="0">
                <a:solidFill>
                  <a:schemeClr val="bg1"/>
                </a:solidFill>
              </a:rPr>
              <a:t> simulacija.</a:t>
            </a:r>
            <a:endParaRPr lang="sr-Latn-RS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Success rate pokazuje koliko puta je konsenzus uspešno postignut.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sr-Latn-RS" sz="1600" b="1" dirty="0">
                <a:solidFill>
                  <a:schemeClr val="bg1"/>
                </a:solidFill>
                <a:latin typeface="Arial" panose="020B0604020202020204" pitchFamily="34" charset="0"/>
              </a:rPr>
              <a:t>Rezultati:</a:t>
            </a:r>
            <a:endParaRPr lang="sr-Latn-RS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Konsenzus ostaje uspešan dok je broj Byzantine čvorova manji od </a:t>
            </a:r>
            <a:r>
              <a:rPr lang="sr-Latn-RS" sz="1600" dirty="0">
                <a:solidFill>
                  <a:schemeClr val="bg1"/>
                </a:solidFill>
                <a:latin typeface="Arial Unicode MS" panose="020B0604020202020204" pitchFamily="34" charset="-128"/>
              </a:rPr>
              <a:t>1/3</a:t>
            </a:r>
            <a:r>
              <a:rPr lang="sr-Latn-RS" sz="1600" dirty="0">
                <a:solidFill>
                  <a:schemeClr val="bg1"/>
                </a:solidFill>
              </a:rPr>
              <a:t>.</a:t>
            </a:r>
            <a:endParaRPr lang="sr-Latn-RS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Pad uspešnosti počinje tek kada broj Byzantine čvorova pređe </a:t>
            </a:r>
            <a:r>
              <a:rPr lang="sr-Latn-RS" sz="1600" dirty="0">
                <a:solidFill>
                  <a:schemeClr val="bg1"/>
                </a:solidFill>
                <a:latin typeface="Arial Unicode MS" panose="020B0604020202020204" pitchFamily="34" charset="-128"/>
              </a:rPr>
              <a:t>1/3</a:t>
            </a:r>
            <a:r>
              <a:rPr lang="sr-Latn-RS" sz="1600" dirty="0">
                <a:solidFill>
                  <a:schemeClr val="bg1"/>
                </a:solidFill>
              </a:rPr>
              <a:t> mreže.</a:t>
            </a:r>
            <a:endParaRPr lang="sr-Latn-RS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Kako mreža raste, razlika između tačke pada i granice </a:t>
            </a:r>
            <a:r>
              <a:rPr lang="sr-Latn-RS" sz="1600" dirty="0">
                <a:solidFill>
                  <a:schemeClr val="bg1"/>
                </a:solidFill>
                <a:latin typeface="Arial Unicode MS" panose="020B0604020202020204" pitchFamily="34" charset="-128"/>
              </a:rPr>
              <a:t>1/3</a:t>
            </a:r>
            <a:r>
              <a:rPr lang="sr-Latn-RS" sz="1600" dirty="0">
                <a:solidFill>
                  <a:schemeClr val="bg1"/>
                </a:solidFill>
              </a:rPr>
              <a:t> postaje veća.</a:t>
            </a:r>
            <a:endParaRPr lang="sr-Latn-RS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sz="1600" dirty="0">
                <a:solidFill>
                  <a:schemeClr val="bg1"/>
                </a:solidFill>
                <a:latin typeface="Arial" panose="020B0604020202020204" pitchFamily="34" charset="0"/>
              </a:rPr>
              <a:t>Consistent hash otežava Byzantine čvorovima da unapred znaju svoju ulogu i da organizuju zajednički napad.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sr-Latn-RS" sz="1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3510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IZBOR ČVOROVA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sr-Latn-RS" sz="3200" dirty="0">
                <a:solidFill>
                  <a:schemeClr val="bg1"/>
                </a:solidFill>
              </a:rPr>
              <a:t>NBFT Simulation Consensus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Rectangle 8"/>
          <p:cNvSpPr/>
          <p:nvPr/>
        </p:nvSpPr>
        <p:spPr>
          <a:xfrm>
            <a:off x="640080" y="1097280"/>
            <a:ext cx="1020209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sr-Latn-RS" sz="1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0780" y="1073331"/>
            <a:ext cx="111696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sr-Latn-RS" sz="1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87215"/>
            <a:ext cx="5611804" cy="403776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373904" y="1194381"/>
            <a:ext cx="535654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sr-Latn-R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Graf prikazuje promenu uspešnosti konsenzusa u zavisnosti od broja Byzantine čvorova.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Testirane su mreže sa n = 101, n = 201 i n = 301 čvorova.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Za svaki broj Byzantine čvorova izvršeno je 200 simulacija.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Konsenzus je stabilan dok je broj Byzantine čvorova manji od 1/3 mreže.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Tačke 33, 66 i 100 označavaju granicu od približno 1/3 za svaku mrežu.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</a:rPr>
              <a:t>Pad uspešnosti nastaje tek nakon prelaska granice 1/3. </a:t>
            </a:r>
          </a:p>
        </p:txBody>
      </p:sp>
    </p:spTree>
    <p:extLst>
      <p:ext uri="{BB962C8B-B14F-4D97-AF65-F5344CB8AC3E}">
        <p14:creationId xmlns:p14="http://schemas.microsoft.com/office/powerpoint/2010/main" val="39810456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IZBOR ČVOROVA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sr-Latn-RS" sz="3200" dirty="0">
                <a:solidFill>
                  <a:schemeClr val="bg1"/>
                </a:solidFill>
              </a:rPr>
              <a:t>NBFT komunikaciona složenost i poređenje sa PBFT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Rectangle 8"/>
          <p:cNvSpPr/>
          <p:nvPr/>
        </p:nvSpPr>
        <p:spPr>
          <a:xfrm>
            <a:off x="640080" y="1097280"/>
            <a:ext cx="1020209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sr-Latn-RS" sz="1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0780" y="1073331"/>
            <a:ext cx="111696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sr-Latn-RS" sz="1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5394" y="1302961"/>
            <a:ext cx="100496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sr-Latn-RS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8309" y="1124712"/>
            <a:ext cx="10903131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000" dirty="0">
                <a:solidFill>
                  <a:schemeClr val="bg1"/>
                </a:solidFill>
              </a:rPr>
              <a:t>NBFT smanjuje broj poruka tako što mrežu deli na grupe, pa ne komuniciraju svi čvorovi sa svima kao kod PBFT-a</a:t>
            </a:r>
            <a:r>
              <a:rPr lang="sr-Latn-RS" sz="1000" dirty="0" smtClean="0">
                <a:solidFill>
                  <a:schemeClr val="bg1"/>
                </a:solidFill>
              </a:rPr>
              <a:t>.</a:t>
            </a:r>
            <a:endParaRPr lang="en-US" sz="1000" dirty="0" smtClean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chemeClr val="bg1"/>
                </a:solidFill>
              </a:rPr>
              <a:t>C = 2(n − 1) + 2(m − 1) · [(n − 1) / m] + [(n − 1) / </a:t>
            </a:r>
            <a:r>
              <a:rPr lang="pt-BR" sz="1000" dirty="0" smtClean="0">
                <a:solidFill>
                  <a:schemeClr val="bg1"/>
                </a:solidFill>
              </a:rPr>
              <a:t>m]²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r-Latn-RS" sz="1000" dirty="0">
                <a:solidFill>
                  <a:schemeClr val="bg1"/>
                </a:solidFill>
              </a:rPr>
              <a:t>C — ukupna komunikaciona potrošnja, odnosno ukupan broj poruka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r-Latn-RS" sz="1000" dirty="0">
                <a:solidFill>
                  <a:schemeClr val="bg1"/>
                </a:solidFill>
              </a:rPr>
              <a:t>n — ukupan broj čvorova u mreži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r-Latn-RS" sz="1000" dirty="0">
                <a:solidFill>
                  <a:schemeClr val="bg1"/>
                </a:solidFill>
              </a:rPr>
              <a:t>m — broj čvorova u jednoj grupi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r-Latn-RS" sz="1000" dirty="0">
                <a:solidFill>
                  <a:schemeClr val="bg1"/>
                </a:solidFill>
              </a:rPr>
              <a:t>[(n − 1) / m] — broj grupa u </a:t>
            </a:r>
            <a:r>
              <a:rPr lang="sr-Latn-RS" sz="1000" dirty="0" smtClean="0">
                <a:solidFill>
                  <a:schemeClr val="bg1"/>
                </a:solidFill>
              </a:rPr>
              <a:t>mreži</a:t>
            </a:r>
            <a:endParaRPr lang="en-US" sz="1000" dirty="0" smtClean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r-Latn-RS" sz="1000" b="1" dirty="0" smtClean="0">
                <a:solidFill>
                  <a:schemeClr val="bg1"/>
                </a:solidFill>
              </a:rPr>
              <a:t>Prvi </a:t>
            </a:r>
            <a:r>
              <a:rPr lang="sr-Latn-RS" sz="1000" b="1" dirty="0">
                <a:solidFill>
                  <a:schemeClr val="bg1"/>
                </a:solidFill>
              </a:rPr>
              <a:t>deo formule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sr-Latn-RS" sz="1000" dirty="0">
                <a:solidFill>
                  <a:schemeClr val="bg1"/>
                </a:solidFill>
              </a:rPr>
              <a:t>2(n − 1)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r-Latn-RS" sz="1000" dirty="0" smtClean="0">
                <a:solidFill>
                  <a:schemeClr val="bg1"/>
                </a:solidFill>
              </a:rPr>
              <a:t>Ovaj </a:t>
            </a:r>
            <a:r>
              <a:rPr lang="sr-Latn-RS" sz="1000" dirty="0">
                <a:solidFill>
                  <a:schemeClr val="bg1"/>
                </a:solidFill>
              </a:rPr>
              <a:t>deo predstavlja komunikaciju glavnog primary čvora sa ostalim čvorovima u mreži.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r-Latn-RS" sz="1000" dirty="0">
                <a:solidFill>
                  <a:schemeClr val="bg1"/>
                </a:solidFill>
              </a:rPr>
              <a:t>Pošto postoji jedan primary čvor, on komunicira sa ostalih: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sr-Latn-RS" sz="1000" dirty="0">
                <a:solidFill>
                  <a:schemeClr val="bg1"/>
                </a:solidFill>
              </a:rPr>
              <a:t>n − 1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r-Latn-RS" sz="1000" dirty="0">
                <a:solidFill>
                  <a:schemeClr val="bg1"/>
                </a:solidFill>
              </a:rPr>
              <a:t>čvorova.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r-Latn-RS" sz="1000" dirty="0">
                <a:solidFill>
                  <a:schemeClr val="bg1"/>
                </a:solidFill>
              </a:rPr>
              <a:t>Pošto se ova komunikacija računa kroz dve faze, dobija se: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sr-Latn-RS" sz="1000" dirty="0">
                <a:solidFill>
                  <a:schemeClr val="bg1"/>
                </a:solidFill>
              </a:rPr>
              <a:t>2(n − 1)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r-Latn-RS" sz="1000" b="1" dirty="0">
                <a:solidFill>
                  <a:schemeClr val="bg1"/>
                </a:solidFill>
              </a:rPr>
              <a:t>Drugi deo formule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sr-Latn-RS" sz="1000" dirty="0">
                <a:solidFill>
                  <a:schemeClr val="bg1"/>
                </a:solidFill>
              </a:rPr>
              <a:t>2(m − 1) · [(n − 1) / m]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r-Latn-RS" sz="1000" dirty="0" smtClean="0">
                <a:solidFill>
                  <a:schemeClr val="bg1"/>
                </a:solidFill>
              </a:rPr>
              <a:t>Ovaj </a:t>
            </a:r>
            <a:r>
              <a:rPr lang="sr-Latn-RS" sz="1000" dirty="0">
                <a:solidFill>
                  <a:schemeClr val="bg1"/>
                </a:solidFill>
              </a:rPr>
              <a:t>deo predstavlja komunikaciju unutar grupa.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r-Latn-RS" sz="1000" dirty="0">
                <a:solidFill>
                  <a:schemeClr val="bg1"/>
                </a:solidFill>
              </a:rPr>
              <a:t>U jednoj grupi ima m čvorova.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r-Latn-RS" sz="1000" dirty="0">
                <a:solidFill>
                  <a:schemeClr val="bg1"/>
                </a:solidFill>
              </a:rPr>
              <a:t>Representative primary čvor komunicira sa ostalih: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sr-Latn-RS" sz="1000" dirty="0">
                <a:solidFill>
                  <a:schemeClr val="bg1"/>
                </a:solidFill>
              </a:rPr>
              <a:t>m − 1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r-Latn-RS" sz="1000" dirty="0">
                <a:solidFill>
                  <a:schemeClr val="bg1"/>
                </a:solidFill>
              </a:rPr>
              <a:t>čvorova u svojoj grupi.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r-Latn-RS" sz="1000" dirty="0">
                <a:solidFill>
                  <a:schemeClr val="bg1"/>
                </a:solidFill>
              </a:rPr>
              <a:t>Pošto se komunikacija unutar grupe računa kroz dve faze: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sr-Latn-RS" sz="1000" dirty="0">
                <a:solidFill>
                  <a:schemeClr val="bg1"/>
                </a:solidFill>
              </a:rPr>
              <a:t>2(m − 1)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r-Latn-RS" sz="1000" dirty="0">
                <a:solidFill>
                  <a:schemeClr val="bg1"/>
                </a:solidFill>
              </a:rPr>
              <a:t>A pošto postoji više grupa, množimo sa brojem grupa: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sr-Latn-RS" sz="1000" dirty="0">
                <a:solidFill>
                  <a:schemeClr val="bg1"/>
                </a:solidFill>
              </a:rPr>
              <a:t>[(n − 1) / m]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r-Latn-RS" sz="1000" dirty="0">
                <a:solidFill>
                  <a:schemeClr val="bg1"/>
                </a:solidFill>
              </a:rPr>
              <a:t>Zato dobijamo: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sr-Latn-RS" sz="1000" dirty="0">
                <a:solidFill>
                  <a:schemeClr val="bg1"/>
                </a:solidFill>
              </a:rPr>
              <a:t>2(m − 1) · [(n − 1) / m]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r-Latn-RS" sz="1000" b="1" dirty="0">
                <a:solidFill>
                  <a:schemeClr val="bg1"/>
                </a:solidFill>
              </a:rPr>
              <a:t>Treći deo formule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sr-Latn-RS" sz="1000" dirty="0">
                <a:solidFill>
                  <a:schemeClr val="bg1"/>
                </a:solidFill>
              </a:rPr>
              <a:t>[(n − 1) / </a:t>
            </a:r>
            <a:r>
              <a:rPr lang="sr-Latn-RS" sz="1000" dirty="0" smtClean="0">
                <a:solidFill>
                  <a:schemeClr val="bg1"/>
                </a:solidFill>
              </a:rPr>
              <a:t>m]²</a:t>
            </a:r>
            <a:endParaRPr lang="sr-Latn-RS" sz="10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r-Latn-RS" sz="1000" dirty="0">
                <a:solidFill>
                  <a:schemeClr val="bg1"/>
                </a:solidFill>
              </a:rPr>
              <a:t>Ovaj deo predstavlja komunikaciju između representative primary čvorova u out-prepare fazi.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r-Latn-RS" sz="1000" dirty="0">
                <a:solidFill>
                  <a:schemeClr val="bg1"/>
                </a:solidFill>
              </a:rPr>
              <a:t>Pošto je broj grupa: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sr-Latn-RS" sz="1000" dirty="0">
                <a:solidFill>
                  <a:schemeClr val="bg1"/>
                </a:solidFill>
              </a:rPr>
              <a:t>[(n − 1) / m]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r-Latn-RS" sz="1000" dirty="0">
                <a:solidFill>
                  <a:schemeClr val="bg1"/>
                </a:solidFill>
              </a:rPr>
              <a:t>onda približno toliko ima i representative primary čvorova.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r-Latn-RS" sz="1000" dirty="0">
                <a:solidFill>
                  <a:schemeClr val="bg1"/>
                </a:solidFill>
              </a:rPr>
              <a:t>Ako predstavnici grupa međusobno komuniciraju, komunikacija ima kvadratni oblik: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sr-Latn-RS" sz="1000" dirty="0">
                <a:solidFill>
                  <a:schemeClr val="bg1"/>
                </a:solidFill>
              </a:rPr>
              <a:t>[(n − 1) / m]²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sr-Latn-RS" sz="10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sr-Latn-R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4446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IZBOR ČVOROVA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sr-Latn-RS" sz="3200" dirty="0">
                <a:solidFill>
                  <a:schemeClr val="bg1"/>
                </a:solidFill>
              </a:rPr>
              <a:t>NBFT komunikaciona složenost i poređenje sa PBFT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Rectangle 8"/>
          <p:cNvSpPr/>
          <p:nvPr/>
        </p:nvSpPr>
        <p:spPr>
          <a:xfrm>
            <a:off x="640080" y="1097280"/>
            <a:ext cx="1020209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sr-Latn-RS" sz="1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0780" y="1073331"/>
            <a:ext cx="111696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sr-Latn-RS" sz="1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5394" y="1302961"/>
            <a:ext cx="100496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sr-Latn-RS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8309" y="1124712"/>
            <a:ext cx="10903131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>
                <a:solidFill>
                  <a:schemeClr val="bg1"/>
                </a:solidFill>
              </a:rPr>
              <a:t>NBFT komunikaciona složenost: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>
                <a:solidFill>
                  <a:schemeClr val="bg1"/>
                </a:solidFill>
              </a:rPr>
              <a:t>O([(n − 1) / m]²</a:t>
            </a:r>
            <a:r>
              <a:rPr lang="sr-Latn-RS" dirty="0" smtClean="0">
                <a:solidFill>
                  <a:schemeClr val="bg1"/>
                </a:solidFill>
              </a:rPr>
              <a:t>)</a:t>
            </a:r>
            <a:endParaRPr lang="sr-Latn-R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>
                <a:solidFill>
                  <a:schemeClr val="bg1"/>
                </a:solidFill>
              </a:rPr>
              <a:t>Značenje: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>
                <a:solidFill>
                  <a:schemeClr val="bg1"/>
                </a:solidFill>
              </a:rPr>
              <a:t>Složenost NBFT algoritma zavisi od broja grupa, a ne direktno od ukupnog broja svih čvorova.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>
                <a:solidFill>
                  <a:schemeClr val="bg1"/>
                </a:solidFill>
              </a:rPr>
              <a:t>Ako uvedemo oznaku: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r-Latn-RS" dirty="0">
                <a:solidFill>
                  <a:schemeClr val="bg1"/>
                </a:solidFill>
              </a:rPr>
              <a:t>g = [(n − 1) / m]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</a:t>
            </a:r>
            <a:r>
              <a:rPr lang="sr-Latn-RS" dirty="0" smtClean="0">
                <a:solidFill>
                  <a:schemeClr val="bg1"/>
                </a:solidFill>
              </a:rPr>
              <a:t>loženost </a:t>
            </a:r>
            <a:r>
              <a:rPr lang="sr-Latn-RS" dirty="0">
                <a:solidFill>
                  <a:schemeClr val="bg1"/>
                </a:solidFill>
              </a:rPr>
              <a:t>može napisati kao: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r-Latn-RS" dirty="0">
                <a:solidFill>
                  <a:schemeClr val="bg1"/>
                </a:solidFill>
              </a:rPr>
              <a:t>O(g²</a:t>
            </a:r>
            <a:r>
              <a:rPr lang="sr-Latn-RS" dirty="0" smtClean="0">
                <a:solidFill>
                  <a:schemeClr val="bg1"/>
                </a:solidFill>
              </a:rPr>
              <a:t>)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>
                <a:solidFill>
                  <a:schemeClr val="bg1"/>
                </a:solidFill>
              </a:rPr>
              <a:t>PBFT komunikaciona složenost: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>
                <a:solidFill>
                  <a:schemeClr val="bg1"/>
                </a:solidFill>
              </a:rPr>
              <a:t>O(n²)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 smtClean="0">
                <a:solidFill>
                  <a:schemeClr val="bg1"/>
                </a:solidFill>
              </a:rPr>
              <a:t>Pošto </a:t>
            </a:r>
            <a:r>
              <a:rPr lang="sr-Latn-RS" dirty="0">
                <a:solidFill>
                  <a:schemeClr val="bg1"/>
                </a:solidFill>
              </a:rPr>
              <a:t>je broj grupa g manji od ukupnog broja čvorova n, NBFT ima manju komunikacionu potrošnju od PBFT-a.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sr-Latn-RS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sr-Latn-R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8237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IZBOR ČVOROVA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sr-Latn-RS" sz="3200" dirty="0">
                <a:solidFill>
                  <a:schemeClr val="bg1"/>
                </a:solidFill>
              </a:rPr>
              <a:t>NBFT komunikaciona složenost i poređenje sa PBFT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Rectangle 8"/>
          <p:cNvSpPr/>
          <p:nvPr/>
        </p:nvSpPr>
        <p:spPr>
          <a:xfrm>
            <a:off x="640080" y="1097280"/>
            <a:ext cx="1020209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sr-Latn-RS" sz="1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0780" y="1073331"/>
            <a:ext cx="111696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sr-Latn-RS" sz="1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5394" y="1302961"/>
            <a:ext cx="100496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sr-Latn-RS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8309" y="1124712"/>
            <a:ext cx="1090313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sr-Latn-RS" sz="1000" dirty="0">
              <a:solidFill>
                <a:schemeClr val="bg1"/>
              </a:solidFill>
            </a:endParaRPr>
          </a:p>
        </p:txBody>
      </p:sp>
      <p:sp>
        <p:nvSpPr>
          <p:cNvPr id="5" name="AutoShape 2" descr="image(113)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Latn-RS"/>
          </a:p>
        </p:txBody>
      </p:sp>
      <p:sp>
        <p:nvSpPr>
          <p:cNvPr id="10" name="Rectangle 9"/>
          <p:cNvSpPr/>
          <p:nvPr/>
        </p:nvSpPr>
        <p:spPr>
          <a:xfrm>
            <a:off x="5199017" y="1533071"/>
            <a:ext cx="6096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>
                <a:solidFill>
                  <a:schemeClr val="bg1"/>
                </a:solidFill>
              </a:rPr>
              <a:t>Slika prikazuje odnos komunikacione potrošnje NBFT algoritma u odnosu na PBFT algoritam.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b="1" dirty="0">
                <a:solidFill>
                  <a:schemeClr val="bg1"/>
                </a:solidFill>
              </a:rPr>
              <a:t>Odnos komunikacione potrošnje:</a:t>
            </a:r>
            <a:endParaRPr lang="sr-Latn-RS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r-Latn-RS" dirty="0">
                <a:solidFill>
                  <a:schemeClr val="bg1"/>
                </a:solidFill>
              </a:rPr>
              <a:t>NBFT/PBFT = komunikaciona potrošnja NBFT algoritma / komunikaciona potrošnja PBFT algoritma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 smtClean="0">
                <a:solidFill>
                  <a:schemeClr val="bg1"/>
                </a:solidFill>
              </a:rPr>
              <a:t>Posmatra </a:t>
            </a:r>
            <a:r>
              <a:rPr lang="sr-Latn-RS" dirty="0">
                <a:solidFill>
                  <a:schemeClr val="bg1"/>
                </a:solidFill>
              </a:rPr>
              <a:t>se mreža sa različitim brojem čvorova.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>
                <a:solidFill>
                  <a:schemeClr val="bg1"/>
                </a:solidFill>
              </a:rPr>
              <a:t>Testirane su različite veličine grupa: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r-Latn-RS" dirty="0">
                <a:solidFill>
                  <a:schemeClr val="bg1"/>
                </a:solidFill>
              </a:rPr>
              <a:t>m = 4, m = 7, m = 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>
                <a:solidFill>
                  <a:schemeClr val="bg1"/>
                </a:solidFill>
              </a:rPr>
              <a:t>Što je vrednost na y-osi manja, to NBFT troši manje komunikacije u odnosu na PBFT.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>
                <a:solidFill>
                  <a:schemeClr val="bg1"/>
                </a:solidFill>
              </a:rPr>
              <a:t>Za sve vrednosti m, NBFT ima znatno manju komunikacionu potrošnju od PBFT-a.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>
                <a:solidFill>
                  <a:schemeClr val="bg1"/>
                </a:solidFill>
              </a:rPr>
              <a:t>Kada broj čvorova raste, odnos opada i stabilizuje se na malim vrednostima.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>
                <a:solidFill>
                  <a:schemeClr val="bg1"/>
                </a:solidFill>
              </a:rPr>
              <a:t>Najmanju potrošnju ima slučaj m = 10, jer veće grupe znače manji broj grupa i manje komunikacije između predstavnika.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5" y="1667691"/>
            <a:ext cx="4703713" cy="3446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667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21984</TotalTime>
  <Words>3077</Words>
  <Application>Microsoft Office PowerPoint</Application>
  <PresentationFormat>Widescreen</PresentationFormat>
  <Paragraphs>433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 Unicode MS</vt:lpstr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PRUS projekat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NBFT konsenzus — ideja algoritma i implementacija simulatora</dc:title>
  <dc:subject>NBFT konsenzus</dc:subject>
  <dc:creator>Jelena Gajić</dc:creator>
  <cp:lastModifiedBy>Microsoft account</cp:lastModifiedBy>
  <cp:revision>32</cp:revision>
  <dcterms:created xsi:type="dcterms:W3CDTF">2026-06-20T16:23:43Z</dcterms:created>
  <dcterms:modified xsi:type="dcterms:W3CDTF">2026-07-12T16:44:03Z</dcterms:modified>
</cp:coreProperties>
</file>