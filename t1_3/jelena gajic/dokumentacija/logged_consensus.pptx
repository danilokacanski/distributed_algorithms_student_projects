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7" r:id="rId10"/>
    <p:sldId id="268" r:id="rId11"/>
    <p:sldId id="270" r:id="rId12"/>
    <p:sldId id="277" r:id="rId13"/>
    <p:sldId id="273" r:id="rId14"/>
    <p:sldId id="274" r:id="rId15"/>
    <p:sldId id="275" r:id="rId16"/>
    <p:sldId id="276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9328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37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488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Consensus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280160" y="2971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-3196046" y="5969725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 err="1" smtClean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Jelena</a:t>
            </a:r>
            <a:r>
              <a:rPr lang="en-US" sz="1600" dirty="0" smtClean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dirty="0" err="1" smtClean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Gajić</a:t>
            </a:r>
            <a:r>
              <a:rPr lang="en-US" sz="1600" dirty="0" smtClean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 E2 16/2025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</a:t>
            </a: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 — uvod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804672"/>
            <a:ext cx="1101852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371600"/>
            <a:ext cx="1056132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Razmatra se fail-recovery </a:t>
            </a:r>
            <a:r>
              <a:rPr lang="en-US" sz="190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Procesi mogu više puta da padnu i ponovo se oporave.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Proces je </a:t>
            </a:r>
            <a:r>
              <a:rPr lang="en-US" sz="190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ispravan</a:t>
            </a:r>
            <a:r>
              <a:rPr lang="en-US" sz="190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ako</a:t>
            </a:r>
            <a:r>
              <a:rPr lang="en-US" sz="190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nekom trenutku prestane da pada i nastavi da radi </a:t>
            </a:r>
            <a:r>
              <a:rPr lang="en-US" sz="19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zauvek</a:t>
            </a:r>
            <a:r>
              <a:rPr lang="en-US" sz="190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Implementacija se oslanja na Leader-Driven </a:t>
            </a:r>
            <a:r>
              <a:rPr lang="en-US" sz="190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Consensus.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43000" y="5715000"/>
            <a:ext cx="98755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Osnovna</a:t>
            </a: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700" b="1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ideja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23240" y="804672"/>
            <a:ext cx="1101852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55321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ea typeface="Arial" pitchFamily="34" charset="-122"/>
                <a:cs typeface="Arial" pitchFamily="34" charset="-120"/>
              </a:rPr>
              <a:t>• U običnom modelu promenljive u RAM-u mogu nestati nakon crash-a.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ea typeface="Arial" pitchFamily="34" charset="-122"/>
                <a:cs typeface="Arial" pitchFamily="34" charset="-120"/>
              </a:rPr>
              <a:t>• U logged modelu važni izlazi se čuvaju u </a:t>
            </a:r>
            <a:r>
              <a:rPr lang="en-US" sz="1850" dirty="0" err="1" smtClean="0">
                <a:ea typeface="Arial" pitchFamily="34" charset="-122"/>
                <a:cs typeface="Arial" pitchFamily="34" charset="-120"/>
              </a:rPr>
              <a:t>stabilnoj</a:t>
            </a:r>
            <a:r>
              <a:rPr lang="en-US" sz="1850" dirty="0" smtClean="0">
                <a:ea typeface="Arial" pitchFamily="34" charset="-122"/>
                <a:cs typeface="Arial" pitchFamily="34" charset="-120"/>
              </a:rPr>
              <a:t> </a:t>
            </a:r>
            <a:r>
              <a:rPr lang="en-US" sz="1850" dirty="0" err="1" smtClean="0">
                <a:ea typeface="Arial" pitchFamily="34" charset="-122"/>
                <a:cs typeface="Arial" pitchFamily="34" charset="-120"/>
              </a:rPr>
              <a:t>memoriji</a:t>
            </a:r>
            <a:r>
              <a:rPr lang="en-US" sz="1850" dirty="0" smtClean="0">
                <a:ea typeface="Arial" pitchFamily="34" charset="-122"/>
                <a:cs typeface="Arial" pitchFamily="34" charset="-120"/>
              </a:rPr>
              <a:t>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ea typeface="Arial" pitchFamily="34" charset="-122"/>
                <a:cs typeface="Arial" pitchFamily="34" charset="-120"/>
              </a:rPr>
              <a:t>• Događaj višem </a:t>
            </a:r>
            <a:r>
              <a:rPr lang="en-US" sz="1850" dirty="0" err="1">
                <a:ea typeface="Arial" pitchFamily="34" charset="-122"/>
                <a:cs typeface="Arial" pitchFamily="34" charset="-120"/>
              </a:rPr>
              <a:t>sloju</a:t>
            </a:r>
            <a:r>
              <a:rPr lang="en-US" sz="1850" dirty="0">
                <a:ea typeface="Arial" pitchFamily="34" charset="-122"/>
                <a:cs typeface="Arial" pitchFamily="34" charset="-120"/>
              </a:rPr>
              <a:t> </a:t>
            </a:r>
            <a:r>
              <a:rPr lang="en-US" sz="1850" dirty="0" smtClean="0">
                <a:ea typeface="Arial" pitchFamily="34" charset="-122"/>
                <a:cs typeface="Arial" pitchFamily="34" charset="-120"/>
              </a:rPr>
              <a:t>ne </a:t>
            </a:r>
            <a:r>
              <a:rPr lang="en-US" sz="1850" dirty="0" err="1" smtClean="0">
                <a:ea typeface="Arial" pitchFamily="34" charset="-122"/>
                <a:cs typeface="Arial" pitchFamily="34" charset="-120"/>
              </a:rPr>
              <a:t>nosi</a:t>
            </a:r>
            <a:r>
              <a:rPr lang="en-US" sz="1850" dirty="0" smtClean="0">
                <a:ea typeface="Arial" pitchFamily="34" charset="-122"/>
                <a:cs typeface="Arial" pitchFamily="34" charset="-120"/>
              </a:rPr>
              <a:t> </a:t>
            </a:r>
            <a:r>
              <a:rPr lang="en-US" sz="1850" dirty="0" err="1" smtClean="0">
                <a:ea typeface="Arial" pitchFamily="34" charset="-122"/>
                <a:cs typeface="Arial" pitchFamily="34" charset="-120"/>
              </a:rPr>
              <a:t>vrednost</a:t>
            </a:r>
            <a:r>
              <a:rPr lang="en-US" sz="1850" dirty="0" smtClean="0">
                <a:ea typeface="Arial" pitchFamily="34" charset="-122"/>
                <a:cs typeface="Arial" pitchFamily="34" charset="-120"/>
              </a:rPr>
              <a:t> </a:t>
            </a:r>
            <a:r>
              <a:rPr lang="en-US" sz="1850" dirty="0">
                <a:ea typeface="Arial" pitchFamily="34" charset="-122"/>
                <a:cs typeface="Arial" pitchFamily="34" charset="-120"/>
              </a:rPr>
              <a:t>direktno, već </a:t>
            </a:r>
            <a:r>
              <a:rPr lang="en-US" sz="1850" dirty="0" err="1">
                <a:ea typeface="Arial" pitchFamily="34" charset="-122"/>
                <a:cs typeface="Arial" pitchFamily="34" charset="-120"/>
              </a:rPr>
              <a:t>ime</a:t>
            </a:r>
            <a:r>
              <a:rPr lang="en-US" sz="1850" dirty="0">
                <a:ea typeface="Arial" pitchFamily="34" charset="-122"/>
                <a:cs typeface="Arial" pitchFamily="34" charset="-120"/>
              </a:rPr>
              <a:t> </a:t>
            </a:r>
            <a:r>
              <a:rPr lang="en-US" sz="1850" dirty="0" err="1" smtClean="0">
                <a:ea typeface="Arial" pitchFamily="34" charset="-122"/>
                <a:cs typeface="Arial" pitchFamily="34" charset="-120"/>
              </a:rPr>
              <a:t>promenljive</a:t>
            </a:r>
            <a:r>
              <a:rPr lang="en-US" sz="1850" dirty="0">
                <a:ea typeface="Arial" pitchFamily="34" charset="-122"/>
                <a:cs typeface="Arial" pitchFamily="34" charset="-120"/>
              </a:rPr>
              <a:t>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ea typeface="Arial" pitchFamily="34" charset="-122"/>
                <a:cs typeface="Arial" pitchFamily="34" charset="-120"/>
              </a:rPr>
              <a:t>• Viši sloj nakon događaja čita vrednost </a:t>
            </a:r>
            <a:r>
              <a:rPr lang="en-US" sz="1850" dirty="0" err="1">
                <a:ea typeface="Arial" pitchFamily="34" charset="-122"/>
                <a:cs typeface="Arial" pitchFamily="34" charset="-120"/>
              </a:rPr>
              <a:t>iz</a:t>
            </a:r>
            <a:r>
              <a:rPr lang="en-US" sz="1850" dirty="0">
                <a:ea typeface="Arial" pitchFamily="34" charset="-122"/>
                <a:cs typeface="Arial" pitchFamily="34" charset="-120"/>
              </a:rPr>
              <a:t> </a:t>
            </a:r>
            <a:r>
              <a:rPr lang="en-US" sz="1850" dirty="0" err="1" smtClean="0">
                <a:ea typeface="Arial" pitchFamily="34" charset="-122"/>
                <a:cs typeface="Arial" pitchFamily="34" charset="-120"/>
              </a:rPr>
              <a:t>memorije</a:t>
            </a:r>
            <a:r>
              <a:rPr lang="en-US" sz="1850" dirty="0" smtClean="0">
                <a:ea typeface="Arial" pitchFamily="34" charset="-122"/>
                <a:cs typeface="Arial" pitchFamily="34" charset="-120"/>
              </a:rPr>
              <a:t>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ea typeface="Arial" pitchFamily="34" charset="-122"/>
                <a:cs typeface="Arial" pitchFamily="34" charset="-120"/>
              </a:rPr>
              <a:t>• Ako proces padne pre obrade događaja, </a:t>
            </a:r>
            <a:r>
              <a:rPr lang="en-US" sz="1850" dirty="0" err="1">
                <a:ea typeface="Arial" pitchFamily="34" charset="-122"/>
                <a:cs typeface="Arial" pitchFamily="34" charset="-120"/>
              </a:rPr>
              <a:t>nakon</a:t>
            </a:r>
            <a:r>
              <a:rPr lang="en-US" sz="1850" dirty="0">
                <a:ea typeface="Arial" pitchFamily="34" charset="-122"/>
                <a:cs typeface="Arial" pitchFamily="34" charset="-120"/>
              </a:rPr>
              <a:t> </a:t>
            </a:r>
            <a:r>
              <a:rPr lang="en-US" sz="1850" dirty="0" err="1" smtClean="0">
                <a:ea typeface="Arial" pitchFamily="34" charset="-122"/>
                <a:cs typeface="Arial" pitchFamily="34" charset="-120"/>
              </a:rPr>
              <a:t>oporavka</a:t>
            </a:r>
            <a:r>
              <a:rPr lang="en-US" sz="1850" dirty="0" smtClean="0">
                <a:ea typeface="Arial" pitchFamily="34" charset="-122"/>
                <a:cs typeface="Arial" pitchFamily="34" charset="-120"/>
              </a:rPr>
              <a:t> </a:t>
            </a:r>
            <a:r>
              <a:rPr lang="en-US" sz="1850" dirty="0" err="1" smtClean="0">
                <a:ea typeface="Arial" pitchFamily="34" charset="-122"/>
                <a:cs typeface="Arial" pitchFamily="34" charset="-120"/>
              </a:rPr>
              <a:t>može</a:t>
            </a:r>
            <a:r>
              <a:rPr lang="en-US" sz="1850" dirty="0" smtClean="0">
                <a:ea typeface="Arial" pitchFamily="34" charset="-122"/>
                <a:cs typeface="Arial" pitchFamily="34" charset="-120"/>
              </a:rPr>
              <a:t> </a:t>
            </a:r>
            <a:r>
              <a:rPr lang="en-US" sz="1850" dirty="0">
                <a:ea typeface="Arial" pitchFamily="34" charset="-122"/>
                <a:cs typeface="Arial" pitchFamily="34" charset="-120"/>
              </a:rPr>
              <a:t>ponovo </a:t>
            </a:r>
            <a:r>
              <a:rPr lang="en-US" sz="1850" dirty="0" err="1">
                <a:ea typeface="Arial" pitchFamily="34" charset="-122"/>
                <a:cs typeface="Arial" pitchFamily="34" charset="-120"/>
              </a:rPr>
              <a:t>pročitati</a:t>
            </a:r>
            <a:r>
              <a:rPr lang="en-US" sz="1850" dirty="0">
                <a:ea typeface="Arial" pitchFamily="34" charset="-122"/>
                <a:cs typeface="Arial" pitchFamily="34" charset="-120"/>
              </a:rPr>
              <a:t> </a:t>
            </a:r>
            <a:r>
              <a:rPr lang="en-US" sz="1850" dirty="0" err="1" smtClean="0">
                <a:ea typeface="Arial" pitchFamily="34" charset="-122"/>
                <a:cs typeface="Arial" pitchFamily="34" charset="-120"/>
              </a:rPr>
              <a:t>vrednost</a:t>
            </a:r>
            <a:r>
              <a:rPr lang="en-US" sz="1850" dirty="0">
                <a:ea typeface="Arial" pitchFamily="34" charset="-122"/>
                <a:cs typeface="Arial" pitchFamily="34" charset="-120"/>
              </a:rPr>
              <a:t>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6720840" y="1508760"/>
            <a:ext cx="4389120" cy="3383280"/>
          </a:xfrm>
          <a:prstGeom prst="rect">
            <a:avLst/>
          </a:prstGeom>
          <a:solidFill>
            <a:srgbClr val="FAFAFA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64592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:= v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store(decision)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 Decide | decision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Recovery: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retrieve(decision)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</a:t>
            </a: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 Consensus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767080"/>
            <a:ext cx="1101852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371600"/>
            <a:ext cx="548640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/>
              <a:t>Termination</a:t>
            </a:r>
            <a:r>
              <a:rPr lang="en-US" sz="2000" dirty="0" smtClean="0"/>
              <a:t>: </a:t>
            </a:r>
            <a:r>
              <a:rPr lang="pl-PL" sz="2000" dirty="0" smtClean="0"/>
              <a:t>Svaki </a:t>
            </a:r>
            <a:r>
              <a:rPr lang="pl-PL" sz="2000" dirty="0"/>
              <a:t>ispravan proces koji više ne pada, na kraju donosi odluku i upisuje je u log.</a:t>
            </a:r>
            <a:r>
              <a:rPr lang="en-US" sz="185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r-Latn-RS" sz="2000" b="1" dirty="0" smtClean="0"/>
              <a:t>Validity</a:t>
            </a:r>
            <a:r>
              <a:rPr lang="en-US" sz="2000" dirty="0" smtClean="0"/>
              <a:t>: </a:t>
            </a:r>
            <a:r>
              <a:rPr lang="sr-Latn-RS" sz="2000" dirty="0" smtClean="0"/>
              <a:t>garantuje </a:t>
            </a:r>
            <a:r>
              <a:rPr lang="sr-Latn-RS" sz="2000" dirty="0"/>
              <a:t>da odlučena vrednost nije proizvoljna, nego mora poticati od nekog procesa koji ju je </a:t>
            </a:r>
            <a:r>
              <a:rPr lang="sr-Latn-RS" sz="2000" dirty="0" smtClean="0"/>
              <a:t>predložio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r-Latn-RS" sz="2000" b="1" dirty="0"/>
              <a:t>Uniform</a:t>
            </a:r>
            <a:r>
              <a:rPr lang="sr-Latn-RS" sz="2000" dirty="0"/>
              <a:t> </a:t>
            </a:r>
            <a:r>
              <a:rPr lang="sr-Latn-RS" sz="2000" b="1" dirty="0" smtClean="0"/>
              <a:t>agreement</a:t>
            </a:r>
            <a:r>
              <a:rPr lang="en-US" sz="2000" dirty="0" smtClean="0"/>
              <a:t>: </a:t>
            </a:r>
            <a:r>
              <a:rPr lang="sr-Latn-RS" sz="2000" dirty="0" smtClean="0"/>
              <a:t>Čak </a:t>
            </a:r>
            <a:r>
              <a:rPr lang="sr-Latn-RS" sz="2000" dirty="0"/>
              <a:t>i ako procesi padaju i oporavljaju se, ne sme se desiti da dva procesa odluče različite vrednosti</a:t>
            </a:r>
            <a:r>
              <a:rPr lang="sr-Latn-RS" sz="2000" dirty="0" smtClean="0"/>
              <a:t>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355080" y="1325879"/>
            <a:ext cx="5600382" cy="33274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28726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12280" y="164592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730" y="1527264"/>
            <a:ext cx="5419081" cy="29246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Zašto </a:t>
            </a:r>
            <a:r>
              <a:rPr lang="en-US" sz="27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</a:t>
            </a: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700" b="1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potrebni</a:t>
            </a:r>
            <a:r>
              <a:rPr lang="en-US" sz="2700" b="1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700" b="1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dodatni</a:t>
            </a:r>
            <a:r>
              <a:rPr lang="en-US" sz="2700" b="1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moduli?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804672"/>
            <a:ext cx="1101852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353312"/>
            <a:ext cx="1042416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Leader-Driven Consensus radi kroz epohe </a:t>
            </a:r>
            <a:r>
              <a:rPr lang="en-US" sz="185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5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vodje</a:t>
            </a:r>
            <a:r>
              <a:rPr lang="en-US" sz="185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50" dirty="0"/>
          </a:p>
          <a:p>
            <a:pPr marL="0" indent="0">
              <a:buNone/>
            </a:pPr>
            <a:r>
              <a:rPr lang="en-US" sz="185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Epoch-Change loguje novu epohu </a:t>
            </a:r>
            <a:r>
              <a:rPr lang="en-US" sz="185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5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vodju</a:t>
            </a:r>
            <a:r>
              <a:rPr lang="en-US" sz="185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Logged Epoch Consensus loguje odluku unutar jedne </a:t>
            </a:r>
            <a:r>
              <a:rPr lang="en-US" sz="185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epohe</a:t>
            </a:r>
            <a:r>
              <a:rPr lang="en-US" sz="185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</a:t>
            </a: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Epoch-Change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836168"/>
            <a:ext cx="1101852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353312"/>
            <a:ext cx="10378440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Epoch-change pokreće novu epohu u leader-driven consensus algoritmu.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Svaka epoha je određena parom: timestamp i leader.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Logged verzija upisuje timestamp i lidera sledeće epohe u </a:t>
            </a:r>
            <a:r>
              <a:rPr lang="en-US" sz="185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memoriju</a:t>
            </a:r>
            <a:r>
              <a:rPr lang="en-US" sz="185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Koriste se promenljive startts i startℓ</a:t>
            </a:r>
            <a:r>
              <a:rPr lang="en-US" sz="185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Lider poslednje epohe mora biti proces koji više nikada ne pada.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234440" y="5715000"/>
            <a:ext cx="95097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</a:t>
            </a: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Epoch-Change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804672"/>
            <a:ext cx="1101852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5486400" cy="4434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</a:t>
            </a: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LoggedEpochChange, instanca lec.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</a:t>
            </a: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StartEpoch | startts, startℓ — viši sloj čita timestamp i lidera </a:t>
            </a:r>
            <a:r>
              <a:rPr lang="en-US" sz="1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</a:t>
            </a: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memorije</a:t>
            </a:r>
            <a:r>
              <a:rPr lang="en-US" sz="180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b="1" dirty="0" smtClean="0"/>
              <a:t>Monotonicity</a:t>
            </a:r>
            <a:r>
              <a:rPr lang="en-US" dirty="0" smtClean="0"/>
              <a:t>: </a:t>
            </a:r>
            <a:r>
              <a:rPr lang="en-US" dirty="0"/>
              <a:t>P</a:t>
            </a:r>
            <a:r>
              <a:rPr lang="sr-Latn-RS" dirty="0" smtClean="0"/>
              <a:t>roces </a:t>
            </a:r>
            <a:r>
              <a:rPr lang="sr-Latn-RS" dirty="0"/>
              <a:t>nikada ne ide unazad kroz epohe. Svaka sledeća epoha koju proces startuje mora imati veći timestamp od prethodne</a:t>
            </a:r>
            <a:r>
              <a:rPr lang="sr-Latn-RS" dirty="0" smtClean="0"/>
              <a:t>.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b="1" dirty="0" smtClean="0"/>
              <a:t>Consistency</a:t>
            </a:r>
            <a:r>
              <a:rPr lang="en-US" dirty="0" smtClean="0"/>
              <a:t>: I</a:t>
            </a:r>
            <a:r>
              <a:rPr lang="sr-Latn-RS" dirty="0" smtClean="0"/>
              <a:t>sti </a:t>
            </a:r>
            <a:r>
              <a:rPr lang="sr-Latn-RS" dirty="0"/>
              <a:t>timestamp ne može označavati dve različite epohe sa dva različita lidera. Ako je timestamp isti, lider mora biti isti</a:t>
            </a:r>
            <a:r>
              <a:rPr lang="sr-Latn-RS" dirty="0" smtClean="0"/>
              <a:t>.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b="1" dirty="0"/>
              <a:t>Eventual</a:t>
            </a:r>
            <a:r>
              <a:rPr lang="sr-Latn-RS" dirty="0"/>
              <a:t> </a:t>
            </a:r>
            <a:r>
              <a:rPr lang="sr-Latn-RS" b="1" dirty="0" smtClean="0"/>
              <a:t>leadership</a:t>
            </a:r>
            <a:r>
              <a:rPr lang="en-US" dirty="0" smtClean="0"/>
              <a:t>:</a:t>
            </a:r>
            <a:r>
              <a:rPr lang="sr-Latn-RS" dirty="0" smtClean="0"/>
              <a:t> </a:t>
            </a:r>
            <a:r>
              <a:rPr lang="en-US" dirty="0" smtClean="0"/>
              <a:t>N</a:t>
            </a:r>
            <a:r>
              <a:rPr lang="sr-Latn-RS" dirty="0" smtClean="0"/>
              <a:t>a kraju</a:t>
            </a:r>
            <a:r>
              <a:rPr lang="en-US" dirty="0" smtClean="0"/>
              <a:t> se</a:t>
            </a:r>
            <a:r>
              <a:rPr lang="sr-Latn-RS" dirty="0" smtClean="0"/>
              <a:t> </a:t>
            </a:r>
            <a:r>
              <a:rPr lang="sr-Latn-RS" dirty="0"/>
              <a:t>svi ispravni procesi stabilizovati na istoj poslednjoj epohi i istom lideru. Posle toga više nema novih epoha</a:t>
            </a:r>
            <a:r>
              <a:rPr lang="sr-Latn-RS" dirty="0" smtClean="0"/>
              <a:t>.</a:t>
            </a:r>
            <a:endParaRPr lang="en-US" sz="1800" dirty="0" smtClean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17921" y="1362455"/>
            <a:ext cx="5599610" cy="33721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28726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12280" y="164592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209" y="1570743"/>
            <a:ext cx="5411112" cy="29181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smtClean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Logged Epoch-Change - </a:t>
            </a:r>
            <a:r>
              <a:rPr lang="en-US" sz="2700" b="1" dirty="0" err="1" smtClean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Pseudokod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3080" y="804672"/>
            <a:ext cx="1101852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548640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Implementira Logged Epoch-Change.</a:t>
            </a:r>
            <a:endParaRPr lang="en-US" sz="1770" dirty="0"/>
          </a:p>
          <a:p>
            <a:pPr marL="0" indent="0">
              <a:buNone/>
            </a:pPr>
            <a:r>
              <a:rPr lang="en-US" sz="177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Koristi stubborn point-to-point links i stubborn best-effort broadcast.</a:t>
            </a:r>
            <a:endParaRPr lang="en-US" sz="1770" dirty="0"/>
          </a:p>
          <a:p>
            <a:pPr marL="0" indent="0">
              <a:buNone/>
            </a:pPr>
            <a:r>
              <a:rPr lang="en-US" sz="1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Timestamp i lider </a:t>
            </a:r>
            <a:r>
              <a:rPr lang="en-US" sz="177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poslednje</a:t>
            </a:r>
            <a:r>
              <a:rPr lang="en-US" sz="1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7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započete</a:t>
            </a:r>
            <a:r>
              <a:rPr lang="en-US" sz="177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epohe se loguju.</a:t>
            </a:r>
            <a:endParaRPr lang="en-US" sz="1770" dirty="0"/>
          </a:p>
          <a:p>
            <a:pPr marL="0" indent="0">
              <a:buNone/>
            </a:pPr>
            <a:r>
              <a:rPr lang="en-US" sz="1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Ako Ω izabere proces kao lidera, taj proces povećava ts i broadcast-uje NEWEPOCH.</a:t>
            </a:r>
            <a:endParaRPr lang="en-US" sz="1770" dirty="0"/>
          </a:p>
          <a:p>
            <a:pPr marL="0" indent="0">
              <a:buNone/>
            </a:pPr>
            <a:r>
              <a:rPr lang="en-US" sz="1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Proces prihvata novu epohu ako veruje tom lideru i ako je timestamp noviji.</a:t>
            </a:r>
            <a:endParaRPr lang="en-US" sz="1770" dirty="0"/>
          </a:p>
        </p:txBody>
      </p:sp>
      <p:sp>
        <p:nvSpPr>
          <p:cNvPr id="7" name="Shape 5"/>
          <p:cNvSpPr/>
          <p:nvPr/>
        </p:nvSpPr>
        <p:spPr>
          <a:xfrm>
            <a:off x="6652260" y="1115569"/>
            <a:ext cx="4759452" cy="56597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33298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201783"/>
            <a:ext cx="4526279" cy="54776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</a:t>
            </a: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 Consensus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804672"/>
            <a:ext cx="1101852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371600"/>
            <a:ext cx="10424160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5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Koristi se za donošenje odluke unutar jedne konkretne epohe.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Svaka instanca ima timestamp ts </a:t>
            </a:r>
            <a:r>
              <a:rPr lang="en-US" sz="185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5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vođu</a:t>
            </a:r>
            <a:r>
              <a:rPr lang="en-US" sz="185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ℓ</a:t>
            </a:r>
            <a:r>
              <a:rPr lang="en-US" sz="1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Jedina ključna promena u logged varijanti je </a:t>
            </a:r>
            <a:r>
              <a:rPr lang="en-US" sz="185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pamćenje</a:t>
            </a:r>
            <a:r>
              <a:rPr lang="en-US" sz="185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5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odlučene</a:t>
            </a:r>
            <a:r>
              <a:rPr lang="en-US" sz="185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5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vrednosti</a:t>
            </a:r>
            <a:r>
              <a:rPr lang="en-US" sz="185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005840" y="5715000"/>
            <a:ext cx="100584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</a:t>
            </a: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 </a:t>
            </a:r>
            <a:r>
              <a:rPr lang="en-US" sz="2700" b="1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3080" y="775208"/>
            <a:ext cx="1101852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5486400" cy="4434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b="1" dirty="0" smtClean="0"/>
              <a:t>Validity</a:t>
            </a:r>
            <a:r>
              <a:rPr lang="en-US" dirty="0" smtClean="0"/>
              <a:t>:</a:t>
            </a:r>
            <a:r>
              <a:rPr lang="sr-Latn-RS" dirty="0" smtClean="0"/>
              <a:t> </a:t>
            </a:r>
            <a:r>
              <a:rPr lang="en-US" dirty="0" smtClean="0"/>
              <a:t>G</a:t>
            </a:r>
            <a:r>
              <a:rPr lang="sr-Latn-RS" dirty="0" smtClean="0"/>
              <a:t>arantuje </a:t>
            </a:r>
            <a:r>
              <a:rPr lang="sr-Latn-RS" dirty="0"/>
              <a:t>da odlučena vrednost mora biti predložena od nekog lidera.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b="1" dirty="0" smtClean="0"/>
              <a:t>Uniform</a:t>
            </a:r>
            <a:r>
              <a:rPr lang="sr-Latn-RS" dirty="0" smtClean="0"/>
              <a:t> </a:t>
            </a:r>
            <a:r>
              <a:rPr lang="sr-Latn-RS" b="1" dirty="0" smtClean="0"/>
              <a:t>agreement</a:t>
            </a:r>
            <a:r>
              <a:rPr lang="en-US" b="1" dirty="0" smtClean="0"/>
              <a:t>:</a:t>
            </a:r>
            <a:r>
              <a:rPr lang="sr-Latn-RS" dirty="0" smtClean="0"/>
              <a:t> </a:t>
            </a:r>
            <a:r>
              <a:rPr lang="en-US" dirty="0" smtClean="0"/>
              <a:t>N</a:t>
            </a:r>
            <a:r>
              <a:rPr lang="sr-Latn-RS" dirty="0" smtClean="0"/>
              <a:t>e </a:t>
            </a:r>
            <a:r>
              <a:rPr lang="sr-Latn-RS" dirty="0"/>
              <a:t>mogu postojati dve različite odluke</a:t>
            </a:r>
            <a:r>
              <a:rPr lang="sr-Latn-RS" dirty="0" smtClean="0"/>
              <a:t>.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b="1" dirty="0" smtClean="0"/>
              <a:t>Lock-in</a:t>
            </a:r>
            <a:r>
              <a:rPr lang="en-US" b="1" dirty="0" smtClean="0"/>
              <a:t>:</a:t>
            </a:r>
            <a:r>
              <a:rPr lang="sr-Latn-RS" dirty="0" smtClean="0"/>
              <a:t> </a:t>
            </a:r>
            <a:r>
              <a:rPr lang="en-US" dirty="0" smtClean="0"/>
              <a:t>Č</a:t>
            </a:r>
            <a:r>
              <a:rPr lang="sr-Latn-RS" dirty="0" smtClean="0"/>
              <a:t>uva </a:t>
            </a:r>
            <a:r>
              <a:rPr lang="sr-Latn-RS" dirty="0"/>
              <a:t>odluku kroz epohe. Ako je neka vrednost već odlučena u ranijoj epohi, nijedna kasnija epoha ne sme odlučiti drugačiju vrednost</a:t>
            </a:r>
            <a:r>
              <a:rPr lang="sr-Latn-RS" dirty="0" smtClean="0"/>
              <a:t>.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b="1" dirty="0" smtClean="0"/>
              <a:t>Termination</a:t>
            </a:r>
            <a:r>
              <a:rPr lang="en-US" b="1" dirty="0" smtClean="0"/>
              <a:t>:</a:t>
            </a:r>
            <a:r>
              <a:rPr lang="sr-Latn-RS" dirty="0" smtClean="0"/>
              <a:t> </a:t>
            </a:r>
            <a:r>
              <a:rPr lang="en-US" dirty="0" smtClean="0"/>
              <a:t>A</a:t>
            </a:r>
            <a:r>
              <a:rPr lang="sr-Latn-RS" dirty="0" smtClean="0"/>
              <a:t>ko </a:t>
            </a:r>
            <a:r>
              <a:rPr lang="sr-Latn-RS" dirty="0"/>
              <a:t>imamo ispravnog lidera, ako je lider predložio vrednost i ako se instanca ne prekida. Tada svi ispravni procesi na kraju odlučuju</a:t>
            </a:r>
            <a:r>
              <a:rPr lang="sr-Latn-RS" dirty="0" smtClean="0"/>
              <a:t>.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b="1" dirty="0"/>
              <a:t>Abort</a:t>
            </a:r>
            <a:r>
              <a:rPr lang="sr-Latn-RS" dirty="0"/>
              <a:t> </a:t>
            </a:r>
            <a:r>
              <a:rPr lang="sr-Latn-RS" b="1" dirty="0" smtClean="0"/>
              <a:t>behavior</a:t>
            </a:r>
            <a:r>
              <a:rPr lang="en-US" b="1" dirty="0" smtClean="0"/>
              <a:t>:</a:t>
            </a:r>
            <a:r>
              <a:rPr lang="sr-Latn-RS" dirty="0" smtClean="0"/>
              <a:t> </a:t>
            </a:r>
            <a:r>
              <a:rPr lang="en-US" dirty="0" smtClean="0"/>
              <a:t>G</a:t>
            </a:r>
            <a:r>
              <a:rPr lang="sr-Latn-RS" dirty="0" smtClean="0"/>
              <a:t>arantuje </a:t>
            </a:r>
            <a:r>
              <a:rPr lang="sr-Latn-RS" dirty="0"/>
              <a:t>da ako se epoch consensus prekida, taj prekid će se završiti i modul će vratiti svoje stanje. Tako nova epoha može da nastavi bez gubitka informacija.</a:t>
            </a:r>
            <a:endParaRPr lang="en-US" sz="1800" dirty="0" smtClean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0" y="1417320"/>
            <a:ext cx="5120640" cy="493122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28726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12280" y="1517469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525" y="1499180"/>
            <a:ext cx="5038795" cy="47387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Logged Read/Write Epoch Consensus</a:t>
            </a:r>
            <a:endParaRPr lang="en-US" sz="2800" b="1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804672"/>
            <a:ext cx="1101852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" y="1024128"/>
            <a:ext cx="553212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 smtClean="0"/>
              <a:t>Predstavlja</a:t>
            </a:r>
            <a:r>
              <a:rPr lang="en-US" sz="1600" dirty="0" smtClean="0"/>
              <a:t> </a:t>
            </a:r>
            <a:r>
              <a:rPr lang="sr-Latn-RS" sz="1600" dirty="0" smtClean="0"/>
              <a:t>implementaciju </a:t>
            </a:r>
            <a:r>
              <a:rPr lang="sr-Latn-RS" sz="1600" b="1" dirty="0"/>
              <a:t>Logged Epoch Consensus</a:t>
            </a:r>
            <a:r>
              <a:rPr lang="sr-Latn-RS" sz="1600" dirty="0"/>
              <a:t> apstrakcije. </a:t>
            </a:r>
            <a:endParaRPr lang="en-U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 smtClean="0"/>
              <a:t>Njegova </a:t>
            </a:r>
            <a:r>
              <a:rPr lang="sr-Latn-RS" sz="1600" dirty="0"/>
              <a:t>uloga je da se unutar jedne epohe odluči vrednost, ali sada u </a:t>
            </a:r>
            <a:r>
              <a:rPr lang="sr-Latn-RS" sz="1600" b="1" dirty="0"/>
              <a:t>fail-recovery modelu</a:t>
            </a:r>
            <a:r>
              <a:rPr lang="sr-Latn-RS" sz="1600" dirty="0"/>
              <a:t>, gde procesi mogu da padnu i kasnije se oporave</a:t>
            </a:r>
            <a:r>
              <a:rPr lang="sr-Latn-RS" sz="1600" dirty="0" smtClean="0"/>
              <a:t>.</a:t>
            </a:r>
            <a:endParaRPr lang="en-U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A</a:t>
            </a:r>
            <a:r>
              <a:rPr lang="sr-Latn-RS" sz="1600" dirty="0" smtClean="0"/>
              <a:t>lgoritam </a:t>
            </a:r>
            <a:r>
              <a:rPr lang="sr-Latn-RS" sz="1600" dirty="0"/>
              <a:t>ima najviše </a:t>
            </a:r>
            <a:r>
              <a:rPr lang="sr-Latn-RS" sz="1600" b="1" dirty="0"/>
              <a:t>pet komunikacionih koraka</a:t>
            </a:r>
            <a:r>
              <a:rPr lang="sr-Latn-RS" sz="1600" dirty="0" smtClean="0"/>
              <a:t>:</a:t>
            </a:r>
            <a:endParaRPr lang="en-US" sz="16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sz="1600" dirty="0"/>
              <a:t>U </a:t>
            </a:r>
            <a:r>
              <a:rPr lang="sr-Latn-RS" sz="1600" b="1" dirty="0"/>
              <a:t>READ</a:t>
            </a:r>
            <a:r>
              <a:rPr lang="sr-Latn-RS" sz="1600" dirty="0"/>
              <a:t> fazi </a:t>
            </a:r>
            <a:r>
              <a:rPr lang="en-US" sz="1600" dirty="0" err="1" smtClean="0"/>
              <a:t>vođa</a:t>
            </a:r>
            <a:r>
              <a:rPr lang="en-US" sz="1600" dirty="0" smtClean="0"/>
              <a:t> </a:t>
            </a:r>
            <a:r>
              <a:rPr lang="sr-Latn-RS" sz="1600" dirty="0" smtClean="0"/>
              <a:t>čita </a:t>
            </a:r>
            <a:r>
              <a:rPr lang="sr-Latn-RS" sz="1600" dirty="0"/>
              <a:t>stanja </a:t>
            </a:r>
            <a:r>
              <a:rPr lang="sr-Latn-RS" sz="1600" dirty="0" smtClean="0"/>
              <a:t>procesa.</a:t>
            </a:r>
            <a:endParaRPr lang="en-US" sz="16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sz="1600" dirty="0" smtClean="0"/>
              <a:t>U </a:t>
            </a:r>
            <a:r>
              <a:rPr lang="sr-Latn-RS" sz="1600" b="1" dirty="0"/>
              <a:t>STATE</a:t>
            </a:r>
            <a:r>
              <a:rPr lang="sr-Latn-RS" sz="1600" dirty="0"/>
              <a:t> fazi procesi šalju svoja stanja </a:t>
            </a:r>
            <a:r>
              <a:rPr lang="en-US" sz="1600" dirty="0" err="1" smtClean="0"/>
              <a:t>vođi</a:t>
            </a:r>
            <a:r>
              <a:rPr lang="sr-Latn-RS" sz="1600" dirty="0" smtClean="0"/>
              <a:t>.</a:t>
            </a:r>
            <a:endParaRPr lang="en-US" sz="16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sz="1600" dirty="0" smtClean="0"/>
              <a:t>U </a:t>
            </a:r>
            <a:r>
              <a:rPr lang="sr-Latn-RS" sz="1600" b="1" dirty="0"/>
              <a:t>WRITE</a:t>
            </a:r>
            <a:r>
              <a:rPr lang="sr-Latn-RS" sz="1600" dirty="0"/>
              <a:t> fazi </a:t>
            </a:r>
            <a:r>
              <a:rPr lang="en-US" sz="1600" dirty="0" err="1" smtClean="0"/>
              <a:t>vođa</a:t>
            </a:r>
            <a:r>
              <a:rPr lang="en-US" sz="1600" dirty="0" smtClean="0"/>
              <a:t> </a:t>
            </a:r>
            <a:r>
              <a:rPr lang="sr-Latn-RS" sz="1600" dirty="0" smtClean="0"/>
              <a:t>šalje </a:t>
            </a:r>
            <a:r>
              <a:rPr lang="sr-Latn-RS" sz="1600" dirty="0"/>
              <a:t>vrednost koju treba </a:t>
            </a:r>
            <a:r>
              <a:rPr lang="sr-Latn-RS" sz="1600" dirty="0" smtClean="0"/>
              <a:t>prihvatiti.</a:t>
            </a:r>
            <a:endParaRPr lang="en-US" sz="16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sz="1600" dirty="0" smtClean="0"/>
              <a:t>U </a:t>
            </a:r>
            <a:r>
              <a:rPr lang="sr-Latn-RS" sz="1600" b="1" dirty="0"/>
              <a:t>ACCEPT</a:t>
            </a:r>
            <a:r>
              <a:rPr lang="sr-Latn-RS" sz="1600" dirty="0"/>
              <a:t> fazi procesi potvrđuju </a:t>
            </a:r>
            <a:r>
              <a:rPr lang="sr-Latn-RS" sz="1600" dirty="0" smtClean="0"/>
              <a:t>prihvatanje.</a:t>
            </a:r>
            <a:endParaRPr lang="en-US" sz="16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sz="1600" dirty="0" smtClean="0"/>
              <a:t>U </a:t>
            </a:r>
            <a:r>
              <a:rPr lang="sr-Latn-RS" sz="1600" b="1" dirty="0"/>
              <a:t>DECIDED</a:t>
            </a:r>
            <a:r>
              <a:rPr lang="sr-Latn-RS" sz="1600" dirty="0"/>
              <a:t> fazi </a:t>
            </a:r>
            <a:r>
              <a:rPr lang="en-US" sz="1600" dirty="0" err="1" smtClean="0"/>
              <a:t>vođa</a:t>
            </a:r>
            <a:r>
              <a:rPr lang="en-US" sz="1600" dirty="0" smtClean="0"/>
              <a:t> </a:t>
            </a:r>
            <a:r>
              <a:rPr lang="sr-Latn-RS" sz="1600" dirty="0" smtClean="0"/>
              <a:t>objavljuje </a:t>
            </a:r>
            <a:r>
              <a:rPr lang="sr-Latn-RS" sz="1600" dirty="0"/>
              <a:t>odlučenu vrednost.</a:t>
            </a:r>
            <a:endParaRPr lang="en-U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80" dirty="0"/>
          </a:p>
        </p:txBody>
      </p:sp>
      <p:sp>
        <p:nvSpPr>
          <p:cNvPr id="8" name="Text 6"/>
          <p:cNvSpPr/>
          <p:nvPr/>
        </p:nvSpPr>
        <p:spPr>
          <a:xfrm>
            <a:off x="6858000" y="333298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119786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Logged Read/Write Epoch Consensus</a:t>
            </a:r>
            <a:endParaRPr lang="en-US" sz="2800" b="1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6100" y="804672"/>
            <a:ext cx="1101852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553212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endParaRPr lang="en-US" sz="1780" dirty="0"/>
          </a:p>
        </p:txBody>
      </p:sp>
      <p:sp>
        <p:nvSpPr>
          <p:cNvPr id="7" name="Shape 5"/>
          <p:cNvSpPr/>
          <p:nvPr/>
        </p:nvSpPr>
        <p:spPr>
          <a:xfrm>
            <a:off x="594360" y="1197864"/>
            <a:ext cx="5461000" cy="54132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33298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119786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5"/>
          <p:cNvSpPr/>
          <p:nvPr/>
        </p:nvSpPr>
        <p:spPr>
          <a:xfrm>
            <a:off x="6055360" y="1197864"/>
            <a:ext cx="5461000" cy="54132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71059"/>
            <a:ext cx="5003800" cy="510226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71058"/>
            <a:ext cx="4099533" cy="5237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407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</a:t>
            </a: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Leader-Driven Consensus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807720"/>
            <a:ext cx="1101852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353312"/>
            <a:ext cx="1051560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5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Algoritam implementira LoggedUniformConsensus, instanca luc.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Koristi LoggedEpochChange, instanca lec.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Koristi više instanci LoggedEpochConsensus, označenih kao lep.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Cilj je da proces nakon crash-a obnovi stanje i nastavi rad.</a:t>
            </a:r>
            <a:endParaRPr lang="en-US" sz="1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sr-Latn-RS" sz="2800" b="1" dirty="0"/>
              <a:t>Logged Leader-Driven </a:t>
            </a:r>
            <a:r>
              <a:rPr lang="sr-Latn-RS" sz="2800" b="1" dirty="0" smtClean="0"/>
              <a:t>Consensus</a:t>
            </a:r>
            <a:r>
              <a:rPr lang="en-US" sz="2800" b="1" dirty="0" smtClean="0"/>
              <a:t> – </a:t>
            </a:r>
            <a:r>
              <a:rPr lang="en-US" sz="2800" b="1" dirty="0" err="1" smtClean="0"/>
              <a:t>Pseudokod</a:t>
            </a:r>
            <a:endParaRPr lang="en-US" sz="2700" b="1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787400"/>
            <a:ext cx="1101852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5486400" cy="4892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 početku: val := ⊥, decision := ⊥, aborted := FALSE, proposed := FALSE.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Dobija se početni lider ℓ0 iz logged epoch-change instance lec.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Pokreće se lep.0 sa timestampom 0, liderom ℓ0 i stanjem (0, ⊥).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Postavlja se trenutna epoha: (ets, ℓ) := (0, ℓ0).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Loguje se </a:t>
            </a:r>
            <a:r>
              <a:rPr lang="en-US" sz="165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stanje</a:t>
            </a: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store(ets, ℓ, decision).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Kod Recovery-ja čitaju se ets, ℓ, decision, startts, startℓ i epochdecision.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Ako je epochdecision već logovan, a decision </a:t>
            </a:r>
            <a:r>
              <a:rPr lang="en-US" sz="165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prazan</a:t>
            </a:r>
            <a:r>
              <a:rPr lang="en-US" sz="165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upisuje se </a:t>
            </a:r>
            <a:r>
              <a:rPr lang="en-US" sz="165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konačna</a:t>
            </a:r>
            <a:r>
              <a:rPr lang="en-US" sz="165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5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odluka</a:t>
            </a: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94416" y="1212075"/>
            <a:ext cx="5479869" cy="49144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33298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57299" y="115796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525" y="1297577"/>
            <a:ext cx="5264735" cy="464994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sr-Latn-RS" sz="2400" b="1" dirty="0"/>
              <a:t>Logged Leader-Driven </a:t>
            </a:r>
            <a:r>
              <a:rPr lang="sr-Latn-RS" sz="2400" b="1" dirty="0" smtClean="0"/>
              <a:t>Consensus</a:t>
            </a:r>
            <a:r>
              <a:rPr lang="en-US" sz="2400" b="1" dirty="0" smtClean="0"/>
              <a:t> – </a:t>
            </a:r>
            <a:r>
              <a:rPr lang="en-US" sz="2400" b="1" dirty="0" err="1" smtClean="0"/>
              <a:t>Pseudokod</a:t>
            </a:r>
            <a:endParaRPr lang="en-US" sz="2400" b="1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1534" y="817880"/>
            <a:ext cx="1101852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280160"/>
            <a:ext cx="5532120" cy="4754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Kada </a:t>
            </a:r>
            <a:r>
              <a:rPr lang="en-US" sz="17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</a:t>
            </a:r>
            <a:r>
              <a:rPr lang="en-US" sz="1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javi StartEpoch, algoritam čita startts i startℓ </a:t>
            </a:r>
            <a:r>
              <a:rPr lang="en-US" sz="172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</a:t>
            </a:r>
            <a:r>
              <a:rPr lang="en-US" sz="172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2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memorije</a:t>
            </a:r>
            <a:r>
              <a:rPr lang="en-US" sz="172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20" dirty="0"/>
          </a:p>
          <a:p>
            <a:pPr marL="0" indent="0">
              <a:buNone/>
            </a:pPr>
            <a:r>
              <a:rPr lang="en-US" sz="1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Ako je nova epoha različita od trenutne, </a:t>
            </a:r>
            <a:r>
              <a:rPr lang="en-US" sz="172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zaustavlja</a:t>
            </a:r>
            <a:r>
              <a:rPr lang="en-US" sz="172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 </a:t>
            </a:r>
            <a:r>
              <a:rPr lang="en-US" sz="1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trenutna instanca lep.ets.</a:t>
            </a:r>
            <a:endParaRPr lang="en-US" sz="1720" dirty="0"/>
          </a:p>
          <a:p>
            <a:pPr marL="0" indent="0">
              <a:buNone/>
            </a:pPr>
            <a:r>
              <a:rPr lang="en-US" sz="1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Abort </a:t>
            </a:r>
            <a:r>
              <a:rPr lang="en-US" sz="172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vraća</a:t>
            </a:r>
            <a:r>
              <a:rPr lang="en-US" sz="1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2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stanje</a:t>
            </a:r>
            <a:r>
              <a:rPr lang="en-US" sz="172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72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koje</a:t>
            </a:r>
            <a:r>
              <a:rPr lang="en-US" sz="172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prenosi u novu </a:t>
            </a:r>
            <a:r>
              <a:rPr lang="en-US" sz="172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instancu</a:t>
            </a:r>
            <a:r>
              <a:rPr lang="en-US" sz="1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2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epohe</a:t>
            </a:r>
            <a:r>
              <a:rPr lang="en-US" sz="172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consensus-a</a:t>
            </a:r>
            <a:r>
              <a:rPr lang="en-US" sz="1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20" dirty="0"/>
          </a:p>
          <a:p>
            <a:pPr marL="0" indent="0">
              <a:buNone/>
            </a:pPr>
            <a:r>
              <a:rPr lang="en-US" sz="1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Ažurira se i loguje nova epoha: (ets, ℓ) := (newts, newℓ).</a:t>
            </a:r>
            <a:endParaRPr lang="en-US" sz="1720" dirty="0"/>
          </a:p>
          <a:p>
            <a:pPr marL="0" indent="0">
              <a:buNone/>
            </a:pPr>
            <a:r>
              <a:rPr lang="en-US" sz="1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Ako je trenutni </a:t>
            </a:r>
            <a:r>
              <a:rPr lang="en-US" sz="172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</a:t>
            </a:r>
            <a:r>
              <a:rPr lang="en-US" sz="1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2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vođa</a:t>
            </a:r>
            <a:r>
              <a:rPr lang="en-US" sz="172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2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72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 predloženu vrednost, poziva lep.ets, Propose | val.</a:t>
            </a:r>
            <a:endParaRPr lang="en-US" sz="1720" dirty="0"/>
          </a:p>
          <a:p>
            <a:pPr marL="0" indent="0">
              <a:buNone/>
            </a:pPr>
            <a:r>
              <a:rPr lang="en-US" sz="1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Kada lep odluči, čita se epochdecision i upisuje konačna decision.</a:t>
            </a:r>
            <a:endParaRPr lang="en-US" sz="1720" dirty="0"/>
          </a:p>
        </p:txBody>
      </p:sp>
      <p:sp>
        <p:nvSpPr>
          <p:cNvPr id="7" name="Shape 5"/>
          <p:cNvSpPr/>
          <p:nvPr/>
        </p:nvSpPr>
        <p:spPr>
          <a:xfrm>
            <a:off x="6611111" y="1121447"/>
            <a:ext cx="5075791" cy="527935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33298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6560" y="1161941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408177"/>
            <a:ext cx="4843494" cy="47587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Oporavak</a:t>
            </a:r>
            <a:r>
              <a:rPr lang="en-US" sz="2700" b="1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 </a:t>
            </a: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Leader-Driven Consensus-u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21792" y="804672"/>
            <a:ext cx="1101852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353312"/>
            <a:ext cx="1051560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Proces može propustiti StartEpoch događaj iz epoch-change </a:t>
            </a:r>
            <a:r>
              <a:rPr lang="en-US" sz="180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Tada nakon recovery-ja čita startts i startℓ i vidi da je nova epoha </a:t>
            </a:r>
            <a:r>
              <a:rPr lang="en-US" sz="1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već</a:t>
            </a: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započeta</a:t>
            </a:r>
            <a:r>
              <a:rPr lang="en-US" sz="1800" dirty="0" smtClean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Proces može propustiti Decide događaj iz epoch consensus instance.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Tada nakon recovery-ja čita epochdecision i pretvara ga u finalnu decision.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Algoritam loguje i sopstveno stanje: timestamp/lider trenutne epohe i decision.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Nakon obnove stanja proverava uslove i nastavlja rad kao da događaji nisu izgubljeni.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5883</TotalTime>
  <Words>1062</Words>
  <Application>Microsoft Office PowerPoint</Application>
  <PresentationFormat>Widescreen</PresentationFormat>
  <Paragraphs>124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Logged Consensus</dc:title>
  <dc:subject>Logged Consensus presentation</dc:subject>
  <dc:creator>OpenAI</dc:creator>
  <cp:lastModifiedBy>Microsoft account</cp:lastModifiedBy>
  <cp:revision>31</cp:revision>
  <dcterms:created xsi:type="dcterms:W3CDTF">2026-05-23T00:22:48Z</dcterms:created>
  <dcterms:modified xsi:type="dcterms:W3CDTF">2026-07-14T18:36:41Z</dcterms:modified>
</cp:coreProperties>
</file>