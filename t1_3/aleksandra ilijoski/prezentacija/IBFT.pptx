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E486"/>
    <a:srgbClr val="E4F165"/>
    <a:srgbClr val="297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99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1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40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29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5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5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79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35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65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15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1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19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8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D4F8886-DA16-46F1-B0B6-41C4A18861A1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EBFD30-DF4E-459F-855A-43E7DDF5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2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0" y="1136228"/>
            <a:ext cx="8574622" cy="2616199"/>
          </a:xfrm>
        </p:spPr>
        <p:txBody>
          <a:bodyPr/>
          <a:lstStyle/>
          <a:p>
            <a:r>
              <a:rPr lang="en-US" dirty="0">
                <a:solidFill>
                  <a:srgbClr val="297F40"/>
                </a:solidFill>
              </a:rPr>
              <a:t> </a:t>
            </a:r>
            <a:r>
              <a:rPr lang="en-US" b="1" dirty="0">
                <a:solidFill>
                  <a:srgbClr val="297F40"/>
                </a:solidFill>
              </a:rPr>
              <a:t>Istanbul Byzantine Fault </a:t>
            </a:r>
            <a:r>
              <a:rPr lang="en-US" b="1" dirty="0" smtClean="0">
                <a:solidFill>
                  <a:srgbClr val="297F40"/>
                </a:solidFill>
              </a:rPr>
              <a:t>Tolerance (IBFT)</a:t>
            </a:r>
            <a:endParaRPr lang="en-US" dirty="0">
              <a:solidFill>
                <a:srgbClr val="297F4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Aleksandra </a:t>
            </a:r>
            <a:r>
              <a:rPr lang="en-US" dirty="0" err="1" smtClean="0"/>
              <a:t>Ilijoski</a:t>
            </a:r>
            <a:r>
              <a:rPr lang="en-US" dirty="0" smtClean="0"/>
              <a:t> E2 87/2025</a:t>
            </a:r>
          </a:p>
          <a:p>
            <a:r>
              <a:rPr lang="en-US" sz="1800" dirty="0" err="1" smtClean="0"/>
              <a:t>Primenjeni</a:t>
            </a:r>
            <a:r>
              <a:rPr lang="en-US" sz="1800" dirty="0" smtClean="0"/>
              <a:t> </a:t>
            </a:r>
            <a:r>
              <a:rPr lang="en-US" sz="1800" dirty="0" err="1" smtClean="0"/>
              <a:t>algoritmi</a:t>
            </a:r>
            <a:r>
              <a:rPr lang="en-US" sz="1800" dirty="0" smtClean="0"/>
              <a:t> u </a:t>
            </a:r>
            <a:r>
              <a:rPr lang="en-US" sz="1800" dirty="0" err="1" smtClean="0"/>
              <a:t>upravlja</a:t>
            </a:r>
            <a:r>
              <a:rPr lang="sr-Latn-RS" sz="1800" dirty="0" err="1" smtClean="0"/>
              <a:t>čkim</a:t>
            </a:r>
            <a:r>
              <a:rPr lang="sr-Latn-RS" sz="1800" dirty="0" smtClean="0"/>
              <a:t> </a:t>
            </a:r>
            <a:r>
              <a:rPr lang="sr-Latn-RS" sz="1800" dirty="0" err="1" smtClean="0"/>
              <a:t>sistemina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0408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243" y="346166"/>
            <a:ext cx="10018713" cy="4288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smtClean="0"/>
              <a:t>je IBFT</a:t>
            </a:r>
            <a:r>
              <a:rPr lang="sr-Latn-RS" dirty="0" smtClean="0"/>
              <a:t> i zašto baš 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287" y="1001486"/>
            <a:ext cx="10018713" cy="5743303"/>
          </a:xfrm>
        </p:spPr>
        <p:txBody>
          <a:bodyPr>
            <a:normAutofit/>
          </a:bodyPr>
          <a:lstStyle/>
          <a:p>
            <a:r>
              <a:rPr lang="sr-Latn-RS" sz="2200" b="1" dirty="0"/>
              <a:t>k</a:t>
            </a:r>
            <a:r>
              <a:rPr lang="sr-Latn-RS" sz="2200" b="1" dirty="0" smtClean="0"/>
              <a:t>onsenzus algoritam </a:t>
            </a:r>
            <a:r>
              <a:rPr lang="sr-Latn-RS" sz="2200" dirty="0" smtClean="0"/>
              <a:t>koji je postao </a:t>
            </a:r>
            <a:r>
              <a:rPr lang="en-US" sz="2200" dirty="0" smtClean="0"/>
              <a:t>standard </a:t>
            </a:r>
            <a:r>
              <a:rPr lang="en-US" sz="2200" dirty="0" err="1"/>
              <a:t>za</a:t>
            </a:r>
            <a:r>
              <a:rPr lang="en-US" sz="2200" dirty="0"/>
              <a:t> </a:t>
            </a:r>
            <a:r>
              <a:rPr lang="en-US" sz="2200" i="1" dirty="0"/>
              <a:t>enterprise</a:t>
            </a:r>
            <a:r>
              <a:rPr lang="en-US" sz="2200" dirty="0"/>
              <a:t> </a:t>
            </a:r>
            <a:r>
              <a:rPr lang="en-US" sz="2200" dirty="0" err="1"/>
              <a:t>blockchain</a:t>
            </a:r>
            <a:r>
              <a:rPr lang="en-US" sz="2200" dirty="0"/>
              <a:t> </a:t>
            </a:r>
            <a:r>
              <a:rPr lang="en-US" sz="2200" dirty="0" err="1" smtClean="0"/>
              <a:t>rešenja</a:t>
            </a:r>
            <a:r>
              <a:rPr lang="sr-Latn-RS" sz="2200" dirty="0" smtClean="0"/>
              <a:t> danas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dirty="0" err="1"/>
              <a:t>najpoznatiji</a:t>
            </a:r>
            <a:r>
              <a:rPr lang="en-US" sz="2200" dirty="0"/>
              <a:t> primer je </a:t>
            </a:r>
            <a:r>
              <a:rPr lang="en-US" sz="2200" b="1" dirty="0"/>
              <a:t>Quorum</a:t>
            </a:r>
            <a:r>
              <a:rPr lang="en-US" sz="2200" dirty="0" smtClean="0"/>
              <a:t>)</a:t>
            </a:r>
            <a:endParaRPr lang="sr-Latn-RS" sz="2200" dirty="0" smtClean="0"/>
          </a:p>
          <a:p>
            <a:r>
              <a:rPr lang="sr-Latn-RS" sz="2200" dirty="0"/>
              <a:t>p</a:t>
            </a:r>
            <a:r>
              <a:rPr lang="en-US" sz="2200" dirty="0" smtClean="0"/>
              <a:t>re </a:t>
            </a:r>
            <a:r>
              <a:rPr lang="en-US" sz="2200" dirty="0"/>
              <a:t>2020. </a:t>
            </a:r>
            <a:r>
              <a:rPr lang="en-US" sz="2200" dirty="0" err="1"/>
              <a:t>godine</a:t>
            </a:r>
            <a:r>
              <a:rPr lang="en-US" sz="2200" dirty="0"/>
              <a:t>, IBFT se </a:t>
            </a:r>
            <a:r>
              <a:rPr lang="en-US" sz="2200" dirty="0" err="1"/>
              <a:t>oslanjao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dirty="0" err="1"/>
              <a:t>neformalne</a:t>
            </a:r>
            <a:r>
              <a:rPr lang="en-US" sz="2200" dirty="0"/>
              <a:t> </a:t>
            </a:r>
            <a:r>
              <a:rPr lang="en-US" sz="2200" dirty="0" err="1"/>
              <a:t>specifikacije</a:t>
            </a:r>
            <a:r>
              <a:rPr lang="en-US" sz="2200" dirty="0"/>
              <a:t>, </a:t>
            </a:r>
            <a:r>
              <a:rPr lang="en-US" sz="2200" dirty="0" err="1"/>
              <a:t>što</a:t>
            </a:r>
            <a:r>
              <a:rPr lang="en-US" sz="2200" dirty="0"/>
              <a:t> je </a:t>
            </a:r>
            <a:r>
              <a:rPr lang="en-US" sz="2200" dirty="0" err="1"/>
              <a:t>uzrokovalo</a:t>
            </a:r>
            <a:r>
              <a:rPr lang="en-US" sz="2200" dirty="0"/>
              <a:t> </a:t>
            </a:r>
            <a:r>
              <a:rPr lang="en-US" sz="2200" dirty="0" err="1" smtClean="0"/>
              <a:t>mrtve</a:t>
            </a:r>
            <a:r>
              <a:rPr lang="en-US" sz="2200" dirty="0" smtClean="0"/>
              <a:t> </a:t>
            </a:r>
            <a:r>
              <a:rPr lang="en-US" sz="2200" dirty="0" err="1" smtClean="0"/>
              <a:t>petlje</a:t>
            </a:r>
            <a:r>
              <a:rPr lang="en-US" sz="2200" dirty="0" smtClean="0"/>
              <a:t> </a:t>
            </a:r>
            <a:r>
              <a:rPr lang="en-US" sz="2200" dirty="0"/>
              <a:t>(</a:t>
            </a:r>
            <a:r>
              <a:rPr lang="en-US" sz="2200" i="1" dirty="0"/>
              <a:t>deadlock</a:t>
            </a:r>
            <a:r>
              <a:rPr lang="en-US" sz="2200" dirty="0"/>
              <a:t>)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sr-Latn-RS" sz="2200" dirty="0" smtClean="0"/>
              <a:t>narušavanja integriteta podataka</a:t>
            </a:r>
          </a:p>
          <a:p>
            <a:r>
              <a:rPr lang="sr-Latn-RS" sz="2200" dirty="0" err="1"/>
              <a:t>n</a:t>
            </a:r>
            <a:r>
              <a:rPr lang="en-US" sz="2200" dirty="0" err="1" smtClean="0"/>
              <a:t>aučni</a:t>
            </a:r>
            <a:r>
              <a:rPr lang="en-US" sz="2200" dirty="0" smtClean="0"/>
              <a:t> </a:t>
            </a:r>
            <a:r>
              <a:rPr lang="en-US" sz="2200" dirty="0"/>
              <a:t>rad </a:t>
            </a:r>
            <a:r>
              <a:rPr lang="en-US" sz="2200" dirty="0" err="1"/>
              <a:t>koji</a:t>
            </a:r>
            <a:r>
              <a:rPr lang="en-US" sz="2200" dirty="0"/>
              <a:t> </a:t>
            </a:r>
            <a:r>
              <a:rPr lang="en-US" sz="2200" dirty="0" err="1"/>
              <a:t>analiziramo</a:t>
            </a:r>
            <a:r>
              <a:rPr lang="en-US" sz="2200" dirty="0"/>
              <a:t> (</a:t>
            </a:r>
            <a:r>
              <a:rPr lang="en-US" sz="2200" dirty="0" err="1"/>
              <a:t>autor</a:t>
            </a:r>
            <a:r>
              <a:rPr lang="en-US" sz="2200" dirty="0"/>
              <a:t> Henrique Moniz) </a:t>
            </a:r>
            <a:r>
              <a:rPr lang="en-US" sz="2200" dirty="0" err="1"/>
              <a:t>donosi</a:t>
            </a:r>
            <a:r>
              <a:rPr lang="en-US" sz="2200" dirty="0"/>
              <a:t> </a:t>
            </a:r>
            <a:r>
              <a:rPr lang="en-US" sz="2200" dirty="0" err="1"/>
              <a:t>prvu</a:t>
            </a:r>
            <a:r>
              <a:rPr lang="en-US" sz="2200" dirty="0"/>
              <a:t> </a:t>
            </a:r>
            <a:r>
              <a:rPr lang="en-US" sz="2200" b="1" dirty="0" err="1"/>
              <a:t>formalnu</a:t>
            </a:r>
            <a:r>
              <a:rPr lang="en-US" sz="2200" b="1" dirty="0"/>
              <a:t> </a:t>
            </a:r>
            <a:r>
              <a:rPr lang="en-US" sz="2200" b="1" dirty="0" err="1"/>
              <a:t>specifikaciju</a:t>
            </a:r>
            <a:r>
              <a:rPr lang="en-US" sz="2200" b="1" dirty="0"/>
              <a:t> </a:t>
            </a:r>
            <a:r>
              <a:rPr lang="en-US" sz="2200" b="1" dirty="0" err="1"/>
              <a:t>i</a:t>
            </a:r>
            <a:r>
              <a:rPr lang="en-US" sz="2200" b="1" dirty="0"/>
              <a:t> </a:t>
            </a:r>
            <a:r>
              <a:rPr lang="en-US" sz="2200" b="1" dirty="0" err="1"/>
              <a:t>dokaze</a:t>
            </a:r>
            <a:r>
              <a:rPr lang="en-US" sz="2200" b="1" dirty="0"/>
              <a:t> </a:t>
            </a:r>
            <a:r>
              <a:rPr lang="en-US" sz="2200" b="1" dirty="0" err="1"/>
              <a:t>ispravnosti</a:t>
            </a:r>
            <a:r>
              <a:rPr lang="en-US" sz="2200" dirty="0"/>
              <a:t>, </a:t>
            </a:r>
            <a:r>
              <a:rPr lang="en-US" sz="2200" dirty="0" err="1"/>
              <a:t>čineći</a:t>
            </a:r>
            <a:r>
              <a:rPr lang="en-US" sz="2200" dirty="0"/>
              <a:t> </a:t>
            </a:r>
            <a:r>
              <a:rPr lang="en-US" sz="2200" dirty="0" err="1"/>
              <a:t>sistem</a:t>
            </a:r>
            <a:r>
              <a:rPr lang="en-US" sz="2200" dirty="0"/>
              <a:t> </a:t>
            </a:r>
            <a:r>
              <a:rPr lang="en-US" sz="2200" dirty="0" err="1"/>
              <a:t>stabilnim</a:t>
            </a:r>
            <a:r>
              <a:rPr lang="en-US" sz="2200" dirty="0"/>
              <a:t> </a:t>
            </a:r>
            <a:r>
              <a:rPr lang="en-US" sz="2200" dirty="0" err="1" smtClean="0"/>
              <a:t>za</a:t>
            </a:r>
            <a:r>
              <a:rPr lang="en-US" sz="2200" dirty="0" smtClean="0"/>
              <a:t> </a:t>
            </a:r>
            <a:r>
              <a:rPr lang="en-US" sz="2200" dirty="0" err="1"/>
              <a:t>finansijske</a:t>
            </a:r>
            <a:r>
              <a:rPr lang="en-US" sz="2200" dirty="0"/>
              <a:t> </a:t>
            </a:r>
            <a:r>
              <a:rPr lang="en-US" sz="2200" dirty="0" err="1"/>
              <a:t>sisteme</a:t>
            </a:r>
            <a:r>
              <a:rPr lang="en-US" sz="2200" dirty="0"/>
              <a:t> </a:t>
            </a:r>
            <a:r>
              <a:rPr lang="en-US" sz="2200" dirty="0" err="1"/>
              <a:t>gde</a:t>
            </a:r>
            <a:r>
              <a:rPr lang="en-US" sz="2200" dirty="0"/>
              <a:t> </a:t>
            </a:r>
            <a:r>
              <a:rPr lang="en-US" sz="2200" dirty="0" err="1"/>
              <a:t>greška</a:t>
            </a:r>
            <a:r>
              <a:rPr lang="en-US" sz="2200" dirty="0"/>
              <a:t> </a:t>
            </a:r>
            <a:r>
              <a:rPr lang="en-US" sz="2200" dirty="0" err="1"/>
              <a:t>nije</a:t>
            </a:r>
            <a:r>
              <a:rPr lang="en-US" sz="2200" dirty="0"/>
              <a:t> </a:t>
            </a:r>
            <a:r>
              <a:rPr lang="en-US" sz="2200" dirty="0" err="1" smtClean="0"/>
              <a:t>opcija</a:t>
            </a:r>
            <a:endParaRPr lang="sr-Latn-RS" sz="2200" dirty="0"/>
          </a:p>
          <a:p>
            <a:endParaRPr lang="sr-Latn-RS" sz="2200" dirty="0"/>
          </a:p>
          <a:p>
            <a:r>
              <a:rPr lang="sr-Latn-RS" sz="2200" b="1" dirty="0" err="1"/>
              <a:t>e</a:t>
            </a:r>
            <a:r>
              <a:rPr lang="en-US" sz="2200" b="1" dirty="0" err="1" smtClean="0"/>
              <a:t>fikasnost</a:t>
            </a:r>
            <a:r>
              <a:rPr lang="en-US" sz="2200" b="1" dirty="0"/>
              <a:t>:</a:t>
            </a:r>
            <a:r>
              <a:rPr lang="en-US" sz="2200" dirty="0"/>
              <a:t> U </a:t>
            </a:r>
            <a:r>
              <a:rPr lang="en-US" sz="2200" dirty="0" err="1"/>
              <a:t>privatnim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konzorcijumskim</a:t>
            </a:r>
            <a:r>
              <a:rPr lang="en-US" sz="2200" dirty="0"/>
              <a:t> </a:t>
            </a:r>
            <a:r>
              <a:rPr lang="en-US" sz="2200" dirty="0" err="1"/>
              <a:t>mrežama</a:t>
            </a:r>
            <a:r>
              <a:rPr lang="en-US" sz="2200" dirty="0"/>
              <a:t> (</a:t>
            </a:r>
            <a:r>
              <a:rPr lang="en-US" sz="2200" dirty="0" err="1"/>
              <a:t>gde</a:t>
            </a:r>
            <a:r>
              <a:rPr lang="en-US" sz="2200" dirty="0"/>
              <a:t> </a:t>
            </a:r>
            <a:r>
              <a:rPr lang="en-US" sz="2200" dirty="0" err="1"/>
              <a:t>znamo</a:t>
            </a:r>
            <a:r>
              <a:rPr lang="en-US" sz="2200" dirty="0"/>
              <a:t> </a:t>
            </a:r>
            <a:r>
              <a:rPr lang="en-US" sz="2200" dirty="0" err="1"/>
              <a:t>ko</a:t>
            </a:r>
            <a:r>
              <a:rPr lang="en-US" sz="2200" dirty="0"/>
              <a:t> </a:t>
            </a:r>
            <a:r>
              <a:rPr lang="en-US" sz="2200" dirty="0" err="1"/>
              <a:t>su</a:t>
            </a:r>
            <a:r>
              <a:rPr lang="en-US" sz="2200" dirty="0"/>
              <a:t> </a:t>
            </a:r>
            <a:r>
              <a:rPr lang="en-US" sz="2200" dirty="0" err="1"/>
              <a:t>učesnici</a:t>
            </a:r>
            <a:r>
              <a:rPr lang="en-US" sz="2200" dirty="0"/>
              <a:t>), Proof of Work je </a:t>
            </a:r>
            <a:r>
              <a:rPr lang="en-US" sz="2200" dirty="0" err="1"/>
              <a:t>prespor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troši</a:t>
            </a:r>
            <a:r>
              <a:rPr lang="en-US" sz="2200" dirty="0"/>
              <a:t> </a:t>
            </a:r>
            <a:r>
              <a:rPr lang="en-US" sz="2200" dirty="0" err="1"/>
              <a:t>previše</a:t>
            </a:r>
            <a:r>
              <a:rPr lang="en-US" sz="2200" dirty="0"/>
              <a:t> </a:t>
            </a:r>
            <a:r>
              <a:rPr lang="en-US" sz="2200" dirty="0" err="1" smtClean="0"/>
              <a:t>energije</a:t>
            </a:r>
            <a:endParaRPr lang="en-US" sz="2200" dirty="0"/>
          </a:p>
          <a:p>
            <a:r>
              <a:rPr lang="sr-Latn-RS" sz="2200" b="1" dirty="0" err="1"/>
              <a:t>i</a:t>
            </a:r>
            <a:r>
              <a:rPr lang="en-US" sz="2200" b="1" dirty="0" err="1" smtClean="0"/>
              <a:t>nstantna</a:t>
            </a:r>
            <a:r>
              <a:rPr lang="en-US" sz="2200" b="1" dirty="0" smtClean="0"/>
              <a:t> </a:t>
            </a:r>
            <a:r>
              <a:rPr lang="en-US" sz="2200" b="1" dirty="0" err="1"/>
              <a:t>finalnost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  <a:r>
              <a:rPr lang="en-US" sz="2200" dirty="0" err="1"/>
              <a:t>Za</a:t>
            </a:r>
            <a:r>
              <a:rPr lang="en-US" sz="2200" dirty="0"/>
              <a:t> </a:t>
            </a:r>
            <a:r>
              <a:rPr lang="en-US" sz="2200" dirty="0" err="1"/>
              <a:t>razliku</a:t>
            </a:r>
            <a:r>
              <a:rPr lang="en-US" sz="2200" dirty="0"/>
              <a:t> od </a:t>
            </a:r>
            <a:r>
              <a:rPr lang="en-US" sz="2200" dirty="0" err="1"/>
              <a:t>Bitkoina</a:t>
            </a:r>
            <a:r>
              <a:rPr lang="en-US" sz="2200" dirty="0"/>
              <a:t> </a:t>
            </a:r>
            <a:r>
              <a:rPr lang="en-US" sz="2200" dirty="0" err="1"/>
              <a:t>gde</a:t>
            </a:r>
            <a:r>
              <a:rPr lang="en-US" sz="2200" dirty="0"/>
              <a:t> se </a:t>
            </a:r>
            <a:r>
              <a:rPr lang="en-US" sz="2200" dirty="0" err="1"/>
              <a:t>čeka</a:t>
            </a:r>
            <a:r>
              <a:rPr lang="en-US" sz="2200" dirty="0"/>
              <a:t> </a:t>
            </a:r>
            <a:r>
              <a:rPr lang="en-US" sz="2200" dirty="0" err="1"/>
              <a:t>više</a:t>
            </a:r>
            <a:r>
              <a:rPr lang="en-US" sz="2200" dirty="0"/>
              <a:t> </a:t>
            </a:r>
            <a:r>
              <a:rPr lang="en-US" sz="2200" dirty="0" err="1"/>
              <a:t>potvrda</a:t>
            </a:r>
            <a:r>
              <a:rPr lang="en-US" sz="2200" dirty="0"/>
              <a:t>, </a:t>
            </a:r>
            <a:r>
              <a:rPr lang="en-US" sz="2200" dirty="0" err="1"/>
              <a:t>kod</a:t>
            </a:r>
            <a:r>
              <a:rPr lang="en-US" sz="2200" dirty="0"/>
              <a:t> IBFT-a je </a:t>
            </a:r>
            <a:r>
              <a:rPr lang="en-US" sz="2200" b="1" dirty="0" err="1"/>
              <a:t>blok</a:t>
            </a:r>
            <a:r>
              <a:rPr lang="en-US" sz="2200" b="1" dirty="0"/>
              <a:t> </a:t>
            </a:r>
            <a:r>
              <a:rPr lang="en-US" sz="2200" b="1" dirty="0" err="1"/>
              <a:t>finalan</a:t>
            </a:r>
            <a:r>
              <a:rPr lang="en-US" sz="2200" b="1" dirty="0"/>
              <a:t> </a:t>
            </a:r>
            <a:r>
              <a:rPr lang="en-US" sz="2200" b="1" dirty="0" err="1"/>
              <a:t>čim</a:t>
            </a:r>
            <a:r>
              <a:rPr lang="en-US" sz="2200" b="1" dirty="0"/>
              <a:t> se </a:t>
            </a:r>
            <a:r>
              <a:rPr lang="en-US" sz="2200" b="1" dirty="0" err="1"/>
              <a:t>upiše</a:t>
            </a:r>
            <a:r>
              <a:rPr lang="en-US" sz="2200" dirty="0"/>
              <a:t>. </a:t>
            </a:r>
            <a:r>
              <a:rPr lang="en-US" sz="2200" dirty="0" err="1"/>
              <a:t>Nema</a:t>
            </a:r>
            <a:r>
              <a:rPr lang="en-US" sz="2200" dirty="0"/>
              <a:t> </a:t>
            </a:r>
            <a:r>
              <a:rPr lang="en-US" sz="2200" dirty="0" err="1"/>
              <a:t>grananja</a:t>
            </a:r>
            <a:r>
              <a:rPr lang="en-US" sz="2200" dirty="0"/>
              <a:t> (</a:t>
            </a:r>
            <a:r>
              <a:rPr lang="en-US" sz="2200" i="1" dirty="0"/>
              <a:t>forking</a:t>
            </a:r>
            <a:r>
              <a:rPr lang="en-US" sz="2200" dirty="0"/>
              <a:t>) </a:t>
            </a:r>
            <a:r>
              <a:rPr lang="en-US" sz="2200" dirty="0" err="1" smtClean="0"/>
              <a:t>mreže</a:t>
            </a:r>
            <a:endParaRPr lang="en-US" sz="2200" dirty="0"/>
          </a:p>
          <a:p>
            <a:r>
              <a:rPr lang="sr-Latn-RS" sz="2200" b="1" dirty="0" err="1"/>
              <a:t>p</a:t>
            </a:r>
            <a:r>
              <a:rPr lang="en-US" sz="2200" b="1" dirty="0" err="1" smtClean="0"/>
              <a:t>oznati</a:t>
            </a:r>
            <a:r>
              <a:rPr lang="en-US" sz="2200" b="1" dirty="0" smtClean="0"/>
              <a:t> </a:t>
            </a:r>
            <a:r>
              <a:rPr lang="en-US" sz="2200" b="1" dirty="0" err="1"/>
              <a:t>identiteti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  <a:r>
              <a:rPr lang="en-US" sz="2200" dirty="0" err="1"/>
              <a:t>Algoritam</a:t>
            </a:r>
            <a:r>
              <a:rPr lang="en-US" sz="2200" dirty="0"/>
              <a:t> je </a:t>
            </a:r>
            <a:r>
              <a:rPr lang="en-US" sz="2200" dirty="0" err="1"/>
              <a:t>idealan</a:t>
            </a:r>
            <a:r>
              <a:rPr lang="en-US" sz="2200" dirty="0"/>
              <a:t> </a:t>
            </a:r>
            <a:r>
              <a:rPr lang="en-US" sz="2200" dirty="0" err="1"/>
              <a:t>za</a:t>
            </a:r>
            <a:r>
              <a:rPr lang="en-US" sz="2200" dirty="0"/>
              <a:t> </a:t>
            </a:r>
            <a:r>
              <a:rPr lang="en-US" sz="2200" dirty="0" err="1"/>
              <a:t>sisteme</a:t>
            </a:r>
            <a:r>
              <a:rPr lang="en-US" sz="2200" dirty="0"/>
              <a:t> </a:t>
            </a:r>
            <a:r>
              <a:rPr lang="en-US" sz="2200" dirty="0" err="1"/>
              <a:t>gde</a:t>
            </a:r>
            <a:r>
              <a:rPr lang="en-US" sz="2200" dirty="0"/>
              <a:t> </a:t>
            </a:r>
            <a:r>
              <a:rPr lang="en-US" sz="2200" dirty="0" err="1"/>
              <a:t>su</a:t>
            </a:r>
            <a:r>
              <a:rPr lang="en-US" sz="2200" dirty="0"/>
              <a:t> </a:t>
            </a:r>
            <a:r>
              <a:rPr lang="en-US" sz="2200" dirty="0" err="1"/>
              <a:t>validatori</a:t>
            </a:r>
            <a:r>
              <a:rPr lang="en-US" sz="2200" dirty="0"/>
              <a:t> </a:t>
            </a:r>
            <a:r>
              <a:rPr lang="en-US" sz="2200" dirty="0" err="1"/>
              <a:t>unapred</a:t>
            </a:r>
            <a:r>
              <a:rPr lang="en-US" sz="2200" dirty="0"/>
              <a:t> </a:t>
            </a:r>
            <a:r>
              <a:rPr lang="en-US" sz="2200" dirty="0" err="1"/>
              <a:t>definisani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poznati</a:t>
            </a:r>
            <a:r>
              <a:rPr lang="en-US" sz="2200" dirty="0"/>
              <a:t> </a:t>
            </a:r>
            <a:r>
              <a:rPr lang="en-US" sz="2200" dirty="0" err="1"/>
              <a:t>jedni</a:t>
            </a:r>
            <a:r>
              <a:rPr lang="en-US" sz="2200" dirty="0"/>
              <a:t> </a:t>
            </a:r>
            <a:r>
              <a:rPr lang="en-US" sz="2200" dirty="0" err="1" smtClean="0"/>
              <a:t>drugima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6244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608" y="215537"/>
            <a:ext cx="10018713" cy="55081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 smtClean="0"/>
              <a:t>terminologija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7841" y="1062447"/>
            <a:ext cx="10336074" cy="5930537"/>
          </a:xfrm>
        </p:spPr>
        <p:txBody>
          <a:bodyPr>
            <a:normAutofit fontScale="92500"/>
          </a:bodyPr>
          <a:lstStyle/>
          <a:p>
            <a:r>
              <a:rPr lang="en-US" dirty="0"/>
              <a:t>IBFT </a:t>
            </a:r>
            <a:r>
              <a:rPr lang="en-US" dirty="0" err="1"/>
              <a:t>vuče</a:t>
            </a:r>
            <a:r>
              <a:rPr lang="en-US" dirty="0"/>
              <a:t> </a:t>
            </a:r>
            <a:r>
              <a:rPr lang="en-US" dirty="0" err="1"/>
              <a:t>korene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PBFT </a:t>
            </a:r>
            <a:r>
              <a:rPr lang="en-US" dirty="0" err="1" smtClean="0"/>
              <a:t>algoritma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trofazno</a:t>
            </a:r>
            <a:r>
              <a:rPr lang="en-US" dirty="0"/>
              <a:t> </a:t>
            </a:r>
            <a:r>
              <a:rPr lang="en-US" dirty="0" err="1"/>
              <a:t>glasanje</a:t>
            </a:r>
            <a:r>
              <a:rPr lang="en-US" dirty="0"/>
              <a:t>: </a:t>
            </a:r>
            <a:r>
              <a:rPr lang="en-US" b="1" dirty="0"/>
              <a:t>Pre-prepare, Prepare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smtClean="0"/>
              <a:t>Commit</a:t>
            </a:r>
            <a:endParaRPr lang="sr-Latn-RS" b="1" dirty="0" smtClean="0"/>
          </a:p>
          <a:p>
            <a:r>
              <a:rPr lang="en-US" dirty="0"/>
              <a:t>Pre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uđemo</a:t>
            </a:r>
            <a:r>
              <a:rPr lang="en-US" dirty="0"/>
              <a:t> u </a:t>
            </a:r>
            <a:r>
              <a:rPr lang="en-US" dirty="0" err="1"/>
              <a:t>detalje</a:t>
            </a:r>
            <a:r>
              <a:rPr lang="en-US" dirty="0"/>
              <a:t>, </a:t>
            </a:r>
            <a:r>
              <a:rPr lang="en-US" dirty="0" err="1"/>
              <a:t>definisaćemo</a:t>
            </a:r>
            <a:r>
              <a:rPr lang="en-US" dirty="0"/>
              <a:t> </a:t>
            </a:r>
            <a:r>
              <a:rPr lang="en-US" dirty="0" err="1"/>
              <a:t>ključne</a:t>
            </a:r>
            <a:r>
              <a:rPr lang="en-US" dirty="0"/>
              <a:t> </a:t>
            </a:r>
            <a:r>
              <a:rPr lang="en-US" dirty="0" err="1"/>
              <a:t>pojmove</a:t>
            </a:r>
            <a:r>
              <a:rPr lang="en-US" dirty="0"/>
              <a:t>:</a:t>
            </a:r>
          </a:p>
          <a:p>
            <a:pPr marL="0" lvl="0" indent="0">
              <a:buNone/>
            </a:pPr>
            <a:r>
              <a:rPr lang="sr-Latn-RS" b="1" dirty="0" smtClean="0"/>
              <a:t>		</a:t>
            </a:r>
            <a:r>
              <a:rPr lang="en-US" b="1" dirty="0" smtClean="0"/>
              <a:t>Validator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učestvuje</a:t>
            </a:r>
            <a:r>
              <a:rPr lang="en-US" dirty="0"/>
              <a:t> u </a:t>
            </a:r>
            <a:r>
              <a:rPr lang="en-US" dirty="0" err="1"/>
              <a:t>procesu</a:t>
            </a:r>
            <a:r>
              <a:rPr lang="en-US" dirty="0"/>
              <a:t> </a:t>
            </a:r>
            <a:r>
              <a:rPr lang="en-US" dirty="0" err="1"/>
              <a:t>postizanja</a:t>
            </a:r>
            <a:r>
              <a:rPr lang="en-US" dirty="0"/>
              <a:t> </a:t>
            </a:r>
            <a:r>
              <a:rPr lang="en-US" dirty="0" err="1" smtClean="0"/>
              <a:t>konsenzusa</a:t>
            </a:r>
            <a:endParaRPr lang="en-US" dirty="0"/>
          </a:p>
          <a:p>
            <a:pPr marL="0" lvl="0" indent="0">
              <a:buNone/>
            </a:pPr>
            <a:r>
              <a:rPr lang="sr-Latn-RS" b="1" dirty="0" smtClean="0"/>
              <a:t>		</a:t>
            </a:r>
            <a:r>
              <a:rPr lang="en-US" b="1" dirty="0" smtClean="0"/>
              <a:t>Proposer </a:t>
            </a:r>
            <a:r>
              <a:rPr lang="en-US" b="1" dirty="0"/>
              <a:t>(</a:t>
            </a:r>
            <a:r>
              <a:rPr lang="en-US" b="1" dirty="0" err="1"/>
              <a:t>Predlagač</a:t>
            </a:r>
            <a:r>
              <a:rPr lang="en-US" b="1" dirty="0"/>
              <a:t>):</a:t>
            </a:r>
            <a:r>
              <a:rPr lang="en-US" dirty="0"/>
              <a:t> Validator </a:t>
            </a:r>
            <a:r>
              <a:rPr lang="en-US" dirty="0" err="1"/>
              <a:t>izabran</a:t>
            </a:r>
            <a:r>
              <a:rPr lang="en-US" dirty="0"/>
              <a:t> da </a:t>
            </a:r>
            <a:r>
              <a:rPr lang="en-US" dirty="0" err="1"/>
              <a:t>predloži</a:t>
            </a:r>
            <a:r>
              <a:rPr lang="en-US" dirty="0"/>
              <a:t> </a:t>
            </a:r>
            <a:r>
              <a:rPr lang="en-US" dirty="0" err="1"/>
              <a:t>novi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u </a:t>
            </a:r>
            <a:r>
              <a:rPr lang="en-US" dirty="0" err="1"/>
              <a:t>određenoj</a:t>
            </a:r>
            <a:r>
              <a:rPr lang="en-US" dirty="0"/>
              <a:t> </a:t>
            </a:r>
            <a:r>
              <a:rPr lang="en-US" dirty="0" err="1" smtClean="0"/>
              <a:t>rundi</a:t>
            </a:r>
            <a:endParaRPr lang="sr-Latn-RS" dirty="0" smtClean="0"/>
          </a:p>
          <a:p>
            <a:pPr marL="0" lvl="0" indent="0">
              <a:buNone/>
            </a:pPr>
            <a:r>
              <a:rPr lang="sr-Latn-RS" b="1" dirty="0"/>
              <a:t>	</a:t>
            </a:r>
            <a:r>
              <a:rPr lang="sr-Latn-RS" b="1" dirty="0" smtClean="0"/>
              <a:t>	</a:t>
            </a:r>
            <a:r>
              <a:rPr lang="en-US" b="1" dirty="0" smtClean="0"/>
              <a:t>Round </a:t>
            </a:r>
            <a:r>
              <a:rPr lang="en-US" b="1" dirty="0"/>
              <a:t>(</a:t>
            </a:r>
            <a:r>
              <a:rPr lang="en-US" b="1" dirty="0" err="1"/>
              <a:t>Runda</a:t>
            </a:r>
            <a:r>
              <a:rPr lang="en-US" b="1" dirty="0"/>
              <a:t>):</a:t>
            </a:r>
            <a:r>
              <a:rPr lang="en-US" dirty="0"/>
              <a:t> </a:t>
            </a:r>
            <a:r>
              <a:rPr lang="en-US" dirty="0" err="1"/>
              <a:t>Pokušaj</a:t>
            </a:r>
            <a:r>
              <a:rPr lang="en-US" dirty="0"/>
              <a:t> da se </a:t>
            </a:r>
            <a:r>
              <a:rPr lang="en-US" dirty="0" err="1"/>
              <a:t>postigne</a:t>
            </a:r>
            <a:r>
              <a:rPr lang="en-US" dirty="0"/>
              <a:t> </a:t>
            </a:r>
            <a:r>
              <a:rPr lang="en-US" dirty="0" err="1"/>
              <a:t>dogovor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jedne</a:t>
            </a:r>
            <a:r>
              <a:rPr lang="en-US" dirty="0"/>
              <a:t> </a:t>
            </a:r>
            <a:r>
              <a:rPr lang="en-US" dirty="0" err="1"/>
              <a:t>sekvence</a:t>
            </a:r>
            <a:r>
              <a:rPr lang="en-US" dirty="0"/>
              <a:t>.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predlagač</a:t>
            </a:r>
            <a:r>
              <a:rPr lang="en-US" dirty="0"/>
              <a:t> ne </a:t>
            </a:r>
            <a:r>
              <a:rPr lang="en-US" dirty="0" err="1"/>
              <a:t>uspe</a:t>
            </a:r>
            <a:r>
              <a:rPr lang="en-US" dirty="0"/>
              <a:t> da </a:t>
            </a:r>
            <a:r>
              <a:rPr lang="en-US" dirty="0" err="1"/>
              <a:t>prikupi</a:t>
            </a:r>
            <a:r>
              <a:rPr lang="en-US" dirty="0"/>
              <a:t> </a:t>
            </a:r>
            <a:r>
              <a:rPr lang="en-US" dirty="0" err="1"/>
              <a:t>dovoljno</a:t>
            </a:r>
            <a:r>
              <a:rPr lang="en-US" dirty="0"/>
              <a:t> </a:t>
            </a:r>
            <a:r>
              <a:rPr lang="en-US" dirty="0" err="1"/>
              <a:t>glasova</a:t>
            </a:r>
            <a:r>
              <a:rPr lang="en-US" dirty="0"/>
              <a:t>, </a:t>
            </a:r>
            <a:r>
              <a:rPr lang="en-US" dirty="0" err="1"/>
              <a:t>runda</a:t>
            </a:r>
            <a:r>
              <a:rPr lang="en-US" dirty="0"/>
              <a:t> se </a:t>
            </a:r>
            <a:r>
              <a:rPr lang="en-US" dirty="0" err="1"/>
              <a:t>povećava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bira</a:t>
            </a:r>
            <a:r>
              <a:rPr lang="en-US" dirty="0"/>
              <a:t> se </a:t>
            </a:r>
            <a:r>
              <a:rPr lang="en-US" dirty="0" err="1"/>
              <a:t>novi</a:t>
            </a:r>
            <a:r>
              <a:rPr lang="en-US" dirty="0"/>
              <a:t> </a:t>
            </a:r>
            <a:r>
              <a:rPr lang="en-US" dirty="0" err="1" smtClean="0"/>
              <a:t>lider</a:t>
            </a:r>
            <a:endParaRPr lang="en-US" dirty="0"/>
          </a:p>
          <a:p>
            <a:pPr marL="0" lvl="0" indent="0">
              <a:buNone/>
            </a:pPr>
            <a:r>
              <a:rPr lang="sr-Latn-RS" b="1" dirty="0" smtClean="0"/>
              <a:t>		</a:t>
            </a:r>
            <a:r>
              <a:rPr lang="en-US" b="1" dirty="0" smtClean="0"/>
              <a:t>Sequence </a:t>
            </a:r>
            <a:r>
              <a:rPr lang="en-US" b="1" dirty="0"/>
              <a:t>(</a:t>
            </a:r>
            <a:r>
              <a:rPr lang="en-US" b="1" dirty="0" err="1"/>
              <a:t>Sekvenca</a:t>
            </a:r>
            <a:r>
              <a:rPr lang="en-US" b="1" dirty="0"/>
              <a:t>):</a:t>
            </a:r>
            <a:r>
              <a:rPr lang="en-US" dirty="0"/>
              <a:t> 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visinu</a:t>
            </a:r>
            <a:r>
              <a:rPr lang="en-US" dirty="0"/>
              <a:t> </a:t>
            </a:r>
            <a:r>
              <a:rPr lang="en-US" dirty="0" err="1"/>
              <a:t>blockchain</a:t>
            </a:r>
            <a:r>
              <a:rPr lang="en-US" dirty="0"/>
              <a:t>-a (</a:t>
            </a:r>
            <a:r>
              <a:rPr lang="en-US" dirty="0" err="1"/>
              <a:t>redni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bloka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pokušavamo</a:t>
            </a:r>
            <a:r>
              <a:rPr lang="en-US" dirty="0"/>
              <a:t> da </a:t>
            </a:r>
            <a:r>
              <a:rPr lang="en-US" dirty="0" err="1"/>
              <a:t>dodamo</a:t>
            </a:r>
            <a:r>
              <a:rPr lang="en-US" dirty="0" smtClean="0"/>
              <a:t>)</a:t>
            </a:r>
            <a:endParaRPr lang="en-US" dirty="0"/>
          </a:p>
          <a:p>
            <a:pPr marL="0" lvl="0" indent="0">
              <a:buNone/>
            </a:pPr>
            <a:r>
              <a:rPr lang="sr-Latn-RS" b="1" dirty="0" smtClean="0"/>
              <a:t>		</a:t>
            </a:r>
            <a:r>
              <a:rPr lang="en-US" b="1" dirty="0" smtClean="0"/>
              <a:t>Backlog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Privremeno</a:t>
            </a:r>
            <a:r>
              <a:rPr lang="en-US" dirty="0"/>
              <a:t> </a:t>
            </a:r>
            <a:r>
              <a:rPr lang="en-US" dirty="0" err="1"/>
              <a:t>skladište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poruke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stigle</a:t>
            </a:r>
            <a:r>
              <a:rPr lang="en-US" dirty="0"/>
              <a:t> "pre </a:t>
            </a:r>
            <a:r>
              <a:rPr lang="en-US" dirty="0" err="1"/>
              <a:t>vremena</a:t>
            </a:r>
            <a:r>
              <a:rPr lang="en-US" dirty="0"/>
              <a:t>"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budućih</a:t>
            </a:r>
            <a:r>
              <a:rPr lang="en-US" dirty="0"/>
              <a:t> </a:t>
            </a:r>
            <a:r>
              <a:rPr lang="en-US" dirty="0" err="1"/>
              <a:t>rundi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sekvenci</a:t>
            </a:r>
            <a:r>
              <a:rPr lang="en-US" dirty="0" smtClean="0"/>
              <a:t>)</a:t>
            </a:r>
            <a:endParaRPr lang="en-US" dirty="0"/>
          </a:p>
          <a:p>
            <a:pPr marL="0" lvl="0" indent="0">
              <a:buNone/>
            </a:pPr>
            <a:r>
              <a:rPr lang="sr-Latn-RS" b="1" dirty="0" smtClean="0"/>
              <a:t>		</a:t>
            </a:r>
            <a:r>
              <a:rPr lang="en-US" b="1" dirty="0" smtClean="0"/>
              <a:t>Consensus </a:t>
            </a:r>
            <a:r>
              <a:rPr lang="en-US" b="1" dirty="0"/>
              <a:t>proof (</a:t>
            </a:r>
            <a:r>
              <a:rPr lang="en-US" b="1" dirty="0" err="1"/>
              <a:t>Dokaz</a:t>
            </a:r>
            <a:r>
              <a:rPr lang="en-US" b="1" dirty="0"/>
              <a:t> </a:t>
            </a:r>
            <a:r>
              <a:rPr lang="en-US" b="1" dirty="0" err="1"/>
              <a:t>konsenzusa</a:t>
            </a:r>
            <a:r>
              <a:rPr lang="en-US" b="1" dirty="0"/>
              <a:t>):</a:t>
            </a:r>
            <a:r>
              <a:rPr lang="en-US" dirty="0"/>
              <a:t> 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digitalnih</a:t>
            </a:r>
            <a:r>
              <a:rPr lang="en-US" dirty="0"/>
              <a:t> </a:t>
            </a:r>
            <a:r>
              <a:rPr lang="en-US" dirty="0" err="1"/>
              <a:t>potpisa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dokazuju</a:t>
            </a:r>
            <a:r>
              <a:rPr lang="en-US" dirty="0"/>
              <a:t> da je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prošao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faze </a:t>
            </a:r>
            <a:r>
              <a:rPr lang="en-US" dirty="0" err="1"/>
              <a:t>i</a:t>
            </a:r>
            <a:r>
              <a:rPr lang="en-US" dirty="0"/>
              <a:t> da je </a:t>
            </a:r>
            <a:r>
              <a:rPr lang="en-US" dirty="0" err="1" smtClean="0"/>
              <a:t>validan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61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8150" y="496388"/>
            <a:ext cx="10018713" cy="5442857"/>
          </a:xfrm>
        </p:spPr>
        <p:txBody>
          <a:bodyPr/>
          <a:lstStyle/>
          <a:p>
            <a:pPr marL="0" indent="0" algn="ctr">
              <a:buNone/>
            </a:pPr>
            <a:r>
              <a:rPr lang="sr-Latn-RS" sz="3200" dirty="0" smtClean="0"/>
              <a:t>Zapis poruka</a:t>
            </a:r>
          </a:p>
          <a:p>
            <a:pPr marL="0" indent="0" algn="ctr">
              <a:buNone/>
            </a:pPr>
            <a:endParaRPr lang="sr-Latn-RS" sz="3200" dirty="0" smtClean="0"/>
          </a:p>
          <a:p>
            <a:r>
              <a:rPr lang="sr-Latn-RS" dirty="0" err="1"/>
              <a:t>s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/>
              <a:t>poruke</a:t>
            </a:r>
            <a:r>
              <a:rPr lang="en-US" dirty="0"/>
              <a:t> u </a:t>
            </a:r>
            <a:r>
              <a:rPr lang="en-US" dirty="0" err="1"/>
              <a:t>protokolu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predstavljene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torke</a:t>
            </a:r>
            <a:r>
              <a:rPr lang="en-US" dirty="0"/>
              <a:t> (</a:t>
            </a:r>
            <a:r>
              <a:rPr lang="en-US" dirty="0" err="1"/>
              <a:t>skupovi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 smtClean="0"/>
              <a:t>)</a:t>
            </a:r>
            <a:endParaRPr lang="sr-Latn-RS" dirty="0" smtClean="0"/>
          </a:p>
          <a:p>
            <a:r>
              <a:rPr lang="en-US" b="1" dirty="0" err="1"/>
              <a:t>četiri</a:t>
            </a:r>
            <a:r>
              <a:rPr lang="en-US" b="1" dirty="0"/>
              <a:t> </a:t>
            </a:r>
            <a:r>
              <a:rPr lang="en-US" b="1" dirty="0" err="1"/>
              <a:t>tipa</a:t>
            </a:r>
            <a:r>
              <a:rPr lang="en-US" b="1" dirty="0"/>
              <a:t> </a:t>
            </a:r>
            <a:r>
              <a:rPr lang="en-US" b="1" dirty="0" err="1"/>
              <a:t>poruka</a:t>
            </a:r>
            <a:r>
              <a:rPr lang="en-US" dirty="0"/>
              <a:t> 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podeljeni</a:t>
            </a:r>
            <a:r>
              <a:rPr lang="en-US" dirty="0"/>
              <a:t> u </a:t>
            </a:r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strukturne</a:t>
            </a:r>
            <a:r>
              <a:rPr lang="en-US" dirty="0"/>
              <a:t> </a:t>
            </a:r>
            <a:r>
              <a:rPr lang="en-US" dirty="0" err="1" smtClean="0"/>
              <a:t>kategorije</a:t>
            </a:r>
            <a:r>
              <a:rPr lang="sr-Latn-RS" dirty="0" smtClean="0"/>
              <a:t>:</a:t>
            </a:r>
          </a:p>
          <a:p>
            <a:pPr marL="0" indent="0">
              <a:buNone/>
            </a:pPr>
            <a:r>
              <a:rPr lang="en-US" b="1" dirty="0" err="1"/>
              <a:t>Uobičajene</a:t>
            </a:r>
            <a:r>
              <a:rPr lang="en-US" b="1" dirty="0"/>
              <a:t> </a:t>
            </a:r>
            <a:r>
              <a:rPr lang="en-US" b="1" dirty="0" err="1"/>
              <a:t>poruke</a:t>
            </a:r>
            <a:r>
              <a:rPr lang="en-US" b="1" dirty="0"/>
              <a:t>:</a:t>
            </a:r>
            <a:r>
              <a:rPr lang="en-US" dirty="0"/>
              <a:t> ⟨</a:t>
            </a:r>
            <a:r>
              <a:rPr lang="en-US" i="1" dirty="0" err="1"/>
              <a:t>tip</a:t>
            </a:r>
            <a:r>
              <a:rPr lang="en-US" dirty="0" err="1"/>
              <a:t>,</a:t>
            </a:r>
            <a:r>
              <a:rPr lang="en-US" i="1" dirty="0" err="1"/>
              <a:t>λ</a:t>
            </a:r>
            <a:r>
              <a:rPr lang="en-US" dirty="0" err="1"/>
              <a:t>,</a:t>
            </a:r>
            <a:r>
              <a:rPr lang="en-US" i="1" dirty="0" err="1"/>
              <a:t>r</a:t>
            </a:r>
            <a:r>
              <a:rPr lang="en-US" dirty="0" err="1"/>
              <a:t>,</a:t>
            </a:r>
            <a:r>
              <a:rPr lang="en-US" i="1" dirty="0" err="1"/>
              <a:t>value</a:t>
            </a:r>
            <a:r>
              <a:rPr lang="en-US" dirty="0"/>
              <a:t>⟩ </a:t>
            </a:r>
            <a:endParaRPr lang="sr-Latn-RS" dirty="0"/>
          </a:p>
          <a:p>
            <a:pPr marL="0" indent="0">
              <a:buNone/>
            </a:pPr>
            <a:r>
              <a:rPr lang="en-US" i="1" dirty="0" smtClean="0"/>
              <a:t>λ</a:t>
            </a:r>
            <a:r>
              <a:rPr lang="en-US" dirty="0"/>
              <a:t> </a:t>
            </a:r>
            <a:r>
              <a:rPr lang="sr-Latn-RS" dirty="0" smtClean="0"/>
              <a:t>- </a:t>
            </a:r>
            <a:r>
              <a:rPr lang="en-US" dirty="0" err="1" smtClean="0"/>
              <a:t>instanca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/>
              <a:t>visina</a:t>
            </a:r>
            <a:r>
              <a:rPr lang="en-US" dirty="0"/>
              <a:t> </a:t>
            </a:r>
            <a:r>
              <a:rPr lang="en-US" dirty="0" err="1" smtClean="0"/>
              <a:t>bloka</a:t>
            </a:r>
            <a:r>
              <a:rPr lang="en-US" dirty="0" smtClean="0"/>
              <a:t>)</a:t>
            </a:r>
            <a:endParaRPr lang="sr-Latn-RS" dirty="0" smtClean="0"/>
          </a:p>
          <a:p>
            <a:pPr marL="0" indent="0">
              <a:buNone/>
            </a:pPr>
            <a:r>
              <a:rPr lang="en-US" i="1" dirty="0" smtClean="0"/>
              <a:t>r</a:t>
            </a:r>
            <a:r>
              <a:rPr lang="en-US" dirty="0"/>
              <a:t> </a:t>
            </a:r>
            <a:r>
              <a:rPr lang="sr-Latn-RS" dirty="0" smtClean="0"/>
              <a:t>- </a:t>
            </a:r>
            <a:r>
              <a:rPr lang="en-US" dirty="0" err="1" smtClean="0"/>
              <a:t>runda</a:t>
            </a:r>
            <a:endParaRPr lang="sr-Latn-RS" dirty="0" smtClean="0"/>
          </a:p>
          <a:p>
            <a:pPr marL="0" indent="0">
              <a:buNone/>
            </a:pPr>
            <a:r>
              <a:rPr lang="sr-Latn-RS" i="1" dirty="0"/>
              <a:t>v</a:t>
            </a:r>
            <a:r>
              <a:rPr lang="en-US" i="1" dirty="0" err="1" smtClean="0"/>
              <a:t>alue</a:t>
            </a:r>
            <a:r>
              <a:rPr lang="sr-Latn-RS" dirty="0" smtClean="0"/>
              <a:t> – </a:t>
            </a:r>
            <a:r>
              <a:rPr lang="en-US" dirty="0" err="1" smtClean="0"/>
              <a:t>predlog</a:t>
            </a:r>
            <a:endParaRPr lang="sr-Latn-RS" dirty="0" smtClean="0"/>
          </a:p>
          <a:p>
            <a:pPr marL="0" indent="0">
              <a:buNone/>
            </a:pPr>
            <a:r>
              <a:rPr lang="sr-Latn-RS" dirty="0" smtClean="0"/>
              <a:t>*o</a:t>
            </a:r>
            <a:r>
              <a:rPr lang="en-US" dirty="0" err="1" smtClean="0"/>
              <a:t>vde</a:t>
            </a:r>
            <a:r>
              <a:rPr lang="en-US" dirty="0" smtClean="0"/>
              <a:t> </a:t>
            </a:r>
            <a:r>
              <a:rPr lang="en-US" dirty="0" err="1"/>
              <a:t>spadaju</a:t>
            </a:r>
            <a:r>
              <a:rPr lang="en-US" dirty="0"/>
              <a:t> PRE-PREPARE, </a:t>
            </a:r>
            <a:endParaRPr lang="sr-Latn-RS" dirty="0" smtClean="0"/>
          </a:p>
          <a:p>
            <a:pPr marL="0" indent="0">
              <a:buNone/>
            </a:pPr>
            <a:r>
              <a:rPr lang="sr-Latn-RS" dirty="0"/>
              <a:t>	</a:t>
            </a:r>
            <a:r>
              <a:rPr lang="en-US" dirty="0" smtClean="0"/>
              <a:t>PREPARE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4970" y="2856412"/>
            <a:ext cx="5251269" cy="276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b="1" dirty="0" err="1"/>
              <a:t>Poruka</a:t>
            </a:r>
            <a:r>
              <a:rPr lang="en-US" sz="2400" b="1" dirty="0"/>
              <a:t> </a:t>
            </a:r>
            <a:r>
              <a:rPr lang="en-US" sz="2400" b="1" dirty="0" err="1"/>
              <a:t>promene</a:t>
            </a:r>
            <a:r>
              <a:rPr lang="en-US" sz="2400" b="1" dirty="0"/>
              <a:t> </a:t>
            </a:r>
            <a:r>
              <a:rPr lang="en-US" sz="2400" b="1" dirty="0" err="1"/>
              <a:t>runde</a:t>
            </a:r>
            <a:r>
              <a:rPr lang="en-US" sz="2400" dirty="0"/>
              <a:t>: ⟨ROUND−</a:t>
            </a:r>
            <a:r>
              <a:rPr lang="en-US" sz="2400" dirty="0" err="1"/>
              <a:t>CHANGE,λ,r,pr,pv</a:t>
            </a:r>
            <a:r>
              <a:rPr lang="en-US" sz="2400" dirty="0"/>
              <a:t>⟩</a:t>
            </a:r>
            <a:endParaRPr lang="sr-Latn-RS" sz="2400" dirty="0"/>
          </a:p>
          <a:p>
            <a:pPr lvl="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err="1" smtClean="0"/>
              <a:t>pripremljen</a:t>
            </a:r>
            <a:r>
              <a:rPr lang="sr-Latn-RS" sz="2400" dirty="0" smtClean="0"/>
              <a:t>a</a:t>
            </a:r>
            <a:r>
              <a:rPr lang="en-US" sz="2400" dirty="0" smtClean="0"/>
              <a:t> </a:t>
            </a:r>
            <a:r>
              <a:rPr lang="en-US" sz="2400" dirty="0" err="1" smtClean="0"/>
              <a:t>rund</a:t>
            </a:r>
            <a:r>
              <a:rPr lang="sr-Latn-RS" sz="2400" dirty="0" smtClean="0"/>
              <a:t>a</a:t>
            </a:r>
            <a:r>
              <a:rPr lang="en-US" sz="2400" dirty="0" smtClean="0"/>
              <a:t> </a:t>
            </a:r>
            <a:r>
              <a:rPr lang="sr-Latn-RS" sz="2400" dirty="0"/>
              <a:t>– </a:t>
            </a:r>
            <a:r>
              <a:rPr lang="en-US" sz="2400" dirty="0" err="1"/>
              <a:t>pr</a:t>
            </a:r>
            <a:endParaRPr lang="sr-Latn-RS" sz="2400" dirty="0"/>
          </a:p>
          <a:p>
            <a:pPr lvl="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err="1" smtClean="0"/>
              <a:t>pripremljen</a:t>
            </a:r>
            <a:r>
              <a:rPr lang="sr-Latn-RS" sz="2400" dirty="0" smtClean="0"/>
              <a:t>a</a:t>
            </a:r>
            <a:r>
              <a:rPr lang="en-US" sz="2400" dirty="0" smtClean="0"/>
              <a:t> </a:t>
            </a:r>
            <a:r>
              <a:rPr lang="en-US" sz="2400" dirty="0" err="1" smtClean="0"/>
              <a:t>vrednost</a:t>
            </a:r>
            <a:r>
              <a:rPr lang="sr-Latn-RS" sz="2400" dirty="0"/>
              <a:t> </a:t>
            </a:r>
            <a:r>
              <a:rPr lang="sr-Latn-RS" sz="2400" dirty="0" smtClean="0"/>
              <a:t>- </a:t>
            </a:r>
            <a:r>
              <a:rPr lang="en-US" sz="2400" dirty="0" err="1"/>
              <a:t>pv</a:t>
            </a:r>
            <a:r>
              <a:rPr lang="en-US" sz="2400" dirty="0"/>
              <a:t> </a:t>
            </a:r>
            <a:endParaRPr lang="sr-Latn-RS" sz="2400" dirty="0"/>
          </a:p>
          <a:p>
            <a:pPr lvl="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sr-Latn-RS" sz="2400" dirty="0"/>
              <a:t>*</a:t>
            </a:r>
            <a:r>
              <a:rPr lang="en-US" sz="2400" dirty="0" err="1" smtClean="0"/>
              <a:t>omogućava</a:t>
            </a:r>
            <a:r>
              <a:rPr lang="en-US" sz="2400" dirty="0" smtClean="0"/>
              <a:t> </a:t>
            </a:r>
            <a:r>
              <a:rPr lang="en-US" sz="2400" dirty="0" err="1"/>
              <a:t>progres</a:t>
            </a:r>
            <a:r>
              <a:rPr lang="en-US" sz="2400" dirty="0"/>
              <a:t> </a:t>
            </a:r>
            <a:r>
              <a:rPr lang="en-US" sz="2400" dirty="0" err="1"/>
              <a:t>mreže</a:t>
            </a:r>
            <a:r>
              <a:rPr lang="en-US" sz="2400" dirty="0"/>
              <a:t> </a:t>
            </a:r>
            <a:r>
              <a:rPr lang="en-US" sz="2400" dirty="0" err="1"/>
              <a:t>čak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kada</a:t>
            </a:r>
            <a:r>
              <a:rPr lang="en-US" sz="2400" dirty="0"/>
              <a:t> </a:t>
            </a:r>
            <a:r>
              <a:rPr lang="en-US" sz="2400" dirty="0" err="1"/>
              <a:t>trenutni</a:t>
            </a:r>
            <a:r>
              <a:rPr lang="en-US" sz="2400" dirty="0"/>
              <a:t> </a:t>
            </a:r>
            <a:r>
              <a:rPr lang="en-US" sz="2400" dirty="0" err="1"/>
              <a:t>lider</a:t>
            </a:r>
            <a:r>
              <a:rPr lang="en-US" sz="2400" dirty="0"/>
              <a:t> </a:t>
            </a:r>
            <a:r>
              <a:rPr lang="en-US" sz="2400" dirty="0" err="1" smtClean="0"/>
              <a:t>zataji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211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8052" y="551329"/>
            <a:ext cx="10018713" cy="802341"/>
          </a:xfrm>
        </p:spPr>
        <p:txBody>
          <a:bodyPr>
            <a:normAutofit/>
          </a:bodyPr>
          <a:lstStyle/>
          <a:p>
            <a:r>
              <a:rPr lang="en-US" sz="3600" dirty="0" err="1"/>
              <a:t>Logika</a:t>
            </a:r>
            <a:r>
              <a:rPr lang="en-US" sz="3600" dirty="0"/>
              <a:t> </a:t>
            </a:r>
            <a:r>
              <a:rPr lang="en-US" sz="3600" dirty="0" err="1"/>
              <a:t>kvoruma</a:t>
            </a:r>
            <a:r>
              <a:rPr lang="en-US" sz="3600" dirty="0"/>
              <a:t> (</a:t>
            </a:r>
            <a:r>
              <a:rPr lang="en-US" sz="3600" dirty="0" err="1"/>
              <a:t>Matematika</a:t>
            </a:r>
            <a:r>
              <a:rPr lang="en-US" sz="3600" dirty="0"/>
              <a:t> </a:t>
            </a:r>
            <a:r>
              <a:rPr lang="en-US" sz="3600" dirty="0" err="1"/>
              <a:t>sistema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5647" y="1515035"/>
            <a:ext cx="9217023" cy="4751293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s</a:t>
            </a:r>
            <a:r>
              <a:rPr lang="sr-Latn-RS" dirty="0" smtClean="0"/>
              <a:t>istem je </a:t>
            </a:r>
            <a:r>
              <a:rPr lang="en-US" dirty="0" err="1" smtClean="0"/>
              <a:t>dizajniran</a:t>
            </a:r>
            <a:r>
              <a:rPr lang="en-US" dirty="0" smtClean="0"/>
              <a:t> </a:t>
            </a:r>
            <a:r>
              <a:rPr lang="en-US" dirty="0"/>
              <a:t>da </a:t>
            </a:r>
            <a:r>
              <a:rPr lang="en-US" dirty="0" err="1"/>
              <a:t>toleriše</a:t>
            </a:r>
            <a:r>
              <a:rPr lang="en-US" dirty="0"/>
              <a:t> do </a:t>
            </a:r>
            <a:r>
              <a:rPr lang="en-US" b="1" dirty="0"/>
              <a:t>F </a:t>
            </a:r>
            <a:r>
              <a:rPr lang="en-US" b="1" dirty="0" err="1"/>
              <a:t>malicioznih</a:t>
            </a:r>
            <a:r>
              <a:rPr lang="en-US" b="1" dirty="0"/>
              <a:t> (</a:t>
            </a:r>
            <a:r>
              <a:rPr lang="en-US" b="1" dirty="0" err="1"/>
              <a:t>neispravnih</a:t>
            </a:r>
            <a:r>
              <a:rPr lang="en-US" b="1" dirty="0"/>
              <a:t>) </a:t>
            </a:r>
            <a:r>
              <a:rPr lang="en-US" b="1" dirty="0" err="1" smtClean="0"/>
              <a:t>čvorova</a:t>
            </a:r>
            <a:endParaRPr lang="sr-Latn-RS" b="1" dirty="0" smtClean="0"/>
          </a:p>
          <a:p>
            <a:r>
              <a:rPr lang="sr-Latn-RS" dirty="0"/>
              <a:t>d</a:t>
            </a:r>
            <a:r>
              <a:rPr lang="en-US" dirty="0" smtClean="0"/>
              <a:t>a </a:t>
            </a:r>
            <a:r>
              <a:rPr lang="en-US" dirty="0"/>
              <a:t>bi to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moguće</a:t>
            </a:r>
            <a:r>
              <a:rPr lang="en-US" dirty="0"/>
              <a:t>, </a:t>
            </a:r>
            <a:r>
              <a:rPr lang="en-US" dirty="0" err="1"/>
              <a:t>ukupna</a:t>
            </a:r>
            <a:r>
              <a:rPr lang="en-US" dirty="0"/>
              <a:t> </a:t>
            </a:r>
            <a:r>
              <a:rPr lang="en-US" dirty="0" err="1"/>
              <a:t>mreža</a:t>
            </a:r>
            <a:r>
              <a:rPr lang="en-US" dirty="0"/>
              <a:t> mora </a:t>
            </a:r>
            <a:r>
              <a:rPr lang="en-US" dirty="0" err="1"/>
              <a:t>imati</a:t>
            </a:r>
            <a:r>
              <a:rPr lang="en-US" dirty="0"/>
              <a:t> </a:t>
            </a:r>
            <a:r>
              <a:rPr lang="en-US" dirty="0" err="1"/>
              <a:t>najmanje</a:t>
            </a:r>
            <a:r>
              <a:rPr lang="en-US" dirty="0"/>
              <a:t> </a:t>
            </a:r>
            <a:r>
              <a:rPr lang="en-US" b="1" dirty="0"/>
              <a:t>N=3F+1 </a:t>
            </a:r>
            <a:r>
              <a:rPr lang="en-US" b="1" dirty="0" err="1" smtClean="0"/>
              <a:t>validatora</a:t>
            </a:r>
            <a:endParaRPr lang="sr-Latn-RS" b="1" dirty="0" smtClean="0"/>
          </a:p>
          <a:p>
            <a:r>
              <a:rPr lang="sr-Latn-RS" dirty="0" err="1"/>
              <a:t>z</a:t>
            </a:r>
            <a:r>
              <a:rPr lang="en-US" dirty="0" err="1" smtClean="0"/>
              <a:t>ašto</a:t>
            </a:r>
            <a:r>
              <a:rPr lang="en-US" dirty="0" smtClean="0"/>
              <a:t> </a:t>
            </a:r>
            <a:r>
              <a:rPr lang="en-US" b="1" dirty="0"/>
              <a:t>2F + 1 </a:t>
            </a:r>
            <a:r>
              <a:rPr lang="en-US" dirty="0" err="1" smtClean="0"/>
              <a:t>za</a:t>
            </a:r>
            <a:r>
              <a:rPr lang="sr-Latn-RS" dirty="0" smtClean="0"/>
              <a:t> </a:t>
            </a:r>
            <a:r>
              <a:rPr lang="sr-Latn-RS" dirty="0" err="1" smtClean="0"/>
              <a:t>commit</a:t>
            </a:r>
            <a:r>
              <a:rPr lang="en-US" dirty="0" smtClean="0"/>
              <a:t> </a:t>
            </a:r>
            <a:r>
              <a:rPr lang="en-US" dirty="0"/>
              <a:t>(Safety</a:t>
            </a:r>
            <a:r>
              <a:rPr lang="en-US" dirty="0" smtClean="0"/>
              <a:t>)</a:t>
            </a:r>
            <a:r>
              <a:rPr lang="sr-Latn-RS" dirty="0" smtClean="0"/>
              <a:t>?</a:t>
            </a:r>
          </a:p>
          <a:p>
            <a:pPr marL="0" indent="0">
              <a:buNone/>
            </a:pPr>
            <a:r>
              <a:rPr lang="en-US" dirty="0" err="1" smtClean="0"/>
              <a:t>Matematički</a:t>
            </a:r>
            <a:r>
              <a:rPr lang="en-US" dirty="0" smtClean="0"/>
              <a:t> </a:t>
            </a:r>
            <a:r>
              <a:rPr lang="en-US" dirty="0"/>
              <a:t>se </a:t>
            </a:r>
            <a:r>
              <a:rPr lang="en-US" dirty="0" err="1"/>
              <a:t>osigurava</a:t>
            </a:r>
            <a:r>
              <a:rPr lang="en-US" dirty="0"/>
              <a:t> da se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kvoruma</a:t>
            </a:r>
            <a:r>
              <a:rPr lang="en-US" dirty="0"/>
              <a:t> </a:t>
            </a:r>
            <a:r>
              <a:rPr lang="en-US" dirty="0" err="1"/>
              <a:t>preklapaju</a:t>
            </a:r>
            <a:r>
              <a:rPr lang="en-US" dirty="0"/>
              <a:t> u bar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poštenom</a:t>
            </a:r>
            <a:r>
              <a:rPr lang="en-US" dirty="0"/>
              <a:t> </a:t>
            </a:r>
            <a:r>
              <a:rPr lang="en-US" dirty="0" err="1"/>
              <a:t>čvoru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sprečava</a:t>
            </a:r>
            <a:r>
              <a:rPr lang="en-US" dirty="0"/>
              <a:t> da </a:t>
            </a:r>
            <a:r>
              <a:rPr lang="en-US" dirty="0" err="1"/>
              <a:t>mreža</a:t>
            </a:r>
            <a:r>
              <a:rPr lang="en-US" dirty="0"/>
              <a:t> </a:t>
            </a:r>
            <a:r>
              <a:rPr lang="en-US" dirty="0" err="1"/>
              <a:t>donese</a:t>
            </a:r>
            <a:r>
              <a:rPr lang="en-US" dirty="0"/>
              <a:t> </a:t>
            </a:r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odluke</a:t>
            </a:r>
            <a:r>
              <a:rPr lang="en-US" dirty="0"/>
              <a:t> </a:t>
            </a:r>
            <a:r>
              <a:rPr lang="en-US" dirty="0" err="1" smtClean="0"/>
              <a:t>istovremeno</a:t>
            </a:r>
            <a:endParaRPr lang="sr-Latn-RS" dirty="0" smtClean="0"/>
          </a:p>
          <a:p>
            <a:r>
              <a:rPr lang="en-US" dirty="0" err="1"/>
              <a:t>Zašto</a:t>
            </a:r>
            <a:r>
              <a:rPr lang="en-US" dirty="0"/>
              <a:t> </a:t>
            </a:r>
            <a:r>
              <a:rPr lang="en-US" b="1" dirty="0"/>
              <a:t>F + 1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promenu</a:t>
            </a:r>
            <a:r>
              <a:rPr lang="en-US" dirty="0"/>
              <a:t> </a:t>
            </a:r>
            <a:r>
              <a:rPr lang="en-US" dirty="0" err="1"/>
              <a:t>runde</a:t>
            </a:r>
            <a:r>
              <a:rPr lang="en-US" dirty="0"/>
              <a:t> (Liveness</a:t>
            </a:r>
            <a:r>
              <a:rPr lang="en-US" dirty="0" smtClean="0"/>
              <a:t>)</a:t>
            </a:r>
            <a:r>
              <a:rPr lang="sr-Latn-RS" dirty="0" smtClean="0"/>
              <a:t>?</a:t>
            </a:r>
          </a:p>
          <a:p>
            <a:pPr marL="0" indent="0">
              <a:buNone/>
            </a:pPr>
            <a:r>
              <a:rPr lang="en-US" dirty="0" err="1" smtClean="0"/>
              <a:t>Ako</a:t>
            </a:r>
            <a:r>
              <a:rPr lang="en-US" dirty="0" smtClean="0"/>
              <a:t>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zakaže</a:t>
            </a:r>
            <a:r>
              <a:rPr lang="en-US" dirty="0"/>
              <a:t>, </a:t>
            </a:r>
            <a:r>
              <a:rPr lang="en-US" dirty="0" err="1"/>
              <a:t>dovoljno</a:t>
            </a:r>
            <a:r>
              <a:rPr lang="en-US" dirty="0"/>
              <a:t> je da F+1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dirty="0" err="1"/>
              <a:t>primeti</a:t>
            </a:r>
            <a:r>
              <a:rPr lang="en-US" dirty="0"/>
              <a:t> problem (bar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pošten</a:t>
            </a:r>
            <a:r>
              <a:rPr lang="en-US" dirty="0"/>
              <a:t>) da bi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krenuo</a:t>
            </a:r>
            <a:r>
              <a:rPr lang="en-US" dirty="0"/>
              <a:t> </a:t>
            </a:r>
            <a:r>
              <a:rPr lang="en-US" dirty="0" err="1" smtClean="0"/>
              <a:t>dalje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83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660" y="0"/>
            <a:ext cx="10018713" cy="890451"/>
          </a:xfrm>
        </p:spPr>
        <p:txBody>
          <a:bodyPr>
            <a:normAutofit/>
          </a:bodyPr>
          <a:lstStyle/>
          <a:p>
            <a:r>
              <a:rPr lang="en-US" sz="3600" dirty="0" err="1"/>
              <a:t>Stanja</a:t>
            </a:r>
            <a:r>
              <a:rPr lang="en-US" sz="3600" dirty="0"/>
              <a:t> u </a:t>
            </a:r>
            <a:r>
              <a:rPr lang="en-US" sz="3600" dirty="0" err="1"/>
              <a:t>kojima</a:t>
            </a:r>
            <a:r>
              <a:rPr lang="en-US" sz="3600" dirty="0"/>
              <a:t> se validator </a:t>
            </a:r>
            <a:r>
              <a:rPr lang="en-US" sz="3600" dirty="0" err="1" smtClean="0"/>
              <a:t>nalazi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3742" y="805544"/>
            <a:ext cx="10054547" cy="6052456"/>
          </a:xfrm>
        </p:spPr>
        <p:txBody>
          <a:bodyPr>
            <a:normAutofit/>
          </a:bodyPr>
          <a:lstStyle/>
          <a:p>
            <a:r>
              <a:rPr lang="en-US" sz="2000" dirty="0" smtClean="0"/>
              <a:t>IBFT </a:t>
            </a:r>
            <a:r>
              <a:rPr lang="en-US" sz="2000" dirty="0"/>
              <a:t>je </a:t>
            </a:r>
            <a:r>
              <a:rPr lang="en-US" sz="2000" dirty="0" err="1"/>
              <a:t>algoritam</a:t>
            </a:r>
            <a:r>
              <a:rPr lang="en-US" sz="2000" dirty="0"/>
              <a:t> </a:t>
            </a:r>
            <a:r>
              <a:rPr lang="en-US" sz="2000" b="1" dirty="0" err="1"/>
              <a:t>replikacije</a:t>
            </a:r>
            <a:r>
              <a:rPr lang="en-US" sz="2000" b="1" dirty="0"/>
              <a:t> </a:t>
            </a:r>
            <a:r>
              <a:rPr lang="en-US" sz="2000" b="1" dirty="0" err="1"/>
              <a:t>mašine</a:t>
            </a:r>
            <a:r>
              <a:rPr lang="en-US" sz="2000" b="1" dirty="0"/>
              <a:t> </a:t>
            </a:r>
            <a:r>
              <a:rPr lang="en-US" sz="2000" b="1" dirty="0" err="1"/>
              <a:t>stanja</a:t>
            </a:r>
            <a:r>
              <a:rPr lang="en-US" sz="2000" b="1" dirty="0"/>
              <a:t> </a:t>
            </a:r>
            <a:r>
              <a:rPr lang="sr-Latn-RS" sz="2000" b="1" dirty="0" smtClean="0"/>
              <a:t>- </a:t>
            </a:r>
            <a:r>
              <a:rPr lang="en-US" sz="2000" dirty="0" err="1"/>
              <a:t>svaki</a:t>
            </a:r>
            <a:r>
              <a:rPr lang="en-US" sz="2000" dirty="0"/>
              <a:t> validator </a:t>
            </a:r>
            <a:r>
              <a:rPr lang="en-US" sz="2000" dirty="0" err="1"/>
              <a:t>održava</a:t>
            </a:r>
            <a:r>
              <a:rPr lang="en-US" sz="2000" dirty="0"/>
              <a:t> </a:t>
            </a:r>
            <a:r>
              <a:rPr lang="en-US" sz="2000" dirty="0" err="1"/>
              <a:t>identičnu</a:t>
            </a:r>
            <a:r>
              <a:rPr lang="en-US" sz="2000" dirty="0"/>
              <a:t> </a:t>
            </a:r>
            <a:r>
              <a:rPr lang="en-US" sz="2000" dirty="0" err="1"/>
              <a:t>kopiju</a:t>
            </a:r>
            <a:r>
              <a:rPr lang="en-US" sz="2000" dirty="0"/>
              <a:t> </a:t>
            </a:r>
            <a:r>
              <a:rPr lang="en-US" sz="2000" dirty="0" err="1"/>
              <a:t>lanca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prolazi</a:t>
            </a:r>
            <a:r>
              <a:rPr lang="en-US" sz="2000" dirty="0"/>
              <a:t> </a:t>
            </a:r>
            <a:r>
              <a:rPr lang="en-US" sz="2000" dirty="0" err="1"/>
              <a:t>kroz</a:t>
            </a:r>
            <a:r>
              <a:rPr lang="en-US" sz="2000" dirty="0"/>
              <a:t> </a:t>
            </a:r>
            <a:r>
              <a:rPr lang="en-US" sz="2000" dirty="0" err="1"/>
              <a:t>strogo</a:t>
            </a:r>
            <a:r>
              <a:rPr lang="en-US" sz="2000" dirty="0"/>
              <a:t> </a:t>
            </a:r>
            <a:r>
              <a:rPr lang="en-US" sz="2000" dirty="0" err="1"/>
              <a:t>definisana</a:t>
            </a:r>
            <a:r>
              <a:rPr lang="en-US" sz="2000" dirty="0"/>
              <a:t> </a:t>
            </a:r>
            <a:r>
              <a:rPr lang="en-US" sz="2000" dirty="0" err="1"/>
              <a:t>stanja</a:t>
            </a:r>
            <a:r>
              <a:rPr lang="en-US" sz="2000" dirty="0"/>
              <a:t> </a:t>
            </a:r>
            <a:r>
              <a:rPr lang="en-US" sz="2000" dirty="0" err="1"/>
              <a:t>kako</a:t>
            </a:r>
            <a:r>
              <a:rPr lang="en-US" sz="2000" dirty="0"/>
              <a:t> bi se </a:t>
            </a:r>
            <a:r>
              <a:rPr lang="en-US" sz="2000" dirty="0" err="1"/>
              <a:t>osiguralo</a:t>
            </a:r>
            <a:r>
              <a:rPr lang="en-US" sz="2000" dirty="0"/>
              <a:t> da </a:t>
            </a:r>
            <a:r>
              <a:rPr lang="en-US" sz="2000" dirty="0" err="1"/>
              <a:t>svi</a:t>
            </a:r>
            <a:r>
              <a:rPr lang="en-US" sz="2000" dirty="0"/>
              <a:t> </a:t>
            </a:r>
            <a:r>
              <a:rPr lang="en-US" sz="2000" dirty="0" err="1"/>
              <a:t>čvorovi</a:t>
            </a:r>
            <a:r>
              <a:rPr lang="en-US" sz="2000" dirty="0"/>
              <a:t> </a:t>
            </a:r>
            <a:r>
              <a:rPr lang="en-US" sz="2000" dirty="0" err="1"/>
              <a:t>postignu</a:t>
            </a:r>
            <a:r>
              <a:rPr lang="en-US" sz="2000" dirty="0"/>
              <a:t> </a:t>
            </a:r>
            <a:r>
              <a:rPr lang="en-US" sz="2000" dirty="0" err="1"/>
              <a:t>konsenzus</a:t>
            </a:r>
            <a:r>
              <a:rPr lang="en-US" sz="2000" dirty="0"/>
              <a:t> o </a:t>
            </a:r>
            <a:r>
              <a:rPr lang="en-US" sz="2000" dirty="0" err="1"/>
              <a:t>istom</a:t>
            </a:r>
            <a:r>
              <a:rPr lang="en-US" sz="2000" dirty="0"/>
              <a:t> </a:t>
            </a:r>
            <a:r>
              <a:rPr lang="en-US" sz="2000" dirty="0" err="1" smtClean="0"/>
              <a:t>bloku</a:t>
            </a:r>
            <a:endParaRPr lang="sr-Latn-RS" sz="2000" dirty="0" smtClean="0"/>
          </a:p>
          <a:p>
            <a:r>
              <a:rPr lang="sr-Latn-RS" sz="2000" dirty="0" err="1"/>
              <a:t>K</a:t>
            </a:r>
            <a:r>
              <a:rPr lang="en-US" sz="2000" dirty="0" err="1" smtClean="0"/>
              <a:t>ljučna</a:t>
            </a:r>
            <a:r>
              <a:rPr lang="en-US" sz="2000" dirty="0" smtClean="0"/>
              <a:t> </a:t>
            </a:r>
            <a:r>
              <a:rPr lang="en-US" sz="2000" dirty="0" err="1"/>
              <a:t>stanja</a:t>
            </a:r>
            <a:r>
              <a:rPr lang="en-US" sz="2000" dirty="0"/>
              <a:t> u </a:t>
            </a:r>
            <a:r>
              <a:rPr lang="en-US" sz="2000" dirty="0" err="1"/>
              <a:t>kojima</a:t>
            </a:r>
            <a:r>
              <a:rPr lang="en-US" sz="2000" dirty="0"/>
              <a:t> se validator </a:t>
            </a:r>
            <a:r>
              <a:rPr lang="en-US" sz="2000" dirty="0" err="1"/>
              <a:t>može</a:t>
            </a:r>
            <a:r>
              <a:rPr lang="en-US" sz="2000" dirty="0"/>
              <a:t> </a:t>
            </a:r>
            <a:r>
              <a:rPr lang="en-US" sz="2000" dirty="0" err="1"/>
              <a:t>nalaziti</a:t>
            </a:r>
            <a:r>
              <a:rPr lang="en-US" sz="2000" dirty="0"/>
              <a:t>:</a:t>
            </a:r>
          </a:p>
          <a:p>
            <a:pPr marL="0" lvl="0" indent="0">
              <a:buNone/>
            </a:pPr>
            <a:r>
              <a:rPr lang="en-US" sz="2000" b="1" dirty="0"/>
              <a:t>NEW ROUND:</a:t>
            </a:r>
            <a:r>
              <a:rPr lang="en-US" sz="2000" dirty="0"/>
              <a:t> </a:t>
            </a:r>
            <a:r>
              <a:rPr lang="en-US" sz="2000" dirty="0" err="1" smtClean="0"/>
              <a:t>Predlagač</a:t>
            </a:r>
            <a:r>
              <a:rPr lang="en-US" sz="2000" dirty="0" smtClean="0"/>
              <a:t> </a:t>
            </a:r>
            <a:r>
              <a:rPr lang="en-US" sz="2000" dirty="0" err="1"/>
              <a:t>treba</a:t>
            </a:r>
            <a:r>
              <a:rPr lang="en-US" sz="2000" dirty="0"/>
              <a:t> da </a:t>
            </a:r>
            <a:r>
              <a:rPr lang="en-US" sz="2000" dirty="0" err="1"/>
              <a:t>pošalje</a:t>
            </a:r>
            <a:r>
              <a:rPr lang="en-US" sz="2000" dirty="0"/>
              <a:t> </a:t>
            </a:r>
            <a:r>
              <a:rPr lang="en-US" sz="2000" dirty="0" err="1"/>
              <a:t>predlog</a:t>
            </a:r>
            <a:r>
              <a:rPr lang="en-US" sz="2000" dirty="0"/>
              <a:t>, a </a:t>
            </a:r>
            <a:r>
              <a:rPr lang="en-US" sz="2000" dirty="0" err="1"/>
              <a:t>ostali</a:t>
            </a:r>
            <a:r>
              <a:rPr lang="en-US" sz="2000" dirty="0"/>
              <a:t> </a:t>
            </a:r>
            <a:r>
              <a:rPr lang="en-US" sz="2000" dirty="0" err="1"/>
              <a:t>validatori</a:t>
            </a:r>
            <a:r>
              <a:rPr lang="en-US" sz="2000" dirty="0"/>
              <a:t> </a:t>
            </a:r>
            <a:r>
              <a:rPr lang="en-US" sz="2000" dirty="0" err="1"/>
              <a:t>čekaju</a:t>
            </a:r>
            <a:r>
              <a:rPr lang="en-US" sz="2000" dirty="0"/>
              <a:t> PRE-PREPARE </a:t>
            </a:r>
            <a:r>
              <a:rPr lang="en-US" sz="2000" dirty="0" err="1" smtClean="0"/>
              <a:t>poruku</a:t>
            </a:r>
            <a:endParaRPr lang="en-US" sz="2000" dirty="0"/>
          </a:p>
          <a:p>
            <a:pPr marL="0" lvl="0" indent="0">
              <a:buNone/>
            </a:pPr>
            <a:r>
              <a:rPr lang="en-US" sz="2000" b="1" dirty="0"/>
              <a:t>PRE-PREPARED:</a:t>
            </a:r>
            <a:r>
              <a:rPr lang="en-US" sz="2000" dirty="0"/>
              <a:t> </a:t>
            </a:r>
            <a:r>
              <a:rPr lang="en-US" sz="2000" dirty="0" err="1"/>
              <a:t>Stanje</a:t>
            </a:r>
            <a:r>
              <a:rPr lang="en-US" sz="2000" dirty="0"/>
              <a:t> u </a:t>
            </a:r>
            <a:r>
              <a:rPr lang="en-US" sz="2000" dirty="0" err="1"/>
              <a:t>kojem</a:t>
            </a:r>
            <a:r>
              <a:rPr lang="en-US" sz="2000" dirty="0"/>
              <a:t> je validator </a:t>
            </a:r>
            <a:r>
              <a:rPr lang="en-US" sz="2000" dirty="0" err="1"/>
              <a:t>primio</a:t>
            </a:r>
            <a:r>
              <a:rPr lang="en-US" sz="2000" dirty="0"/>
              <a:t> </a:t>
            </a:r>
            <a:r>
              <a:rPr lang="en-US" sz="2000" dirty="0" err="1"/>
              <a:t>predlog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emitovao</a:t>
            </a:r>
            <a:r>
              <a:rPr lang="en-US" sz="2000" dirty="0"/>
              <a:t> PREPARE </a:t>
            </a:r>
            <a:r>
              <a:rPr lang="en-US" sz="2000" dirty="0" err="1"/>
              <a:t>poruku</a:t>
            </a:r>
            <a:r>
              <a:rPr lang="en-US" sz="2000" dirty="0"/>
              <a:t>. </a:t>
            </a:r>
            <a:r>
              <a:rPr lang="en-US" sz="2000" dirty="0" err="1"/>
              <a:t>Sada</a:t>
            </a:r>
            <a:r>
              <a:rPr lang="en-US" sz="2000" dirty="0"/>
              <a:t> </a:t>
            </a:r>
            <a:r>
              <a:rPr lang="en-US" sz="2000" dirty="0" err="1"/>
              <a:t>čeka</a:t>
            </a:r>
            <a:r>
              <a:rPr lang="en-US" sz="2000" dirty="0"/>
              <a:t> </a:t>
            </a:r>
            <a:r>
              <a:rPr lang="en-US" sz="2000" dirty="0" err="1"/>
              <a:t>kvorum</a:t>
            </a:r>
            <a:r>
              <a:rPr lang="en-US" sz="2000" dirty="0"/>
              <a:t> (⌈2N/3⌉) </a:t>
            </a:r>
            <a:r>
              <a:rPr lang="en-US" sz="2000" dirty="0" err="1"/>
              <a:t>poruka</a:t>
            </a:r>
            <a:r>
              <a:rPr lang="en-US" sz="2000" dirty="0"/>
              <a:t> od </a:t>
            </a:r>
            <a:r>
              <a:rPr lang="en-US" sz="2000" dirty="0" err="1"/>
              <a:t>ostalih</a:t>
            </a:r>
            <a:r>
              <a:rPr lang="en-US" sz="2000" dirty="0"/>
              <a:t> </a:t>
            </a:r>
            <a:r>
              <a:rPr lang="en-US" sz="2000" dirty="0" err="1"/>
              <a:t>kako</a:t>
            </a:r>
            <a:r>
              <a:rPr lang="en-US" sz="2000" dirty="0"/>
              <a:t> bi </a:t>
            </a:r>
            <a:r>
              <a:rPr lang="en-US" sz="2000" dirty="0" err="1"/>
              <a:t>potvrdio</a:t>
            </a:r>
            <a:r>
              <a:rPr lang="en-US" sz="2000" dirty="0"/>
              <a:t> da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drugi</a:t>
            </a:r>
            <a:r>
              <a:rPr lang="en-US" sz="2000" dirty="0"/>
              <a:t> vide </a:t>
            </a:r>
            <a:r>
              <a:rPr lang="en-US" sz="2000" dirty="0" err="1"/>
              <a:t>isti</a:t>
            </a:r>
            <a:r>
              <a:rPr lang="en-US" sz="2000" dirty="0"/>
              <a:t> </a:t>
            </a:r>
            <a:r>
              <a:rPr lang="en-US" sz="2000" dirty="0" err="1" smtClean="0"/>
              <a:t>predlog</a:t>
            </a:r>
            <a:endParaRPr lang="en-US" sz="2000" dirty="0"/>
          </a:p>
          <a:p>
            <a:pPr marL="0" lvl="0" indent="0">
              <a:buNone/>
            </a:pPr>
            <a:r>
              <a:rPr lang="en-US" sz="2000" b="1" dirty="0"/>
              <a:t>PREPARED:</a:t>
            </a:r>
            <a:r>
              <a:rPr lang="en-US" sz="2000" dirty="0"/>
              <a:t> Validator je </a:t>
            </a:r>
            <a:r>
              <a:rPr lang="en-US" sz="2000" dirty="0" err="1"/>
              <a:t>sakupio</a:t>
            </a:r>
            <a:r>
              <a:rPr lang="en-US" sz="2000" dirty="0"/>
              <a:t> </a:t>
            </a:r>
            <a:r>
              <a:rPr lang="en-US" sz="2000" dirty="0" err="1"/>
              <a:t>dovoljno</a:t>
            </a:r>
            <a:r>
              <a:rPr lang="en-US" sz="2000" dirty="0"/>
              <a:t> </a:t>
            </a:r>
            <a:r>
              <a:rPr lang="en-US" sz="2000" dirty="0" err="1"/>
              <a:t>dokaza</a:t>
            </a:r>
            <a:r>
              <a:rPr lang="en-US" sz="2000" dirty="0"/>
              <a:t> o </a:t>
            </a:r>
            <a:r>
              <a:rPr lang="en-US" sz="2000" dirty="0" err="1"/>
              <a:t>pripremi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emituje</a:t>
            </a:r>
            <a:r>
              <a:rPr lang="en-US" sz="2000" dirty="0"/>
              <a:t> COMMIT </a:t>
            </a:r>
            <a:r>
              <a:rPr lang="en-US" sz="2000" dirty="0" err="1"/>
              <a:t>poruku</a:t>
            </a:r>
            <a:r>
              <a:rPr lang="en-US" sz="2000" dirty="0"/>
              <a:t>. </a:t>
            </a:r>
            <a:r>
              <a:rPr lang="en-US" sz="2000" dirty="0" err="1"/>
              <a:t>Ovo</a:t>
            </a:r>
            <a:r>
              <a:rPr lang="en-US" sz="2000" dirty="0"/>
              <a:t> je </a:t>
            </a:r>
            <a:r>
              <a:rPr lang="en-US" sz="2000" dirty="0" err="1"/>
              <a:t>znak</a:t>
            </a:r>
            <a:r>
              <a:rPr lang="en-US" sz="2000" dirty="0"/>
              <a:t> da on </a:t>
            </a:r>
            <a:r>
              <a:rPr lang="en-US" sz="2000" dirty="0" err="1"/>
              <a:t>lično</a:t>
            </a:r>
            <a:r>
              <a:rPr lang="en-US" sz="2000" dirty="0"/>
              <a:t> </a:t>
            </a:r>
            <a:r>
              <a:rPr lang="en-US" sz="2000" dirty="0" err="1"/>
              <a:t>prihvata</a:t>
            </a:r>
            <a:r>
              <a:rPr lang="en-US" sz="2000" dirty="0"/>
              <a:t> </a:t>
            </a:r>
            <a:r>
              <a:rPr lang="en-US" sz="2000" dirty="0" err="1" smtClean="0"/>
              <a:t>blok</a:t>
            </a:r>
            <a:endParaRPr lang="en-US" sz="2000" dirty="0"/>
          </a:p>
          <a:p>
            <a:pPr marL="0" lvl="0" indent="0">
              <a:buNone/>
            </a:pPr>
            <a:r>
              <a:rPr lang="en-US" sz="2000" b="1" dirty="0"/>
              <a:t>COMMITTED:</a:t>
            </a:r>
            <a:r>
              <a:rPr lang="en-US" sz="2000" dirty="0"/>
              <a:t> </a:t>
            </a:r>
            <a:r>
              <a:rPr lang="en-US" sz="2000" dirty="0" err="1"/>
              <a:t>Sakupio</a:t>
            </a:r>
            <a:r>
              <a:rPr lang="en-US" sz="2000" dirty="0"/>
              <a:t> je </a:t>
            </a:r>
            <a:r>
              <a:rPr lang="en-US" sz="2000" dirty="0" err="1"/>
              <a:t>kvorum</a:t>
            </a:r>
            <a:r>
              <a:rPr lang="en-US" sz="2000" dirty="0"/>
              <a:t> COMMIT </a:t>
            </a:r>
            <a:r>
              <a:rPr lang="en-US" sz="2000" dirty="0" err="1"/>
              <a:t>poruka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spreman</a:t>
            </a:r>
            <a:r>
              <a:rPr lang="en-US" sz="2000" dirty="0"/>
              <a:t> je da </a:t>
            </a:r>
            <a:r>
              <a:rPr lang="en-US" sz="2000" dirty="0" err="1"/>
              <a:t>trajno</a:t>
            </a:r>
            <a:r>
              <a:rPr lang="en-US" sz="2000" dirty="0"/>
              <a:t> </a:t>
            </a:r>
            <a:r>
              <a:rPr lang="en-US" sz="2000" dirty="0" err="1"/>
              <a:t>umetne</a:t>
            </a:r>
            <a:r>
              <a:rPr lang="en-US" sz="2000" dirty="0"/>
              <a:t> </a:t>
            </a:r>
            <a:r>
              <a:rPr lang="en-US" sz="2000" dirty="0" err="1"/>
              <a:t>blok</a:t>
            </a:r>
            <a:r>
              <a:rPr lang="en-US" sz="2000" dirty="0"/>
              <a:t> </a:t>
            </a:r>
            <a:endParaRPr lang="sr-Latn-RS" sz="2000" dirty="0" smtClean="0"/>
          </a:p>
          <a:p>
            <a:pPr marL="0" lvl="0" indent="0">
              <a:buNone/>
            </a:pPr>
            <a:r>
              <a:rPr lang="en-US" sz="2000" b="1" dirty="0" smtClean="0"/>
              <a:t>FINAL </a:t>
            </a:r>
            <a:r>
              <a:rPr lang="en-US" sz="2000" b="1" dirty="0"/>
              <a:t>COMMITTED:</a:t>
            </a:r>
            <a:r>
              <a:rPr lang="en-US" sz="2000" dirty="0"/>
              <a:t> Blok je </a:t>
            </a:r>
            <a:r>
              <a:rPr lang="en-US" sz="2000" dirty="0" err="1"/>
              <a:t>uspešno</a:t>
            </a:r>
            <a:r>
              <a:rPr lang="en-US" sz="2000" dirty="0"/>
              <a:t> </a:t>
            </a:r>
            <a:r>
              <a:rPr lang="en-US" sz="2000" dirty="0" err="1"/>
              <a:t>upisan</a:t>
            </a:r>
            <a:r>
              <a:rPr lang="en-US" sz="2000" dirty="0"/>
              <a:t>. Validator je </a:t>
            </a:r>
            <a:r>
              <a:rPr lang="en-US" sz="2000" dirty="0" err="1"/>
              <a:t>završio</a:t>
            </a:r>
            <a:r>
              <a:rPr lang="en-US" sz="2000" dirty="0"/>
              <a:t> </a:t>
            </a:r>
            <a:r>
              <a:rPr lang="en-US" sz="2000" dirty="0" err="1"/>
              <a:t>posao</a:t>
            </a:r>
            <a:r>
              <a:rPr lang="en-US" sz="2000" dirty="0"/>
              <a:t>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tu</a:t>
            </a:r>
            <a:r>
              <a:rPr lang="en-US" sz="2000" dirty="0"/>
              <a:t> </a:t>
            </a:r>
            <a:r>
              <a:rPr lang="en-US" sz="2000" dirty="0" err="1"/>
              <a:t>sekvencu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spreman</a:t>
            </a:r>
            <a:r>
              <a:rPr lang="en-US" sz="2000" dirty="0"/>
              <a:t> je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novu</a:t>
            </a:r>
            <a:r>
              <a:rPr lang="en-US" sz="2000" dirty="0"/>
              <a:t> </a:t>
            </a:r>
            <a:r>
              <a:rPr lang="en-US" sz="2000" dirty="0" err="1" smtClean="0"/>
              <a:t>rundu</a:t>
            </a:r>
            <a:endParaRPr lang="en-US" sz="2000" dirty="0"/>
          </a:p>
          <a:p>
            <a:pPr marL="0" lvl="0" indent="0">
              <a:buNone/>
            </a:pPr>
            <a:r>
              <a:rPr lang="en-US" sz="2000" b="1" dirty="0"/>
              <a:t>ROUND CHANGE:</a:t>
            </a:r>
            <a:r>
              <a:rPr lang="en-US" sz="2000" dirty="0"/>
              <a:t> </a:t>
            </a:r>
            <a:r>
              <a:rPr lang="en-US" sz="2000" dirty="0" err="1"/>
              <a:t>Rezervno</a:t>
            </a:r>
            <a:r>
              <a:rPr lang="en-US" sz="2000" dirty="0"/>
              <a:t> </a:t>
            </a:r>
            <a:r>
              <a:rPr lang="en-US" sz="2000" dirty="0" err="1"/>
              <a:t>stanje</a:t>
            </a:r>
            <a:r>
              <a:rPr lang="en-US" sz="2000" dirty="0"/>
              <a:t>. </a:t>
            </a:r>
            <a:r>
              <a:rPr lang="en-US" sz="2000" dirty="0" err="1"/>
              <a:t>Ako</a:t>
            </a:r>
            <a:r>
              <a:rPr lang="en-US" sz="2000" dirty="0"/>
              <a:t> se </a:t>
            </a:r>
            <a:r>
              <a:rPr lang="en-US" sz="2000" dirty="0" err="1"/>
              <a:t>nešto</a:t>
            </a:r>
            <a:r>
              <a:rPr lang="en-US" sz="2000" dirty="0"/>
              <a:t> </a:t>
            </a:r>
            <a:r>
              <a:rPr lang="sr-Latn-RS" sz="2000" dirty="0" smtClean="0"/>
              <a:t>nepredviđeno desi</a:t>
            </a:r>
            <a:r>
              <a:rPr lang="en-US" sz="2000" dirty="0" smtClean="0"/>
              <a:t>, </a:t>
            </a:r>
            <a:r>
              <a:rPr lang="en-US" sz="2000" dirty="0"/>
              <a:t>validator </a:t>
            </a:r>
            <a:r>
              <a:rPr lang="en-US" sz="2000" dirty="0" err="1"/>
              <a:t>čeka</a:t>
            </a:r>
            <a:r>
              <a:rPr lang="en-US" sz="2000" dirty="0"/>
              <a:t> </a:t>
            </a:r>
            <a:r>
              <a:rPr lang="en-US" sz="2000" dirty="0" err="1"/>
              <a:t>kvorum</a:t>
            </a:r>
            <a:r>
              <a:rPr lang="en-US" sz="2000" dirty="0"/>
              <a:t> ROUND CHANGE </a:t>
            </a:r>
            <a:r>
              <a:rPr lang="en-US" sz="2000" dirty="0" err="1"/>
              <a:t>poruka</a:t>
            </a:r>
            <a:r>
              <a:rPr lang="en-US" sz="2000" dirty="0"/>
              <a:t> </a:t>
            </a:r>
            <a:r>
              <a:rPr lang="en-US" sz="2000" dirty="0" err="1"/>
              <a:t>kako</a:t>
            </a:r>
            <a:r>
              <a:rPr lang="en-US" sz="2000" dirty="0"/>
              <a:t> bi </a:t>
            </a:r>
            <a:r>
              <a:rPr lang="en-US" sz="2000" dirty="0" err="1"/>
              <a:t>prešao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novog</a:t>
            </a:r>
            <a:r>
              <a:rPr lang="en-US" sz="2000" dirty="0"/>
              <a:t> </a:t>
            </a:r>
            <a:r>
              <a:rPr lang="en-US" sz="2000" dirty="0" err="1" smtClean="0"/>
              <a:t>lidera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506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8029303" y="5050386"/>
            <a:ext cx="3648891" cy="14456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098972" y="3788924"/>
            <a:ext cx="3326674" cy="8882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098972" y="2682240"/>
            <a:ext cx="3944982" cy="9318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098972" y="600892"/>
            <a:ext cx="3849188" cy="181138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:\Users\Aleksandra\Desktop\capko\3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20" y="905691"/>
            <a:ext cx="6961816" cy="51458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8098972" y="600892"/>
            <a:ext cx="394498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/>
              <a:t>Svaki</a:t>
            </a:r>
            <a:r>
              <a:rPr lang="en-US" sz="1500" dirty="0"/>
              <a:t> validator </a:t>
            </a:r>
            <a:r>
              <a:rPr lang="en-US" sz="1500" dirty="0" err="1"/>
              <a:t>ulazi</a:t>
            </a:r>
            <a:r>
              <a:rPr lang="en-US" sz="1500" dirty="0"/>
              <a:t> u PRE-PREPARED </a:t>
            </a:r>
            <a:r>
              <a:rPr lang="en-US" sz="1500" dirty="0" err="1"/>
              <a:t>nakon</a:t>
            </a:r>
            <a:r>
              <a:rPr lang="en-US" sz="1500" dirty="0"/>
              <a:t> </a:t>
            </a:r>
            <a:r>
              <a:rPr lang="en-US" sz="1500" dirty="0" err="1"/>
              <a:t>prijema</a:t>
            </a:r>
            <a:r>
              <a:rPr lang="en-US" sz="1500" dirty="0"/>
              <a:t> PRE-PREPARE </a:t>
            </a:r>
            <a:r>
              <a:rPr lang="en-US" sz="1500" dirty="0" err="1"/>
              <a:t>poruke</a:t>
            </a:r>
            <a:r>
              <a:rPr lang="en-US" sz="1500" dirty="0"/>
              <a:t> </a:t>
            </a:r>
            <a:r>
              <a:rPr lang="en-US" sz="1500" dirty="0" err="1"/>
              <a:t>uz</a:t>
            </a:r>
            <a:r>
              <a:rPr lang="en-US" sz="1500" dirty="0"/>
              <a:t> </a:t>
            </a:r>
            <a:r>
              <a:rPr lang="en-US" sz="1500" dirty="0" err="1"/>
              <a:t>sledeće</a:t>
            </a:r>
            <a:r>
              <a:rPr lang="en-US" sz="1500" dirty="0"/>
              <a:t> </a:t>
            </a:r>
            <a:r>
              <a:rPr lang="en-US" sz="1500" dirty="0" err="1" smtClean="0"/>
              <a:t>uslove</a:t>
            </a:r>
            <a:r>
              <a:rPr lang="en-US" sz="1500" dirty="0" smtClean="0"/>
              <a:t>: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 smtClean="0"/>
              <a:t>Predlog</a:t>
            </a:r>
            <a:r>
              <a:rPr lang="en-US" sz="1500" dirty="0" smtClean="0"/>
              <a:t> </a:t>
            </a:r>
            <a:r>
              <a:rPr lang="en-US" sz="1500" dirty="0" err="1"/>
              <a:t>bloka</a:t>
            </a:r>
            <a:r>
              <a:rPr lang="en-US" sz="1500" dirty="0"/>
              <a:t> je od </a:t>
            </a:r>
            <a:r>
              <a:rPr lang="en-US" sz="1500" dirty="0" err="1"/>
              <a:t>validnog</a:t>
            </a:r>
            <a:r>
              <a:rPr lang="en-US" sz="1500" dirty="0"/>
              <a:t> </a:t>
            </a:r>
            <a:r>
              <a:rPr lang="en-US" sz="1500" dirty="0" err="1" smtClean="0"/>
              <a:t>predlagača</a:t>
            </a:r>
            <a:r>
              <a:rPr lang="en-US" sz="1500" dirty="0" smtClean="0"/>
              <a:t>.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 smtClean="0"/>
              <a:t>Zaglavlje</a:t>
            </a:r>
            <a:r>
              <a:rPr lang="en-US" sz="1500" dirty="0" smtClean="0"/>
              <a:t> </a:t>
            </a:r>
            <a:r>
              <a:rPr lang="en-US" sz="1500" dirty="0"/>
              <a:t>(header) </a:t>
            </a:r>
            <a:r>
              <a:rPr lang="en-US" sz="1500" dirty="0" err="1"/>
              <a:t>bloka</a:t>
            </a:r>
            <a:r>
              <a:rPr lang="en-US" sz="1500" dirty="0"/>
              <a:t> je </a:t>
            </a:r>
            <a:r>
              <a:rPr lang="en-US" sz="1500" dirty="0" err="1" smtClean="0"/>
              <a:t>validno</a:t>
            </a:r>
            <a:r>
              <a:rPr lang="en-US" sz="1500" dirty="0" smtClean="0"/>
              <a:t>.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 smtClean="0"/>
              <a:t>Sekvenca</a:t>
            </a:r>
            <a:r>
              <a:rPr lang="en-US" sz="1500" dirty="0" smtClean="0"/>
              <a:t> </a:t>
            </a:r>
            <a:r>
              <a:rPr lang="en-US" sz="1500" dirty="0" err="1"/>
              <a:t>i</a:t>
            </a:r>
            <a:r>
              <a:rPr lang="en-US" sz="1500" dirty="0"/>
              <a:t> </a:t>
            </a:r>
            <a:r>
              <a:rPr lang="en-US" sz="1500" dirty="0" err="1"/>
              <a:t>runda</a:t>
            </a:r>
            <a:r>
              <a:rPr lang="en-US" sz="1500" dirty="0"/>
              <a:t> </a:t>
            </a:r>
            <a:r>
              <a:rPr lang="en-US" sz="1500" dirty="0" err="1"/>
              <a:t>predloga</a:t>
            </a:r>
            <a:r>
              <a:rPr lang="en-US" sz="1500" dirty="0"/>
              <a:t> </a:t>
            </a:r>
            <a:r>
              <a:rPr lang="en-US" sz="1500" dirty="0" err="1"/>
              <a:t>bloka</a:t>
            </a:r>
            <a:r>
              <a:rPr lang="en-US" sz="1500" dirty="0"/>
              <a:t> se </a:t>
            </a:r>
            <a:r>
              <a:rPr lang="en-US" sz="1500" dirty="0" err="1"/>
              <a:t>poklapaju</a:t>
            </a:r>
            <a:r>
              <a:rPr lang="en-US" sz="1500" dirty="0"/>
              <a:t> </a:t>
            </a:r>
            <a:r>
              <a:rPr lang="en-US" sz="1500" dirty="0" err="1"/>
              <a:t>sa</a:t>
            </a:r>
            <a:r>
              <a:rPr lang="en-US" sz="1500" dirty="0"/>
              <a:t> </a:t>
            </a:r>
            <a:r>
              <a:rPr lang="en-US" sz="1500" dirty="0" err="1"/>
              <a:t>stanjem</a:t>
            </a:r>
            <a:r>
              <a:rPr lang="en-US" sz="1500" dirty="0"/>
              <a:t> </a:t>
            </a:r>
            <a:r>
              <a:rPr lang="en-US" sz="1500" dirty="0" err="1"/>
              <a:t>validatora</a:t>
            </a:r>
            <a:r>
              <a:rPr lang="en-US" sz="1500" dirty="0" smtClean="0"/>
              <a:t>.</a:t>
            </a:r>
            <a:endParaRPr lang="en-US" sz="1500" dirty="0"/>
          </a:p>
        </p:txBody>
      </p:sp>
      <p:sp>
        <p:nvSpPr>
          <p:cNvPr id="6" name="TextBox 5"/>
          <p:cNvSpPr txBox="1"/>
          <p:nvPr/>
        </p:nvSpPr>
        <p:spPr>
          <a:xfrm>
            <a:off x="8098972" y="2682240"/>
            <a:ext cx="394498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Validator prima ⌈2N/3⌉ </a:t>
            </a:r>
            <a:r>
              <a:rPr lang="en-US" sz="1500" dirty="0" err="1"/>
              <a:t>validnih</a:t>
            </a:r>
            <a:r>
              <a:rPr lang="en-US" sz="1500" dirty="0"/>
              <a:t> PREPARE </a:t>
            </a:r>
            <a:r>
              <a:rPr lang="en-US" sz="1500" dirty="0" err="1"/>
              <a:t>poruka</a:t>
            </a:r>
            <a:r>
              <a:rPr lang="en-US" sz="1500" dirty="0"/>
              <a:t> da bi </a:t>
            </a:r>
            <a:r>
              <a:rPr lang="en-US" sz="1500" dirty="0" err="1"/>
              <a:t>ušao</a:t>
            </a:r>
            <a:r>
              <a:rPr lang="en-US" sz="1500" dirty="0"/>
              <a:t> u PREPARED </a:t>
            </a:r>
            <a:r>
              <a:rPr lang="en-US" sz="1500" dirty="0" err="1"/>
              <a:t>stanje</a:t>
            </a:r>
            <a:r>
              <a:rPr lang="en-US" sz="1500" dirty="0"/>
              <a:t>. </a:t>
            </a:r>
            <a:r>
              <a:rPr lang="en-US" sz="1500" dirty="0" err="1"/>
              <a:t>Validne</a:t>
            </a:r>
            <a:r>
              <a:rPr lang="en-US" sz="1500" dirty="0"/>
              <a:t> </a:t>
            </a:r>
            <a:r>
              <a:rPr lang="en-US" sz="1500" dirty="0" err="1"/>
              <a:t>poruke</a:t>
            </a:r>
            <a:r>
              <a:rPr lang="en-US" sz="1500" dirty="0"/>
              <a:t> </a:t>
            </a:r>
            <a:r>
              <a:rPr lang="en-US" sz="1500" dirty="0" err="1"/>
              <a:t>su</a:t>
            </a:r>
            <a:r>
              <a:rPr lang="en-US" sz="1500" dirty="0"/>
              <a:t> u </a:t>
            </a:r>
            <a:r>
              <a:rPr lang="en-US" sz="1500" dirty="0" err="1"/>
              <a:t>skladu</a:t>
            </a:r>
            <a:r>
              <a:rPr lang="en-US" sz="1500" dirty="0"/>
              <a:t> </a:t>
            </a:r>
            <a:r>
              <a:rPr lang="en-US" sz="1500" dirty="0" err="1"/>
              <a:t>sa</a:t>
            </a:r>
            <a:r>
              <a:rPr lang="en-US" sz="1500" dirty="0"/>
              <a:t> </a:t>
            </a:r>
            <a:r>
              <a:rPr lang="en-US" sz="1500" dirty="0" err="1"/>
              <a:t>sledećim</a:t>
            </a:r>
            <a:r>
              <a:rPr lang="en-US" sz="1500" dirty="0"/>
              <a:t> </a:t>
            </a:r>
            <a:r>
              <a:rPr lang="en-US" sz="1500" dirty="0" err="1" smtClean="0"/>
              <a:t>uslovima</a:t>
            </a:r>
            <a:r>
              <a:rPr lang="en-US" sz="1500" dirty="0" smtClean="0"/>
              <a:t>:</a:t>
            </a:r>
          </a:p>
          <a:p>
            <a:endParaRPr lang="en-US" sz="1500" dirty="0"/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 smtClean="0"/>
              <a:t>Poklapaju</a:t>
            </a:r>
            <a:r>
              <a:rPr lang="en-US" sz="1500" dirty="0" smtClean="0"/>
              <a:t> </a:t>
            </a:r>
            <a:r>
              <a:rPr lang="en-US" sz="1500" dirty="0"/>
              <a:t>se </a:t>
            </a:r>
            <a:r>
              <a:rPr lang="en-US" sz="1500" dirty="0" err="1"/>
              <a:t>sekvenca</a:t>
            </a:r>
            <a:r>
              <a:rPr lang="en-US" sz="1500" dirty="0"/>
              <a:t> </a:t>
            </a:r>
            <a:r>
              <a:rPr lang="en-US" sz="1500" dirty="0" err="1"/>
              <a:t>i</a:t>
            </a:r>
            <a:r>
              <a:rPr lang="en-US" sz="1500" dirty="0"/>
              <a:t> </a:t>
            </a:r>
            <a:r>
              <a:rPr lang="en-US" sz="1500" dirty="0" err="1" smtClean="0"/>
              <a:t>runda</a:t>
            </a:r>
            <a:r>
              <a:rPr lang="en-US" sz="1500" dirty="0" smtClean="0"/>
              <a:t>.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 smtClean="0"/>
              <a:t>Poklapa</a:t>
            </a:r>
            <a:r>
              <a:rPr lang="en-US" sz="1500" dirty="0" smtClean="0"/>
              <a:t> </a:t>
            </a:r>
            <a:r>
              <a:rPr lang="en-US" sz="1500" dirty="0"/>
              <a:t>se hash </a:t>
            </a:r>
            <a:r>
              <a:rPr lang="en-US" sz="1500" dirty="0" err="1" smtClean="0"/>
              <a:t>bloka</a:t>
            </a:r>
            <a:r>
              <a:rPr lang="en-US" sz="1500" dirty="0" smtClean="0"/>
              <a:t>.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 smtClean="0"/>
              <a:t>Poruke</a:t>
            </a:r>
            <a:r>
              <a:rPr lang="en-US" sz="1500" dirty="0" smtClean="0"/>
              <a:t> </a:t>
            </a:r>
            <a:r>
              <a:rPr lang="en-US" sz="1500" dirty="0" err="1"/>
              <a:t>su</a:t>
            </a:r>
            <a:r>
              <a:rPr lang="en-US" sz="1500" dirty="0"/>
              <a:t> od </a:t>
            </a:r>
            <a:r>
              <a:rPr lang="en-US" sz="1500" dirty="0" err="1"/>
              <a:t>poznatih</a:t>
            </a:r>
            <a:r>
              <a:rPr lang="en-US" sz="1500" dirty="0"/>
              <a:t> </a:t>
            </a:r>
            <a:r>
              <a:rPr lang="en-US" sz="1500" dirty="0" err="1"/>
              <a:t>validatora</a:t>
            </a:r>
            <a:r>
              <a:rPr lang="en-US" sz="1500" dirty="0"/>
              <a:t>.</a:t>
            </a:r>
          </a:p>
          <a:p>
            <a:endParaRPr lang="en-US"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8098972" y="5129349"/>
            <a:ext cx="39449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500" dirty="0"/>
              <a:t>Blok se </a:t>
            </a:r>
            <a:r>
              <a:rPr lang="en-US" sz="1500" dirty="0" err="1"/>
              <a:t>upisuje</a:t>
            </a:r>
            <a:r>
              <a:rPr lang="en-US" sz="1500" dirty="0"/>
              <a:t> u </a:t>
            </a:r>
            <a:r>
              <a:rPr lang="en-US" sz="1500" dirty="0" err="1"/>
              <a:t>bazu</a:t>
            </a:r>
            <a:r>
              <a:rPr lang="en-US" sz="1500" dirty="0"/>
              <a:t> (Insert Block). </a:t>
            </a:r>
            <a:endParaRPr lang="en-US" sz="1500" dirty="0" smtClean="0"/>
          </a:p>
          <a:p>
            <a:pPr lvl="0"/>
            <a:r>
              <a:rPr lang="en-US" sz="1500" dirty="0" err="1" smtClean="0"/>
              <a:t>Ako</a:t>
            </a:r>
            <a:r>
              <a:rPr lang="en-US" sz="1500" dirty="0" smtClean="0"/>
              <a:t> </a:t>
            </a:r>
            <a:r>
              <a:rPr lang="en-US" sz="1500" dirty="0" err="1" smtClean="0"/>
              <a:t>umetanje</a:t>
            </a:r>
            <a:r>
              <a:rPr lang="en-US" sz="1500" dirty="0" smtClean="0"/>
              <a:t> </a:t>
            </a:r>
            <a:r>
              <a:rPr lang="en-US" sz="1500" dirty="0" err="1" smtClean="0"/>
              <a:t>bloka</a:t>
            </a:r>
            <a:r>
              <a:rPr lang="en-US" sz="1500" dirty="0" smtClean="0"/>
              <a:t> </a:t>
            </a:r>
            <a:r>
              <a:rPr lang="en-US" sz="1500" dirty="0" err="1" smtClean="0"/>
              <a:t>uspe</a:t>
            </a:r>
            <a:r>
              <a:rPr lang="en-US" sz="1500" dirty="0"/>
              <a:t>, ide se u </a:t>
            </a:r>
            <a:r>
              <a:rPr lang="en-US" sz="1500" dirty="0" smtClean="0"/>
              <a:t>Final Committed </a:t>
            </a:r>
            <a:r>
              <a:rPr lang="en-US" sz="1500" dirty="0" err="1"/>
              <a:t>i</a:t>
            </a:r>
            <a:r>
              <a:rPr lang="en-US" sz="1500" dirty="0"/>
              <a:t> </a:t>
            </a:r>
            <a:r>
              <a:rPr lang="en-US" sz="1500" dirty="0" err="1"/>
              <a:t>čeka</a:t>
            </a:r>
            <a:r>
              <a:rPr lang="en-US" sz="1500" dirty="0"/>
              <a:t> se nova </a:t>
            </a:r>
            <a:r>
              <a:rPr lang="en-US" sz="1500" dirty="0" err="1"/>
              <a:t>runda</a:t>
            </a:r>
            <a:r>
              <a:rPr lang="en-US" sz="1500" dirty="0"/>
              <a:t>.</a:t>
            </a:r>
          </a:p>
          <a:p>
            <a:r>
              <a:rPr lang="en-US" sz="1500" dirty="0" err="1" smtClean="0"/>
              <a:t>Ako</a:t>
            </a:r>
            <a:r>
              <a:rPr lang="en-US" sz="1500" dirty="0" smtClean="0"/>
              <a:t> </a:t>
            </a:r>
            <a:r>
              <a:rPr lang="en-US" sz="1500" dirty="0" err="1"/>
              <a:t>umetanje</a:t>
            </a:r>
            <a:r>
              <a:rPr lang="en-US" sz="1500" dirty="0"/>
              <a:t> ne </a:t>
            </a:r>
            <a:r>
              <a:rPr lang="en-US" sz="1500" dirty="0" err="1"/>
              <a:t>uspe</a:t>
            </a:r>
            <a:r>
              <a:rPr lang="en-US" sz="1500" dirty="0"/>
              <a:t>, </a:t>
            </a:r>
            <a:r>
              <a:rPr lang="en-US" sz="1500" dirty="0" err="1"/>
              <a:t>blok</a:t>
            </a:r>
            <a:r>
              <a:rPr lang="en-US" sz="1500" dirty="0"/>
              <a:t> se </a:t>
            </a:r>
            <a:r>
              <a:rPr lang="en-US" sz="1500" dirty="0" err="1"/>
              <a:t>odbacuje</a:t>
            </a:r>
            <a:r>
              <a:rPr lang="en-US" sz="1500" dirty="0"/>
              <a:t> </a:t>
            </a:r>
            <a:r>
              <a:rPr lang="en-US" sz="1500" dirty="0" err="1"/>
              <a:t>i</a:t>
            </a:r>
            <a:r>
              <a:rPr lang="en-US" sz="1500" dirty="0"/>
              <a:t> </a:t>
            </a:r>
            <a:r>
              <a:rPr lang="en-US" sz="1500" dirty="0" err="1"/>
              <a:t>predlaže</a:t>
            </a:r>
            <a:r>
              <a:rPr lang="en-US" sz="1500" dirty="0"/>
              <a:t> se </a:t>
            </a:r>
            <a:r>
              <a:rPr lang="en-US" sz="1500" dirty="0" err="1"/>
              <a:t>novi</a:t>
            </a:r>
            <a:r>
              <a:rPr lang="en-US" sz="1500" dirty="0"/>
              <a:t> </a:t>
            </a:r>
            <a:r>
              <a:rPr lang="en-US" sz="1500" dirty="0" err="1"/>
              <a:t>blok</a:t>
            </a:r>
            <a:r>
              <a:rPr lang="en-US" sz="1500" dirty="0"/>
              <a:t> </a:t>
            </a:r>
            <a:r>
              <a:rPr lang="en-US" sz="1500" dirty="0" err="1"/>
              <a:t>na</a:t>
            </a:r>
            <a:r>
              <a:rPr lang="en-US" sz="1500" dirty="0"/>
              <a:t> </a:t>
            </a:r>
            <a:r>
              <a:rPr lang="en-US" sz="1500" dirty="0" err="1"/>
              <a:t>istoj</a:t>
            </a:r>
            <a:r>
              <a:rPr lang="en-US" sz="1500" dirty="0"/>
              <a:t> </a:t>
            </a:r>
            <a:r>
              <a:rPr lang="en-US" sz="1500" dirty="0" err="1"/>
              <a:t>visini</a:t>
            </a:r>
            <a:r>
              <a:rPr lang="en-US" sz="1500" dirty="0"/>
              <a:t> </a:t>
            </a:r>
            <a:r>
              <a:rPr lang="en-US" sz="1500" dirty="0" err="1"/>
              <a:t>lanca</a:t>
            </a:r>
            <a:r>
              <a:rPr lang="en-US" sz="1500" dirty="0"/>
              <a:t>.</a:t>
            </a:r>
          </a:p>
          <a:p>
            <a:endParaRPr lang="en-US" sz="1500" dirty="0"/>
          </a:p>
        </p:txBody>
      </p:sp>
      <p:cxnSp>
        <p:nvCxnSpPr>
          <p:cNvPr id="10" name="Straight Arrow Connector 9"/>
          <p:cNvCxnSpPr>
            <a:stCxn id="5" idx="1"/>
          </p:cNvCxnSpPr>
          <p:nvPr/>
        </p:nvCxnSpPr>
        <p:spPr>
          <a:xfrm flipH="1">
            <a:off x="6244046" y="1454972"/>
            <a:ext cx="1854926" cy="138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357257" y="3030583"/>
            <a:ext cx="1741715" cy="269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6357257" y="3884023"/>
            <a:ext cx="1741715" cy="349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6244047" y="5773783"/>
            <a:ext cx="1785256" cy="391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6244046" y="4431382"/>
            <a:ext cx="1854926" cy="697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17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0403" y="450668"/>
            <a:ext cx="10018713" cy="968829"/>
          </a:xfrm>
        </p:spPr>
        <p:txBody>
          <a:bodyPr>
            <a:normAutofit/>
          </a:bodyPr>
          <a:lstStyle/>
          <a:p>
            <a:r>
              <a:rPr lang="sr-Latn-RS" sz="3600" dirty="0" smtClean="0"/>
              <a:t>Tehnička analiza normalnog rada algoritma</a:t>
            </a:r>
            <a:endParaRPr lang="en-US" sz="3600" dirty="0"/>
          </a:p>
        </p:txBody>
      </p:sp>
      <p:pic>
        <p:nvPicPr>
          <p:cNvPr id="4" name="Content Placeholder 3" descr="C:\Users\Aleksandra\Desktop\capko\8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06" y="1584959"/>
            <a:ext cx="5712823" cy="47026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6470468" y="1886383"/>
            <a:ext cx="49987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Svaki</a:t>
            </a:r>
            <a:r>
              <a:rPr lang="en-US" sz="2000" dirty="0" smtClean="0"/>
              <a:t> validator u </a:t>
            </a:r>
            <a:r>
              <a:rPr lang="en-US" sz="2000" dirty="0" err="1" smtClean="0"/>
              <a:t>svakom</a:t>
            </a:r>
            <a:r>
              <a:rPr lang="en-US" sz="2000" dirty="0" smtClean="0"/>
              <a:t> </a:t>
            </a:r>
            <a:r>
              <a:rPr lang="en-US" sz="2000" dirty="0" err="1" smtClean="0"/>
              <a:t>trenutku</a:t>
            </a:r>
            <a:r>
              <a:rPr lang="en-US" sz="2000" dirty="0" smtClean="0"/>
              <a:t> </a:t>
            </a:r>
            <a:r>
              <a:rPr lang="en-US" sz="2000" dirty="0" err="1" smtClean="0"/>
              <a:t>održava</a:t>
            </a:r>
            <a:r>
              <a:rPr lang="en-US" sz="2000" dirty="0" smtClean="0"/>
              <a:t> </a:t>
            </a:r>
            <a:r>
              <a:rPr lang="en-US" sz="2000" dirty="0" err="1" smtClean="0"/>
              <a:t>stanje</a:t>
            </a:r>
            <a:r>
              <a:rPr lang="en-US" sz="2000" dirty="0" smtClean="0"/>
              <a:t> </a:t>
            </a:r>
            <a:r>
              <a:rPr lang="en-US" sz="2000" dirty="0" err="1" smtClean="0"/>
              <a:t>definisano</a:t>
            </a:r>
            <a:r>
              <a:rPr lang="en-US" sz="2000" dirty="0" smtClean="0"/>
              <a:t> </a:t>
            </a:r>
            <a:r>
              <a:rPr lang="en-US" sz="2000" dirty="0" err="1" smtClean="0"/>
              <a:t>kroz</a:t>
            </a:r>
            <a:r>
              <a:rPr lang="en-US" sz="2000" dirty="0" smtClean="0"/>
              <a:t> pet </a:t>
            </a:r>
            <a:r>
              <a:rPr lang="en-US" sz="2000" dirty="0" err="1" smtClean="0"/>
              <a:t>promenljivih</a:t>
            </a:r>
            <a:r>
              <a:rPr lang="en-US" sz="2000" dirty="0" smtClean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i="1" dirty="0" err="1" smtClean="0"/>
              <a:t>λi</a:t>
            </a:r>
            <a:r>
              <a:rPr lang="en-US" sz="2000" dirty="0" smtClean="0"/>
              <a:t>​ (</a:t>
            </a:r>
            <a:r>
              <a:rPr lang="en-US" sz="2000" dirty="0" err="1" smtClean="0"/>
              <a:t>Instanca</a:t>
            </a:r>
            <a:r>
              <a:rPr lang="en-US" sz="2000" dirty="0" smtClean="0"/>
              <a:t>): </a:t>
            </a:r>
            <a:r>
              <a:rPr lang="en-US" sz="2000" dirty="0" err="1" smtClean="0"/>
              <a:t>Identifikuje</a:t>
            </a:r>
            <a:r>
              <a:rPr lang="en-US" sz="2000" dirty="0" smtClean="0"/>
              <a:t> </a:t>
            </a:r>
            <a:r>
              <a:rPr lang="en-US" sz="2000" dirty="0" err="1" smtClean="0"/>
              <a:t>broj</a:t>
            </a:r>
            <a:r>
              <a:rPr lang="en-US" sz="2000" dirty="0" smtClean="0"/>
              <a:t> </a:t>
            </a:r>
            <a:r>
              <a:rPr lang="en-US" sz="2000" dirty="0" err="1" smtClean="0"/>
              <a:t>bloka</a:t>
            </a:r>
            <a:r>
              <a:rPr lang="en-US" sz="2000" dirty="0" smtClean="0"/>
              <a:t> </a:t>
            </a:r>
            <a:r>
              <a:rPr lang="en-US" sz="2000" dirty="0" err="1" smtClean="0"/>
              <a:t>koji</a:t>
            </a:r>
            <a:r>
              <a:rPr lang="en-US" sz="2000" dirty="0" smtClean="0"/>
              <a:t> se </a:t>
            </a:r>
            <a:r>
              <a:rPr lang="en-US" sz="2000" dirty="0" err="1" smtClean="0"/>
              <a:t>trenutno</a:t>
            </a:r>
            <a:r>
              <a:rPr lang="en-US" sz="2000" dirty="0" smtClean="0"/>
              <a:t> </a:t>
            </a:r>
            <a:r>
              <a:rPr lang="en-US" sz="2000" dirty="0" err="1" smtClean="0"/>
              <a:t>obrađuje</a:t>
            </a:r>
            <a:r>
              <a:rPr lang="en-US" sz="2000" dirty="0" smtClean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i="1" dirty="0" err="1" smtClean="0"/>
              <a:t>ri</a:t>
            </a:r>
            <a:r>
              <a:rPr lang="en-US" sz="2000" dirty="0" smtClean="0"/>
              <a:t>​ (</a:t>
            </a:r>
            <a:r>
              <a:rPr lang="en-US" sz="2000" dirty="0" err="1" smtClean="0"/>
              <a:t>Runda</a:t>
            </a:r>
            <a:r>
              <a:rPr lang="en-US" sz="2000" dirty="0" smtClean="0"/>
              <a:t>): </a:t>
            </a:r>
            <a:r>
              <a:rPr lang="en-US" sz="2000" dirty="0" err="1" smtClean="0"/>
              <a:t>Identifikuje</a:t>
            </a:r>
            <a:r>
              <a:rPr lang="en-US" sz="2000" dirty="0" smtClean="0"/>
              <a:t> </a:t>
            </a:r>
            <a:r>
              <a:rPr lang="en-US" sz="2000" dirty="0" err="1" smtClean="0"/>
              <a:t>trenutni</a:t>
            </a:r>
            <a:r>
              <a:rPr lang="en-US" sz="2000" dirty="0" smtClean="0"/>
              <a:t> </a:t>
            </a:r>
            <a:r>
              <a:rPr lang="en-US" sz="2000" dirty="0" err="1" smtClean="0"/>
              <a:t>pokušaj</a:t>
            </a:r>
            <a:r>
              <a:rPr lang="en-US" sz="2000" dirty="0" smtClean="0"/>
              <a:t> </a:t>
            </a:r>
            <a:r>
              <a:rPr lang="en-US" sz="2000" dirty="0" err="1" smtClean="0"/>
              <a:t>postizanja</a:t>
            </a:r>
            <a:r>
              <a:rPr lang="en-US" sz="2000" dirty="0" smtClean="0"/>
              <a:t> </a:t>
            </a:r>
            <a:r>
              <a:rPr lang="en-US" sz="2000" dirty="0" err="1" smtClean="0"/>
              <a:t>dogovora</a:t>
            </a:r>
            <a:r>
              <a:rPr lang="en-US" sz="2000" dirty="0" smtClean="0"/>
              <a:t> (</a:t>
            </a:r>
            <a:r>
              <a:rPr lang="en-US" sz="2000" dirty="0" err="1" smtClean="0"/>
              <a:t>počinje</a:t>
            </a:r>
            <a:r>
              <a:rPr lang="en-US" sz="2000" dirty="0" smtClean="0"/>
              <a:t> od 1).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i="1" dirty="0" err="1" smtClean="0"/>
              <a:t>pr</a:t>
            </a:r>
            <a:r>
              <a:rPr lang="en-US" sz="2000" dirty="0" smtClean="0"/>
              <a:t>​ (</a:t>
            </a:r>
            <a:r>
              <a:rPr lang="en-US" sz="2000" dirty="0" err="1" smtClean="0"/>
              <a:t>Pripremljena</a:t>
            </a:r>
            <a:r>
              <a:rPr lang="en-US" sz="2000" dirty="0" smtClean="0"/>
              <a:t> </a:t>
            </a:r>
            <a:r>
              <a:rPr lang="en-US" sz="2000" dirty="0" err="1" smtClean="0"/>
              <a:t>runda</a:t>
            </a:r>
            <a:r>
              <a:rPr lang="en-US" sz="2000" dirty="0" smtClean="0"/>
              <a:t>): </a:t>
            </a:r>
            <a:r>
              <a:rPr lang="en-US" sz="2000" dirty="0" err="1" smtClean="0"/>
              <a:t>Najviša</a:t>
            </a:r>
            <a:r>
              <a:rPr lang="en-US" sz="2000" dirty="0" smtClean="0"/>
              <a:t> </a:t>
            </a:r>
            <a:r>
              <a:rPr lang="en-US" sz="2000" dirty="0" err="1" smtClean="0"/>
              <a:t>runda</a:t>
            </a:r>
            <a:r>
              <a:rPr lang="en-US" sz="2000" dirty="0" smtClean="0"/>
              <a:t> </a:t>
            </a:r>
            <a:r>
              <a:rPr lang="en-US" sz="2000" dirty="0" err="1" smtClean="0"/>
              <a:t>za</a:t>
            </a:r>
            <a:r>
              <a:rPr lang="en-US" sz="2000" dirty="0" smtClean="0"/>
              <a:t> </a:t>
            </a:r>
            <a:r>
              <a:rPr lang="en-US" sz="2000" dirty="0" err="1" smtClean="0"/>
              <a:t>koju</a:t>
            </a:r>
            <a:r>
              <a:rPr lang="en-US" sz="2000" dirty="0" smtClean="0"/>
              <a:t> je validator </a:t>
            </a:r>
            <a:r>
              <a:rPr lang="en-US" sz="2000" dirty="0" err="1" smtClean="0"/>
              <a:t>primio</a:t>
            </a:r>
            <a:r>
              <a:rPr lang="en-US" sz="2000" dirty="0" smtClean="0"/>
              <a:t> </a:t>
            </a:r>
            <a:r>
              <a:rPr lang="en-US" sz="2000" dirty="0" err="1" smtClean="0"/>
              <a:t>kvorum</a:t>
            </a:r>
            <a:r>
              <a:rPr lang="en-US" sz="2000" dirty="0" smtClean="0"/>
              <a:t> </a:t>
            </a:r>
            <a:r>
              <a:rPr lang="en-US" sz="2000" dirty="0" err="1" smtClean="0"/>
              <a:t>poruka</a:t>
            </a:r>
            <a:r>
              <a:rPr lang="en-US" sz="2000" dirty="0" smtClean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i="1" dirty="0" err="1" smtClean="0"/>
              <a:t>pv</a:t>
            </a:r>
            <a:r>
              <a:rPr lang="en-US" sz="2000" dirty="0" smtClean="0"/>
              <a:t>​ (</a:t>
            </a:r>
            <a:r>
              <a:rPr lang="en-US" sz="2000" dirty="0" err="1" smtClean="0"/>
              <a:t>Pripremljena</a:t>
            </a:r>
            <a:r>
              <a:rPr lang="en-US" sz="2000" dirty="0" smtClean="0"/>
              <a:t> </a:t>
            </a:r>
            <a:r>
              <a:rPr lang="en-US" sz="2000" dirty="0" err="1" smtClean="0"/>
              <a:t>vrednost</a:t>
            </a:r>
            <a:r>
              <a:rPr lang="en-US" sz="2000" dirty="0" smtClean="0"/>
              <a:t>): </a:t>
            </a:r>
            <a:r>
              <a:rPr lang="en-US" sz="2000" dirty="0" err="1" smtClean="0"/>
              <a:t>Vrednost</a:t>
            </a:r>
            <a:r>
              <a:rPr lang="en-US" sz="2000" dirty="0" smtClean="0"/>
              <a:t> </a:t>
            </a:r>
            <a:r>
              <a:rPr lang="en-US" sz="2000" dirty="0" err="1" smtClean="0"/>
              <a:t>za</a:t>
            </a:r>
            <a:r>
              <a:rPr lang="en-US" sz="2000" dirty="0" smtClean="0"/>
              <a:t> </a:t>
            </a:r>
            <a:r>
              <a:rPr lang="en-US" sz="2000" dirty="0" err="1" smtClean="0"/>
              <a:t>koju</a:t>
            </a:r>
            <a:r>
              <a:rPr lang="en-US" sz="2000" dirty="0" smtClean="0"/>
              <a:t> se validator </a:t>
            </a:r>
            <a:r>
              <a:rPr lang="en-US" sz="2000" dirty="0" err="1" smtClean="0"/>
              <a:t>pripremio</a:t>
            </a:r>
            <a:r>
              <a:rPr lang="en-US" sz="2000" dirty="0" smtClean="0"/>
              <a:t> (</a:t>
            </a:r>
            <a:r>
              <a:rPr lang="en-US" sz="2000" dirty="0" err="1" smtClean="0"/>
              <a:t>inicijalno</a:t>
            </a:r>
            <a:r>
              <a:rPr lang="en-US" sz="2000" dirty="0" smtClean="0"/>
              <a:t> </a:t>
            </a:r>
            <a:r>
              <a:rPr lang="en-US" sz="2000" dirty="0" err="1" smtClean="0"/>
              <a:t>prazno</a:t>
            </a:r>
            <a:r>
              <a:rPr lang="en-US" sz="2000" dirty="0" smtClean="0"/>
              <a:t> ⊥).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i="1" dirty="0" err="1" smtClean="0"/>
              <a:t>inputValuei</a:t>
            </a:r>
            <a:r>
              <a:rPr lang="en-US" sz="2000" dirty="0" smtClean="0"/>
              <a:t>​: </a:t>
            </a:r>
            <a:r>
              <a:rPr lang="en-US" sz="2000" dirty="0" err="1" smtClean="0"/>
              <a:t>Vrednost</a:t>
            </a:r>
            <a:r>
              <a:rPr lang="en-US" sz="2000" dirty="0" smtClean="0"/>
              <a:t> </a:t>
            </a:r>
            <a:r>
              <a:rPr lang="en-US" sz="2000" dirty="0" err="1" smtClean="0"/>
              <a:t>koju</a:t>
            </a:r>
            <a:r>
              <a:rPr lang="en-US" sz="2000" dirty="0" smtClean="0"/>
              <a:t> validator </a:t>
            </a:r>
            <a:r>
              <a:rPr lang="en-US" sz="2000" dirty="0" err="1" smtClean="0"/>
              <a:t>želi</a:t>
            </a:r>
            <a:r>
              <a:rPr lang="en-US" sz="2000" dirty="0" smtClean="0"/>
              <a:t> da </a:t>
            </a:r>
            <a:r>
              <a:rPr lang="en-US" sz="2000" dirty="0" err="1" smtClean="0"/>
              <a:t>predloži</a:t>
            </a:r>
            <a:r>
              <a:rPr lang="en-US" sz="2000" dirty="0" smtClean="0"/>
              <a:t> (</a:t>
            </a:r>
            <a:r>
              <a:rPr lang="en-US" sz="2000" dirty="0" err="1" smtClean="0"/>
              <a:t>txpool</a:t>
            </a:r>
            <a:r>
              <a:rPr lang="en-US" sz="2000" dirty="0" smtClean="0"/>
              <a:t> </a:t>
            </a:r>
            <a:r>
              <a:rPr lang="en-US" sz="2000" dirty="0" err="1" smtClean="0"/>
              <a:t>transakcije</a:t>
            </a:r>
            <a:r>
              <a:rPr lang="en-US" sz="2000" dirty="0" smtClean="0"/>
              <a:t>).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617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:\Users\Aleksandra\Desktop\capko\4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173" y="1833454"/>
            <a:ext cx="7626520" cy="39449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715587" y="679269"/>
            <a:ext cx="8908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pokrene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, </a:t>
            </a:r>
            <a:r>
              <a:rPr lang="en-US" dirty="0" err="1"/>
              <a:t>ostali</a:t>
            </a:r>
            <a:r>
              <a:rPr lang="en-US" dirty="0"/>
              <a:t> </a:t>
            </a:r>
            <a:r>
              <a:rPr lang="en-US" dirty="0" err="1"/>
              <a:t>validatori</a:t>
            </a:r>
            <a:r>
              <a:rPr lang="en-US" dirty="0"/>
              <a:t> prate </a:t>
            </a:r>
            <a:r>
              <a:rPr lang="en-US" dirty="0" err="1"/>
              <a:t>logiku</a:t>
            </a:r>
            <a:r>
              <a:rPr lang="en-US" dirty="0"/>
              <a:t> </a:t>
            </a:r>
            <a:r>
              <a:rPr lang="en-US" b="1" dirty="0" err="1"/>
              <a:t>Algoritma</a:t>
            </a:r>
            <a:r>
              <a:rPr lang="en-US" b="1" dirty="0"/>
              <a:t> 2</a:t>
            </a:r>
            <a:r>
              <a:rPr lang="en-US" dirty="0"/>
              <a:t>,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opisuje</a:t>
            </a:r>
            <a:r>
              <a:rPr lang="en-US" dirty="0"/>
              <a:t> rad u </a:t>
            </a:r>
            <a:r>
              <a:rPr lang="en-US" dirty="0" err="1"/>
              <a:t>idealnim</a:t>
            </a:r>
            <a:r>
              <a:rPr lang="en-US" dirty="0"/>
              <a:t> </a:t>
            </a:r>
            <a:r>
              <a:rPr lang="en-US" dirty="0" err="1"/>
              <a:t>uslovima</a:t>
            </a:r>
            <a:r>
              <a:rPr lang="en-US" dirty="0"/>
              <a:t> (</a:t>
            </a:r>
            <a:r>
              <a:rPr lang="en-US" dirty="0" err="1"/>
              <a:t>blagovremena</a:t>
            </a:r>
            <a:r>
              <a:rPr lang="en-US" dirty="0"/>
              <a:t> </a:t>
            </a:r>
            <a:r>
              <a:rPr lang="en-US" dirty="0" err="1"/>
              <a:t>komunikacija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ispravan</a:t>
            </a:r>
            <a:r>
              <a:rPr lang="en-US" dirty="0"/>
              <a:t> </a:t>
            </a:r>
            <a:r>
              <a:rPr lang="en-US" dirty="0" err="1"/>
              <a:t>lider</a:t>
            </a:r>
            <a:r>
              <a:rPr lang="en-US" dirty="0"/>
              <a:t>):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3006" y="2612572"/>
            <a:ext cx="29086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/>
              <a:t>proverava</a:t>
            </a:r>
            <a:r>
              <a:rPr lang="en-US" sz="1500" dirty="0"/>
              <a:t> da li </a:t>
            </a:r>
            <a:r>
              <a:rPr lang="en-US" sz="1500" dirty="0" err="1"/>
              <a:t>poruka</a:t>
            </a:r>
            <a:r>
              <a:rPr lang="en-US" sz="1500" dirty="0"/>
              <a:t> </a:t>
            </a:r>
            <a:r>
              <a:rPr lang="en-US" sz="1500" dirty="0" err="1"/>
              <a:t>nosi</a:t>
            </a:r>
            <a:r>
              <a:rPr lang="en-US" sz="1500" dirty="0"/>
              <a:t> "</a:t>
            </a:r>
            <a:r>
              <a:rPr lang="en-US" sz="1500" dirty="0" err="1"/>
              <a:t>opravdanu</a:t>
            </a:r>
            <a:r>
              <a:rPr lang="en-US" sz="1500" dirty="0"/>
              <a:t> </a:t>
            </a:r>
            <a:r>
              <a:rPr lang="en-US" sz="1500" dirty="0" err="1"/>
              <a:t>vrednost</a:t>
            </a:r>
            <a:r>
              <a:rPr lang="en-US" sz="1500" dirty="0"/>
              <a:t>"</a:t>
            </a:r>
          </a:p>
        </p:txBody>
      </p:sp>
      <p:cxnSp>
        <p:nvCxnSpPr>
          <p:cNvPr id="6" name="Straight Arrow Connector 5"/>
          <p:cNvCxnSpPr>
            <a:stCxn id="3" idx="1"/>
          </p:cNvCxnSpPr>
          <p:nvPr/>
        </p:nvCxnSpPr>
        <p:spPr>
          <a:xfrm flipH="1" flipV="1">
            <a:off x="5878286" y="2786743"/>
            <a:ext cx="3474720" cy="102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18170" y="4703775"/>
            <a:ext cx="261257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/>
              <a:t>proces</a:t>
            </a:r>
            <a:r>
              <a:rPr lang="en-US" sz="1500" dirty="0"/>
              <a:t> </a:t>
            </a:r>
            <a:r>
              <a:rPr lang="en-US" sz="1500" i="1" dirty="0"/>
              <a:t>pi</a:t>
            </a:r>
            <a:r>
              <a:rPr lang="en-US" sz="1500" dirty="0"/>
              <a:t>​ </a:t>
            </a:r>
            <a:r>
              <a:rPr lang="en-US" sz="1500" dirty="0" err="1"/>
              <a:t>zvanično</a:t>
            </a:r>
            <a:r>
              <a:rPr lang="en-US" sz="1500" dirty="0"/>
              <a:t> </a:t>
            </a:r>
            <a:r>
              <a:rPr lang="en-US" sz="1500" dirty="0" err="1"/>
              <a:t>donosi</a:t>
            </a:r>
            <a:r>
              <a:rPr lang="en-US" sz="1500" dirty="0"/>
              <a:t> </a:t>
            </a:r>
            <a:r>
              <a:rPr lang="en-US" sz="1500" dirty="0" err="1"/>
              <a:t>odluku</a:t>
            </a:r>
            <a:r>
              <a:rPr lang="en-US" sz="1500" dirty="0"/>
              <a:t> </a:t>
            </a:r>
            <a:r>
              <a:rPr lang="en-US" sz="1500" dirty="0" err="1"/>
              <a:t>pozivanjem</a:t>
            </a:r>
            <a:r>
              <a:rPr lang="en-US" sz="1500" dirty="0"/>
              <a:t> </a:t>
            </a:r>
            <a:r>
              <a:rPr lang="en-US" sz="1500" dirty="0" err="1"/>
              <a:t>eksterne</a:t>
            </a:r>
            <a:r>
              <a:rPr lang="en-US" sz="1500" dirty="0"/>
              <a:t> </a:t>
            </a:r>
            <a:r>
              <a:rPr lang="en-US" sz="1500" dirty="0" err="1"/>
              <a:t>funkcije</a:t>
            </a:r>
            <a:r>
              <a:rPr lang="en-US" sz="1500" dirty="0"/>
              <a:t> </a:t>
            </a:r>
            <a:r>
              <a:rPr lang="en-US" sz="1500" dirty="0" smtClean="0"/>
              <a:t>DECIDE</a:t>
            </a:r>
          </a:p>
          <a:p>
            <a:r>
              <a:rPr lang="en-US" sz="1500" dirty="0" err="1" smtClean="0"/>
              <a:t>Qcommit</a:t>
            </a:r>
            <a:r>
              <a:rPr lang="en-US" sz="1500" dirty="0" smtClean="0"/>
              <a:t> – </a:t>
            </a:r>
            <a:r>
              <a:rPr lang="en-US" sz="1500" dirty="0" err="1" smtClean="0"/>
              <a:t>kvorum</a:t>
            </a:r>
            <a:r>
              <a:rPr lang="en-US" sz="1500" dirty="0" smtClean="0"/>
              <a:t> </a:t>
            </a:r>
            <a:r>
              <a:rPr lang="en-US" sz="1500" dirty="0" err="1" smtClean="0"/>
              <a:t>potvrda</a:t>
            </a:r>
            <a:r>
              <a:rPr lang="en-US" sz="1500" dirty="0" smtClean="0"/>
              <a:t>; </a:t>
            </a:r>
            <a:r>
              <a:rPr lang="en-US" sz="1500" dirty="0" err="1" smtClean="0"/>
              <a:t>skup</a:t>
            </a:r>
            <a:r>
              <a:rPr lang="en-US" sz="1500" dirty="0" smtClean="0"/>
              <a:t> </a:t>
            </a:r>
            <a:r>
              <a:rPr lang="en-US" sz="1500" dirty="0" err="1" smtClean="0"/>
              <a:t>digitalnih</a:t>
            </a:r>
            <a:r>
              <a:rPr lang="en-US" sz="1500" dirty="0" smtClean="0"/>
              <a:t> </a:t>
            </a:r>
            <a:r>
              <a:rPr lang="en-US" sz="1500" dirty="0" err="1" smtClean="0"/>
              <a:t>potpisa</a:t>
            </a:r>
            <a:endParaRPr lang="en-US" sz="1500" dirty="0"/>
          </a:p>
        </p:txBody>
      </p:sp>
      <p:cxnSp>
        <p:nvCxnSpPr>
          <p:cNvPr id="8" name="Straight Arrow Connector 7"/>
          <p:cNvCxnSpPr>
            <a:stCxn id="5" idx="1"/>
          </p:cNvCxnSpPr>
          <p:nvPr/>
        </p:nvCxnSpPr>
        <p:spPr>
          <a:xfrm flipH="1">
            <a:off x="4432664" y="5327023"/>
            <a:ext cx="4885506" cy="46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88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065" y="241663"/>
            <a:ext cx="10018713" cy="1404257"/>
          </a:xfrm>
        </p:spPr>
        <p:txBody>
          <a:bodyPr>
            <a:normAutofit/>
          </a:bodyPr>
          <a:lstStyle/>
          <a:p>
            <a:r>
              <a:rPr lang="sr-Latn-RS" sz="3600" dirty="0" err="1"/>
              <a:t>Š</a:t>
            </a:r>
            <a:r>
              <a:rPr lang="en-US" sz="3600" dirty="0" smtClean="0"/>
              <a:t>ta </a:t>
            </a:r>
            <a:r>
              <a:rPr lang="en-US" sz="3600" dirty="0" err="1"/>
              <a:t>kada</a:t>
            </a:r>
            <a:r>
              <a:rPr lang="en-US" sz="3600" dirty="0"/>
              <a:t> </a:t>
            </a:r>
            <a:r>
              <a:rPr lang="en-US" sz="3600" dirty="0" smtClean="0"/>
              <a:t>ne</a:t>
            </a:r>
            <a:r>
              <a:rPr lang="sr-Latn-RS" sz="3600" dirty="0" smtClean="0"/>
              <a:t>š</a:t>
            </a:r>
            <a:r>
              <a:rPr lang="en-US" sz="3600" dirty="0" smtClean="0"/>
              <a:t>to </a:t>
            </a:r>
            <a:r>
              <a:rPr lang="en-US" sz="3600" dirty="0" err="1" smtClean="0"/>
              <a:t>po</a:t>
            </a:r>
            <a:r>
              <a:rPr lang="sr-Latn-RS" sz="3600" dirty="0" smtClean="0"/>
              <a:t>đ</a:t>
            </a:r>
            <a:r>
              <a:rPr lang="en-US" sz="3600" dirty="0" smtClean="0"/>
              <a:t>e </a:t>
            </a:r>
            <a:r>
              <a:rPr lang="en-US" sz="3600" dirty="0" err="1"/>
              <a:t>po</a:t>
            </a:r>
            <a:r>
              <a:rPr lang="en-US" sz="3600" dirty="0"/>
              <a:t> </a:t>
            </a:r>
            <a:r>
              <a:rPr lang="en-US" sz="3600" dirty="0" err="1"/>
              <a:t>zlu</a:t>
            </a:r>
            <a:r>
              <a:rPr lang="en-US" sz="3600" dirty="0"/>
              <a:t>? </a:t>
            </a:r>
            <a:r>
              <a:rPr lang="en-US" sz="3600" dirty="0" smtClean="0"/>
              <a:t>(</a:t>
            </a:r>
            <a:r>
              <a:rPr lang="en-US" sz="3600" dirty="0" err="1" smtClean="0"/>
              <a:t>mehanizam</a:t>
            </a:r>
            <a:r>
              <a:rPr lang="en-US" sz="3600" dirty="0" smtClean="0"/>
              <a:t> </a:t>
            </a:r>
            <a:r>
              <a:rPr lang="en-US" sz="3600" dirty="0" err="1" smtClean="0"/>
              <a:t>promene</a:t>
            </a:r>
            <a:r>
              <a:rPr lang="en-US" sz="3600" dirty="0" smtClean="0"/>
              <a:t> </a:t>
            </a:r>
            <a:r>
              <a:rPr lang="en-US" sz="3600" dirty="0" err="1" smtClean="0"/>
              <a:t>runde</a:t>
            </a:r>
            <a:r>
              <a:rPr lang="sr-Latn-RS" sz="3600" dirty="0" smtClean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7155" y="1770016"/>
            <a:ext cx="10018713" cy="4804956"/>
          </a:xfrm>
        </p:spPr>
        <p:txBody>
          <a:bodyPr>
            <a:normAutofit/>
          </a:bodyPr>
          <a:lstStyle/>
          <a:p>
            <a:r>
              <a:rPr lang="en-US" sz="2200" dirty="0" err="1"/>
              <a:t>Postoje</a:t>
            </a:r>
            <a:r>
              <a:rPr lang="en-US" sz="2200" dirty="0"/>
              <a:t> tri </a:t>
            </a:r>
            <a:r>
              <a:rPr lang="en-US" sz="2200" dirty="0" err="1"/>
              <a:t>uslova</a:t>
            </a:r>
            <a:r>
              <a:rPr lang="en-US" sz="2200" dirty="0"/>
              <a:t> </a:t>
            </a:r>
            <a:r>
              <a:rPr lang="en-US" sz="2200" dirty="0" err="1"/>
              <a:t>koji</a:t>
            </a:r>
            <a:r>
              <a:rPr lang="en-US" sz="2200" dirty="0"/>
              <a:t> bi </a:t>
            </a:r>
            <a:r>
              <a:rPr lang="en-US" sz="2200" dirty="0" err="1"/>
              <a:t>pokrenuli</a:t>
            </a:r>
            <a:r>
              <a:rPr lang="en-US" sz="2200" dirty="0"/>
              <a:t> ROUND CHANGE (</a:t>
            </a:r>
            <a:r>
              <a:rPr lang="en-US" sz="2200" dirty="0" err="1"/>
              <a:t>promenu</a:t>
            </a:r>
            <a:r>
              <a:rPr lang="en-US" sz="2200" dirty="0"/>
              <a:t> </a:t>
            </a:r>
            <a:r>
              <a:rPr lang="en-US" sz="2200" dirty="0" err="1"/>
              <a:t>runde</a:t>
            </a:r>
            <a:r>
              <a:rPr lang="en-US" sz="2200" dirty="0"/>
              <a:t>):</a:t>
            </a:r>
          </a:p>
          <a:p>
            <a:pPr marL="0" lvl="0" indent="0">
              <a:buNone/>
            </a:pPr>
            <a:r>
              <a:rPr lang="en-US" sz="2200" b="1" dirty="0" err="1"/>
              <a:t>Tajmer</a:t>
            </a:r>
            <a:r>
              <a:rPr lang="en-US" sz="2200" b="1" dirty="0"/>
              <a:t> </a:t>
            </a:r>
            <a:r>
              <a:rPr lang="en-US" sz="2200" b="1" dirty="0" err="1"/>
              <a:t>istekne</a:t>
            </a:r>
            <a:r>
              <a:rPr lang="en-US" sz="2200" b="1" dirty="0"/>
              <a:t> (Timeout):</a:t>
            </a:r>
            <a:r>
              <a:rPr lang="en-US" sz="2200" dirty="0"/>
              <a:t> </a:t>
            </a:r>
            <a:r>
              <a:rPr lang="en-US" sz="2200" dirty="0" err="1"/>
              <a:t>Lider</a:t>
            </a:r>
            <a:r>
              <a:rPr lang="en-US" sz="2200" dirty="0"/>
              <a:t> </a:t>
            </a:r>
            <a:r>
              <a:rPr lang="en-US" sz="2200" dirty="0" err="1"/>
              <a:t>nije</a:t>
            </a:r>
            <a:r>
              <a:rPr lang="en-US" sz="2200" dirty="0"/>
              <a:t> </a:t>
            </a:r>
            <a:r>
              <a:rPr lang="en-US" sz="2200" dirty="0" err="1"/>
              <a:t>poslao</a:t>
            </a:r>
            <a:r>
              <a:rPr lang="en-US" sz="2200" dirty="0"/>
              <a:t> </a:t>
            </a:r>
            <a:r>
              <a:rPr lang="en-US" sz="2200" dirty="0" err="1"/>
              <a:t>predlog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dirty="0" err="1" smtClean="0"/>
              <a:t>vreme</a:t>
            </a:r>
            <a:endParaRPr lang="en-US" sz="2200" dirty="0"/>
          </a:p>
          <a:p>
            <a:pPr marL="0" lvl="0" indent="0">
              <a:buNone/>
            </a:pPr>
            <a:r>
              <a:rPr lang="en-US" sz="2200" b="1" dirty="0" err="1"/>
              <a:t>Nevalidna</a:t>
            </a:r>
            <a:r>
              <a:rPr lang="en-US" sz="2200" b="1" dirty="0"/>
              <a:t> PRE-PREPARE </a:t>
            </a:r>
            <a:r>
              <a:rPr lang="en-US" sz="2200" b="1" dirty="0" err="1"/>
              <a:t>poruka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  <a:r>
              <a:rPr lang="en-US" sz="2200" dirty="0" err="1"/>
              <a:t>Lider</a:t>
            </a:r>
            <a:r>
              <a:rPr lang="en-US" sz="2200" dirty="0"/>
              <a:t> je </a:t>
            </a:r>
            <a:r>
              <a:rPr lang="en-US" sz="2200" dirty="0" err="1"/>
              <a:t>poslao</a:t>
            </a:r>
            <a:r>
              <a:rPr lang="en-US" sz="2200" dirty="0"/>
              <a:t> </a:t>
            </a:r>
            <a:r>
              <a:rPr lang="en-US" sz="2200" dirty="0" err="1"/>
              <a:t>pogrešne</a:t>
            </a:r>
            <a:r>
              <a:rPr lang="en-US" sz="2200" dirty="0"/>
              <a:t> </a:t>
            </a:r>
            <a:r>
              <a:rPr lang="en-US" sz="2200" dirty="0" err="1" smtClean="0"/>
              <a:t>podatke</a:t>
            </a:r>
            <a:endParaRPr lang="en-US" sz="2200" dirty="0"/>
          </a:p>
          <a:p>
            <a:pPr marL="0" lvl="0" indent="0">
              <a:buNone/>
            </a:pPr>
            <a:r>
              <a:rPr lang="en-US" sz="2200" b="1" dirty="0" err="1"/>
              <a:t>Neuspešno</a:t>
            </a:r>
            <a:r>
              <a:rPr lang="en-US" sz="2200" b="1" dirty="0"/>
              <a:t> </a:t>
            </a:r>
            <a:r>
              <a:rPr lang="en-US" sz="2200" b="1" dirty="0" err="1"/>
              <a:t>umetanje</a:t>
            </a:r>
            <a:r>
              <a:rPr lang="en-US" sz="2200" b="1" dirty="0"/>
              <a:t> </a:t>
            </a:r>
            <a:r>
              <a:rPr lang="en-US" sz="2200" b="1" dirty="0" err="1"/>
              <a:t>bloka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  <a:r>
              <a:rPr lang="en-US" sz="2200" dirty="0" err="1"/>
              <a:t>Čak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 smtClean="0"/>
              <a:t>ako</a:t>
            </a:r>
            <a:endParaRPr lang="sr-Latn-RS" sz="2200" dirty="0" smtClean="0"/>
          </a:p>
          <a:p>
            <a:pPr marL="0" lvl="0" indent="0">
              <a:buNone/>
            </a:pPr>
            <a:r>
              <a:rPr lang="en-US" sz="2200" dirty="0" smtClean="0"/>
              <a:t>je </a:t>
            </a:r>
            <a:r>
              <a:rPr lang="en-US" sz="2200" dirty="0" err="1"/>
              <a:t>konsenzus</a:t>
            </a:r>
            <a:r>
              <a:rPr lang="en-US" sz="2200" dirty="0"/>
              <a:t> </a:t>
            </a:r>
            <a:r>
              <a:rPr lang="en-US" sz="2200" dirty="0" err="1" smtClean="0"/>
              <a:t>postignut</a:t>
            </a:r>
            <a:r>
              <a:rPr lang="en-US" sz="2200" dirty="0" smtClean="0"/>
              <a:t>,</a:t>
            </a:r>
            <a:r>
              <a:rPr lang="sr-Latn-RS" sz="2200" dirty="0" smtClean="0"/>
              <a:t> </a:t>
            </a:r>
          </a:p>
          <a:p>
            <a:pPr marL="0" lvl="0" indent="0">
              <a:buNone/>
            </a:pPr>
            <a:r>
              <a:rPr lang="en-US" sz="2200" dirty="0" err="1" smtClean="0"/>
              <a:t>blok</a:t>
            </a:r>
            <a:r>
              <a:rPr lang="en-US" sz="2200" dirty="0" smtClean="0"/>
              <a:t> </a:t>
            </a:r>
            <a:r>
              <a:rPr lang="en-US" sz="2200" dirty="0"/>
              <a:t>ne </a:t>
            </a:r>
            <a:r>
              <a:rPr lang="en-US" sz="2200" dirty="0" err="1"/>
              <a:t>može</a:t>
            </a:r>
            <a:r>
              <a:rPr lang="en-US" sz="2200" dirty="0"/>
              <a:t> </a:t>
            </a:r>
            <a:r>
              <a:rPr lang="en-US" sz="2200" dirty="0" err="1"/>
              <a:t>biti</a:t>
            </a:r>
            <a:r>
              <a:rPr lang="en-US" sz="2200" dirty="0"/>
              <a:t> </a:t>
            </a:r>
            <a:r>
              <a:rPr lang="en-US" sz="2200" dirty="0" err="1"/>
              <a:t>upisan</a:t>
            </a:r>
            <a:r>
              <a:rPr lang="en-US" sz="2200" dirty="0"/>
              <a:t> u </a:t>
            </a:r>
            <a:r>
              <a:rPr lang="en-US" sz="2200" dirty="0" err="1" smtClean="0"/>
              <a:t>bazu</a:t>
            </a:r>
            <a:endParaRPr lang="sr-Latn-RS" sz="2200" dirty="0" smtClean="0"/>
          </a:p>
          <a:p>
            <a:r>
              <a:rPr lang="sr-Latn-RS" sz="2200" dirty="0" err="1" smtClean="0"/>
              <a:t>Round</a:t>
            </a:r>
            <a:r>
              <a:rPr lang="sr-Latn-RS" sz="2200" dirty="0" smtClean="0"/>
              <a:t> </a:t>
            </a:r>
            <a:r>
              <a:rPr lang="sr-Latn-RS" sz="2200" dirty="0" err="1" smtClean="0"/>
              <a:t>change</a:t>
            </a:r>
            <a:r>
              <a:rPr lang="sr-Latn-RS" sz="2200" dirty="0" smtClean="0"/>
              <a:t> </a:t>
            </a:r>
            <a:r>
              <a:rPr lang="en-US" sz="2200" dirty="0" smtClean="0"/>
              <a:t>mora </a:t>
            </a:r>
            <a:r>
              <a:rPr lang="en-US" sz="2200" dirty="0"/>
              <a:t>da </a:t>
            </a:r>
            <a:r>
              <a:rPr lang="en-US" sz="2200" dirty="0" err="1"/>
              <a:t>osigura</a:t>
            </a:r>
            <a:r>
              <a:rPr lang="en-US" sz="2200" dirty="0"/>
              <a:t> da se </a:t>
            </a:r>
            <a:endParaRPr lang="sr-Latn-RS" sz="2200" dirty="0" smtClean="0"/>
          </a:p>
          <a:p>
            <a:pPr marL="0" indent="0">
              <a:buNone/>
            </a:pPr>
            <a:r>
              <a:rPr lang="en-US" sz="2200" dirty="0" err="1" smtClean="0"/>
              <a:t>svi</a:t>
            </a:r>
            <a:r>
              <a:rPr lang="en-US" sz="2200" dirty="0" smtClean="0"/>
              <a:t> </a:t>
            </a:r>
            <a:r>
              <a:rPr lang="en-US" sz="2200" dirty="0" err="1"/>
              <a:t>pošteni</a:t>
            </a:r>
            <a:r>
              <a:rPr lang="en-US" sz="2200" dirty="0"/>
              <a:t> </a:t>
            </a:r>
            <a:r>
              <a:rPr lang="en-US" sz="2200" dirty="0" err="1"/>
              <a:t>validatori</a:t>
            </a:r>
            <a:r>
              <a:rPr lang="en-US" sz="2200" dirty="0"/>
              <a:t> </a:t>
            </a:r>
            <a:r>
              <a:rPr lang="en-US" sz="2200" dirty="0" err="1"/>
              <a:t>prebace</a:t>
            </a:r>
            <a:r>
              <a:rPr lang="en-US" sz="2200" dirty="0"/>
              <a:t> </a:t>
            </a:r>
            <a:r>
              <a:rPr lang="en-US" sz="2200" dirty="0" err="1"/>
              <a:t>na</a:t>
            </a:r>
            <a:r>
              <a:rPr lang="en-US" sz="2200" dirty="0"/>
              <a:t> </a:t>
            </a:r>
            <a:r>
              <a:rPr lang="en-US" sz="2200" dirty="0" err="1"/>
              <a:t>istu</a:t>
            </a:r>
            <a:r>
              <a:rPr lang="en-US" sz="2200" dirty="0"/>
              <a:t> </a:t>
            </a:r>
            <a:endParaRPr lang="sr-Latn-RS" sz="2200" dirty="0" smtClean="0"/>
          </a:p>
          <a:p>
            <a:pPr marL="0" indent="0">
              <a:buNone/>
            </a:pPr>
            <a:r>
              <a:rPr lang="en-US" sz="2200" dirty="0" err="1" smtClean="0"/>
              <a:t>novu</a:t>
            </a:r>
            <a:r>
              <a:rPr lang="en-US" sz="2200" dirty="0" smtClean="0"/>
              <a:t> </a:t>
            </a:r>
            <a:r>
              <a:rPr lang="en-US" sz="2200" dirty="0" err="1"/>
              <a:t>rundu</a:t>
            </a:r>
            <a:r>
              <a:rPr lang="en-US" sz="2200" dirty="0"/>
              <a:t> bez </a:t>
            </a:r>
            <a:r>
              <a:rPr lang="en-US" sz="2200" dirty="0" err="1"/>
              <a:t>cepanja</a:t>
            </a:r>
            <a:r>
              <a:rPr lang="en-US" sz="2200" dirty="0"/>
              <a:t> </a:t>
            </a:r>
            <a:r>
              <a:rPr lang="en-US" sz="2200" dirty="0" err="1"/>
              <a:t>mreže</a:t>
            </a:r>
            <a:endParaRPr lang="en-US" sz="2200" dirty="0"/>
          </a:p>
          <a:p>
            <a:endParaRPr lang="en-US" sz="2200" dirty="0"/>
          </a:p>
        </p:txBody>
      </p:sp>
      <p:pic>
        <p:nvPicPr>
          <p:cNvPr id="4" name="Content Placeholder 3" descr="C:\Users\Aleksandra\Desktop\capko\3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264" y="3555274"/>
            <a:ext cx="4450081" cy="31437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451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6400803" y="4939022"/>
            <a:ext cx="5477686" cy="18466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379028" y="4153952"/>
            <a:ext cx="5273041" cy="67930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6379028" y="2600937"/>
            <a:ext cx="5499461" cy="13701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379028" y="191300"/>
            <a:ext cx="5499461" cy="2255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C:\Users\Aleksandra\Desktop\capko\5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62" y="399295"/>
            <a:ext cx="5940305" cy="50509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379029" y="191300"/>
            <a:ext cx="5704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deo</a:t>
            </a:r>
            <a:r>
              <a:rPr lang="en-US" dirty="0"/>
              <a:t> se </a:t>
            </a:r>
            <a:r>
              <a:rPr lang="en-US" dirty="0" err="1"/>
              <a:t>aktivira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dirty="0" err="1"/>
              <a:t>primeti</a:t>
            </a:r>
            <a:r>
              <a:rPr lang="en-US" dirty="0"/>
              <a:t> da se u </a:t>
            </a:r>
            <a:r>
              <a:rPr lang="en-US" dirty="0" err="1"/>
              <a:t>trenutnoj</a:t>
            </a:r>
            <a:r>
              <a:rPr lang="en-US" dirty="0"/>
              <a:t> </a:t>
            </a:r>
            <a:r>
              <a:rPr lang="en-US" dirty="0" err="1"/>
              <a:t>rundi</a:t>
            </a:r>
            <a:r>
              <a:rPr lang="en-US" dirty="0"/>
              <a:t> </a:t>
            </a:r>
            <a:r>
              <a:rPr lang="en-US" dirty="0" err="1"/>
              <a:t>ništa</a:t>
            </a:r>
            <a:r>
              <a:rPr lang="en-US" dirty="0"/>
              <a:t> ne </a:t>
            </a:r>
            <a:r>
              <a:rPr lang="en-US" dirty="0" err="1"/>
              <a:t>dešava</a:t>
            </a:r>
            <a:r>
              <a:rPr lang="en-US" dirty="0" smtClean="0"/>
              <a:t>.</a:t>
            </a:r>
            <a:endParaRPr lang="sr-Latn-RS" dirty="0" smtClean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779520" y="905691"/>
            <a:ext cx="2725783" cy="193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6165667" y="836023"/>
            <a:ext cx="5712823" cy="8771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056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​):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Funkcija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koja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određuje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trajanje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tajmera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za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rundu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Obično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raste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eksponencijalno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svakom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rundom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kako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bi se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prevazišli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mrežni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zastoji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303" y="1696540"/>
            <a:ext cx="5251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šalje</a:t>
            </a:r>
            <a:r>
              <a:rPr lang="en-US" dirty="0" smtClean="0"/>
              <a:t> </a:t>
            </a:r>
            <a:r>
              <a:rPr lang="en-US" dirty="0" err="1" smtClean="0"/>
              <a:t>informaciju</a:t>
            </a:r>
            <a:r>
              <a:rPr lang="en-US" dirty="0" smtClean="0"/>
              <a:t> o tome da li je u </a:t>
            </a:r>
            <a:r>
              <a:rPr lang="en-US" dirty="0" err="1" smtClean="0"/>
              <a:t>nekoj</a:t>
            </a:r>
            <a:r>
              <a:rPr lang="en-US" dirty="0" smtClean="0"/>
              <a:t> </a:t>
            </a:r>
            <a:r>
              <a:rPr lang="en-US" dirty="0" err="1" smtClean="0"/>
              <a:t>prethodnoj</a:t>
            </a:r>
            <a:r>
              <a:rPr lang="en-US" dirty="0" smtClean="0"/>
              <a:t> </a:t>
            </a:r>
            <a:r>
              <a:rPr lang="en-US" dirty="0" err="1" smtClean="0"/>
              <a:t>rundi</a:t>
            </a:r>
            <a:r>
              <a:rPr lang="en-US" dirty="0" smtClean="0"/>
              <a:t> </a:t>
            </a:r>
            <a:r>
              <a:rPr lang="en-US" dirty="0" err="1" smtClean="0"/>
              <a:t>već</a:t>
            </a:r>
            <a:r>
              <a:rPr lang="en-US" dirty="0" smtClean="0"/>
              <a:t> </a:t>
            </a:r>
            <a:r>
              <a:rPr lang="en-US" dirty="0" err="1" smtClean="0"/>
              <a:t>zaključao</a:t>
            </a:r>
            <a:r>
              <a:rPr lang="en-US" dirty="0" smtClean="0"/>
              <a:t> </a:t>
            </a:r>
            <a:r>
              <a:rPr lang="en-US" dirty="0" err="1" smtClean="0"/>
              <a:t>neku</a:t>
            </a:r>
            <a:r>
              <a:rPr lang="en-US" dirty="0" smtClean="0"/>
              <a:t> </a:t>
            </a:r>
            <a:r>
              <a:rPr lang="en-US" dirty="0" err="1" smtClean="0"/>
              <a:t>vrednost</a:t>
            </a:r>
            <a:r>
              <a:rPr lang="en-US" dirty="0" smtClean="0"/>
              <a:t> (</a:t>
            </a:r>
            <a:r>
              <a:rPr lang="en-US" i="1" dirty="0" err="1" smtClean="0"/>
              <a:t>pri</a:t>
            </a:r>
            <a:r>
              <a:rPr lang="en-US" dirty="0" smtClean="0"/>
              <a:t>​,</a:t>
            </a:r>
            <a:r>
              <a:rPr lang="en-US" i="1" dirty="0" err="1" smtClean="0"/>
              <a:t>pvi</a:t>
            </a:r>
            <a:r>
              <a:rPr lang="en-US" dirty="0" smtClean="0"/>
              <a:t>​)</a:t>
            </a:r>
            <a:endParaRPr lang="sr-Latn-RS" dirty="0" smtClean="0"/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83384" y="2600937"/>
            <a:ext cx="5373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služi</a:t>
            </a:r>
            <a:r>
              <a:rPr lang="en-US" dirty="0"/>
              <a:t> da "</a:t>
            </a:r>
            <a:r>
              <a:rPr lang="en-US" dirty="0" err="1"/>
              <a:t>pogura</a:t>
            </a:r>
            <a:r>
              <a:rPr lang="en-US" dirty="0"/>
              <a:t>"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kasni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da </a:t>
            </a:r>
            <a:r>
              <a:rPr lang="en-US" dirty="0" err="1"/>
              <a:t>ubrza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je </a:t>
            </a:r>
            <a:r>
              <a:rPr lang="en-US" dirty="0" err="1"/>
              <a:t>većina</a:t>
            </a:r>
            <a:r>
              <a:rPr lang="en-US" dirty="0"/>
              <a:t>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odlučila</a:t>
            </a:r>
            <a:r>
              <a:rPr lang="en-US" dirty="0"/>
              <a:t> da </a:t>
            </a:r>
            <a:r>
              <a:rPr lang="en-US" dirty="0" err="1"/>
              <a:t>pređe</a:t>
            </a:r>
            <a:r>
              <a:rPr lang="en-US" dirty="0"/>
              <a:t> u </a:t>
            </a:r>
            <a:r>
              <a:rPr lang="en-US" dirty="0" err="1"/>
              <a:t>višu</a:t>
            </a:r>
            <a:r>
              <a:rPr lang="en-US" dirty="0"/>
              <a:t> </a:t>
            </a:r>
            <a:r>
              <a:rPr lang="en-US" dirty="0" err="1"/>
              <a:t>rundu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4493623" y="2095648"/>
            <a:ext cx="1885407" cy="829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05303" y="3507621"/>
            <a:ext cx="5686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rgbClr val="2B2D31"/>
                </a:solidFill>
                <a:effectLst/>
                <a:latin typeface="KaTeX_Math"/>
                <a:ea typeface="Times New Roman" panose="02020603050405020304" pitchFamily="18" charset="0"/>
                <a:cs typeface="Times New Roman" panose="02020603050405020304" pitchFamily="18" charset="0"/>
              </a:rPr>
              <a:t>Frc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2B2D3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altLang="en-US" dirty="0">
                <a:solidFill>
                  <a:srgbClr val="2B2D3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altLang="en-US" dirty="0" err="1">
                <a:solidFill>
                  <a:srgbClr val="2B2D3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Skup</a:t>
            </a:r>
            <a:r>
              <a:rPr lang="en-US" altLang="en-US" dirty="0">
                <a:solidFill>
                  <a:srgbClr val="2B2D3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2B2D3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primljenih</a:t>
            </a:r>
            <a:r>
              <a:rPr lang="en-US" altLang="en-US" dirty="0">
                <a:solidFill>
                  <a:srgbClr val="2B2D3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US" altLang="en-US" dirty="0">
                <a:solidFill>
                  <a:srgbClr val="2B2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ROUND-CHANGE</a:t>
            </a:r>
            <a:r>
              <a:rPr lang="en-US" altLang="en-US" dirty="0">
                <a:solidFill>
                  <a:srgbClr val="2B2D3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en-US" altLang="en-US" dirty="0" err="1">
                <a:solidFill>
                  <a:srgbClr val="2B2D3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poruka</a:t>
            </a:r>
            <a:r>
              <a:rPr lang="en-US" altLang="en-US" dirty="0">
                <a:solidFill>
                  <a:srgbClr val="2B2D3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379028" y="4153952"/>
            <a:ext cx="5377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Ovo</a:t>
            </a:r>
            <a:r>
              <a:rPr lang="en-US" dirty="0" smtClean="0"/>
              <a:t> </a:t>
            </a:r>
            <a:r>
              <a:rPr lang="en-US" dirty="0" err="1"/>
              <a:t>izvršava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onaj</a:t>
            </a:r>
            <a:r>
              <a:rPr lang="en-US" dirty="0"/>
              <a:t>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je </a:t>
            </a:r>
            <a:r>
              <a:rPr lang="en-US" b="1" dirty="0" err="1"/>
              <a:t>lider</a:t>
            </a:r>
            <a:r>
              <a:rPr lang="en-US" dirty="0"/>
              <a:t> 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novu</a:t>
            </a:r>
            <a:r>
              <a:rPr lang="en-US" dirty="0"/>
              <a:t> </a:t>
            </a:r>
            <a:r>
              <a:rPr lang="en-US" dirty="0" err="1"/>
              <a:t>rundu</a:t>
            </a:r>
            <a:endParaRPr lang="en-US" dirty="0"/>
          </a:p>
          <a:p>
            <a:r>
              <a:rPr lang="en-US" dirty="0" smtClean="0"/>
              <a:t>(</a:t>
            </a:r>
            <a:r>
              <a:rPr lang="en-US" dirty="0" err="1" smtClean="0"/>
              <a:t>provera</a:t>
            </a:r>
            <a:r>
              <a:rPr lang="en-US" dirty="0" smtClean="0"/>
              <a:t> </a:t>
            </a:r>
            <a:r>
              <a:rPr lang="en-US" dirty="0" err="1" smtClean="0"/>
              <a:t>ispravnosti</a:t>
            </a:r>
            <a:r>
              <a:rPr lang="en-US" dirty="0" smtClean="0"/>
              <a:t> </a:t>
            </a:r>
            <a:r>
              <a:rPr lang="en-US" dirty="0" err="1" smtClean="0"/>
              <a:t>poruka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4746171" y="3443960"/>
            <a:ext cx="1632859" cy="910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79028" y="4939022"/>
            <a:ext cx="54994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Ovo</a:t>
            </a:r>
            <a:r>
              <a:rPr lang="en-US" dirty="0"/>
              <a:t> se </a:t>
            </a:r>
            <a:r>
              <a:rPr lang="en-US" dirty="0" err="1"/>
              <a:t>dešava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je </a:t>
            </a:r>
            <a:r>
              <a:rPr lang="en-US" dirty="0" err="1"/>
              <a:t>konsenzus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instancu</a:t>
            </a:r>
            <a:r>
              <a:rPr lang="en-US" dirty="0"/>
              <a:t> </a:t>
            </a:r>
            <a:r>
              <a:rPr lang="en-US" i="1" dirty="0" err="1"/>
              <a:t>λi</a:t>
            </a:r>
            <a:r>
              <a:rPr lang="en-US" dirty="0"/>
              <a:t>​ 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postignut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neko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šalje</a:t>
            </a:r>
            <a:r>
              <a:rPr lang="en-US" dirty="0"/>
              <a:t> </a:t>
            </a:r>
            <a:r>
              <a:rPr lang="en-US" dirty="0" err="1"/>
              <a:t>zahteve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promenu</a:t>
            </a:r>
            <a:r>
              <a:rPr lang="en-US" dirty="0"/>
              <a:t> </a:t>
            </a:r>
            <a:r>
              <a:rPr lang="en-US" dirty="0" err="1"/>
              <a:t>runde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 flipH="1" flipV="1">
            <a:off x="5142411" y="5027621"/>
            <a:ext cx="1362891" cy="258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05302" y="5862352"/>
            <a:ext cx="5504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Čvor</a:t>
            </a:r>
            <a:r>
              <a:rPr lang="en-US" dirty="0"/>
              <a:t> </a:t>
            </a:r>
            <a:r>
              <a:rPr lang="en-US" i="1" dirty="0"/>
              <a:t>pi</a:t>
            </a:r>
            <a:r>
              <a:rPr lang="en-US" dirty="0"/>
              <a:t>​ </a:t>
            </a:r>
            <a:r>
              <a:rPr lang="en-US" dirty="0" err="1"/>
              <a:t>šalje</a:t>
            </a:r>
            <a:r>
              <a:rPr lang="en-US" dirty="0"/>
              <a:t> </a:t>
            </a:r>
            <a:r>
              <a:rPr lang="en-US" dirty="0" err="1"/>
              <a:t>dokaz</a:t>
            </a:r>
            <a:r>
              <a:rPr lang="en-US" dirty="0"/>
              <a:t> o </a:t>
            </a:r>
            <a:r>
              <a:rPr lang="en-US" dirty="0" err="1"/>
              <a:t>završenom</a:t>
            </a:r>
            <a:r>
              <a:rPr lang="en-US" dirty="0"/>
              <a:t> </a:t>
            </a:r>
            <a:r>
              <a:rPr lang="en-US" dirty="0" err="1"/>
              <a:t>konsenzusu</a:t>
            </a:r>
            <a:r>
              <a:rPr lang="en-US" dirty="0"/>
              <a:t> (</a:t>
            </a:r>
            <a:r>
              <a:rPr lang="en-US" i="1" dirty="0" err="1"/>
              <a:t>Qcommit</a:t>
            </a:r>
            <a:r>
              <a:rPr lang="en-US" dirty="0"/>
              <a:t>​) </a:t>
            </a:r>
            <a:r>
              <a:rPr lang="en-US" dirty="0" err="1"/>
              <a:t>čvoru</a:t>
            </a:r>
            <a:r>
              <a:rPr lang="en-US" dirty="0"/>
              <a:t> </a:t>
            </a:r>
            <a:r>
              <a:rPr lang="en-US" i="1" dirty="0" err="1" smtClean="0"/>
              <a:t>pj</a:t>
            </a:r>
            <a:r>
              <a:rPr lang="en-US" i="1" dirty="0" smtClean="0"/>
              <a:t> -&gt; </a:t>
            </a:r>
            <a:r>
              <a:rPr lang="en-US" i="1" dirty="0" err="1" smtClean="0"/>
              <a:t>poma</a:t>
            </a:r>
            <a:r>
              <a:rPr lang="sr-Latn-RS" i="1" dirty="0" err="1" smtClean="0"/>
              <a:t>že</a:t>
            </a:r>
            <a:r>
              <a:rPr lang="sr-Latn-RS" i="1" dirty="0" smtClean="0"/>
              <a:t> mu da odmah pređe na sledeći blok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277294" y="5585353"/>
            <a:ext cx="3788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IBFT round change </a:t>
            </a:r>
            <a:r>
              <a:rPr lang="en-US" dirty="0" err="1"/>
              <a:t>osigurava</a:t>
            </a:r>
            <a:r>
              <a:rPr lang="en-US" dirty="0"/>
              <a:t>:</a:t>
            </a:r>
          </a:p>
          <a:p>
            <a:r>
              <a:rPr lang="sr-Latn-RS" dirty="0" err="1" smtClean="0"/>
              <a:t>Liveness</a:t>
            </a:r>
            <a:r>
              <a:rPr lang="sr-Latn-RS" dirty="0" smtClean="0"/>
              <a:t> (živost), </a:t>
            </a:r>
            <a:r>
              <a:rPr lang="en-US" dirty="0"/>
              <a:t>Synchronization (</a:t>
            </a:r>
            <a:r>
              <a:rPr lang="en-US" dirty="0" err="1"/>
              <a:t>Sinhronizacija</a:t>
            </a:r>
            <a:r>
              <a:rPr lang="en-US" dirty="0" smtClean="0"/>
              <a:t>)</a:t>
            </a:r>
            <a:r>
              <a:rPr lang="sr-Latn-RS" dirty="0" smtClean="0"/>
              <a:t>, </a:t>
            </a:r>
            <a:r>
              <a:rPr lang="en-US" dirty="0"/>
              <a:t>Safety (</a:t>
            </a:r>
            <a:r>
              <a:rPr lang="en-US" dirty="0" err="1"/>
              <a:t>Bezbednost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7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6278881" y="4675084"/>
            <a:ext cx="5773782" cy="1010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278881" y="3386370"/>
            <a:ext cx="5643153" cy="992726"/>
          </a:xfrm>
          <a:prstGeom prst="rect">
            <a:avLst/>
          </a:prstGeom>
          <a:solidFill>
            <a:srgbClr val="7CE4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278881" y="2215806"/>
            <a:ext cx="5773782" cy="8898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707" y="17385"/>
            <a:ext cx="10449287" cy="1151709"/>
          </a:xfrm>
        </p:spPr>
        <p:txBody>
          <a:bodyPr>
            <a:normAutofit/>
          </a:bodyPr>
          <a:lstStyle/>
          <a:p>
            <a:r>
              <a:rPr lang="en-US" sz="3600" dirty="0" err="1"/>
              <a:t>Mehanizam</a:t>
            </a:r>
            <a:r>
              <a:rPr lang="en-US" sz="3600" dirty="0"/>
              <a:t> </a:t>
            </a:r>
            <a:r>
              <a:rPr lang="en-US" sz="3600" dirty="0" err="1"/>
              <a:t>opravdanja</a:t>
            </a:r>
            <a:r>
              <a:rPr lang="en-US" sz="3600" dirty="0"/>
              <a:t> (Message Justification</a:t>
            </a:r>
            <a:r>
              <a:rPr lang="en-US" sz="3600" dirty="0" smtClean="0"/>
              <a:t>)</a:t>
            </a:r>
            <a:r>
              <a:rPr lang="sr-Latn-RS" sz="3600" dirty="0" smtClean="0"/>
              <a:t>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5899" y="912498"/>
            <a:ext cx="10018713" cy="1007320"/>
          </a:xfrm>
        </p:spPr>
        <p:txBody>
          <a:bodyPr>
            <a:normAutofit/>
          </a:bodyPr>
          <a:lstStyle/>
          <a:p>
            <a:r>
              <a:rPr lang="en-US" sz="2200" dirty="0" err="1"/>
              <a:t>Ovo</a:t>
            </a:r>
            <a:r>
              <a:rPr lang="en-US" sz="2200" dirty="0"/>
              <a:t> je '</a:t>
            </a:r>
            <a:r>
              <a:rPr lang="en-US" sz="2200" dirty="0" err="1"/>
              <a:t>tajni</a:t>
            </a:r>
            <a:r>
              <a:rPr lang="en-US" sz="2200" dirty="0"/>
              <a:t> </a:t>
            </a:r>
            <a:r>
              <a:rPr lang="en-US" sz="2200" dirty="0" err="1"/>
              <a:t>sastojak</a:t>
            </a:r>
            <a:r>
              <a:rPr lang="en-US" sz="2200" dirty="0"/>
              <a:t>' </a:t>
            </a:r>
            <a:r>
              <a:rPr lang="en-US" sz="2200" dirty="0" err="1"/>
              <a:t>koji</a:t>
            </a:r>
            <a:r>
              <a:rPr lang="en-US" sz="2200" dirty="0"/>
              <a:t> </a:t>
            </a:r>
            <a:r>
              <a:rPr lang="en-US" sz="2200" dirty="0" err="1"/>
              <a:t>sprečava</a:t>
            </a:r>
            <a:r>
              <a:rPr lang="en-US" sz="2200" dirty="0"/>
              <a:t> </a:t>
            </a:r>
            <a:r>
              <a:rPr lang="en-US" sz="2200" dirty="0" err="1"/>
              <a:t>malicioznog</a:t>
            </a:r>
            <a:r>
              <a:rPr lang="en-US" sz="2200" dirty="0"/>
              <a:t> </a:t>
            </a:r>
            <a:r>
              <a:rPr lang="en-US" sz="2200" dirty="0" err="1"/>
              <a:t>lidera</a:t>
            </a:r>
            <a:r>
              <a:rPr lang="en-US" sz="2200" dirty="0"/>
              <a:t> u </a:t>
            </a:r>
            <a:r>
              <a:rPr lang="en-US" sz="2200" dirty="0" err="1"/>
              <a:t>novoj</a:t>
            </a:r>
            <a:r>
              <a:rPr lang="en-US" sz="2200" dirty="0"/>
              <a:t> </a:t>
            </a:r>
            <a:r>
              <a:rPr lang="en-US" sz="2200" dirty="0" err="1"/>
              <a:t>rundi</a:t>
            </a:r>
            <a:r>
              <a:rPr lang="en-US" sz="2200" dirty="0"/>
              <a:t> da </a:t>
            </a:r>
            <a:r>
              <a:rPr lang="en-US" sz="2200" dirty="0" err="1"/>
              <a:t>predloži</a:t>
            </a:r>
            <a:r>
              <a:rPr lang="en-US" sz="2200" dirty="0"/>
              <a:t> </a:t>
            </a:r>
            <a:r>
              <a:rPr lang="en-US" sz="2200" dirty="0" err="1"/>
              <a:t>nešto</a:t>
            </a:r>
            <a:r>
              <a:rPr lang="en-US" sz="2200" dirty="0"/>
              <a:t> </a:t>
            </a:r>
            <a:r>
              <a:rPr lang="en-US" sz="2200" dirty="0" err="1"/>
              <a:t>što</a:t>
            </a:r>
            <a:r>
              <a:rPr lang="en-US" sz="2200" dirty="0"/>
              <a:t> bi </a:t>
            </a:r>
            <a:r>
              <a:rPr lang="en-US" sz="2200" dirty="0" err="1"/>
              <a:t>poništilo</a:t>
            </a:r>
            <a:r>
              <a:rPr lang="en-US" sz="2200" dirty="0"/>
              <a:t> ono </a:t>
            </a:r>
            <a:r>
              <a:rPr lang="en-US" sz="2200" dirty="0" err="1"/>
              <a:t>što</a:t>
            </a:r>
            <a:r>
              <a:rPr lang="en-US" sz="2200" dirty="0"/>
              <a:t> </a:t>
            </a:r>
            <a:r>
              <a:rPr lang="en-US" sz="2200" dirty="0" err="1"/>
              <a:t>su</a:t>
            </a:r>
            <a:r>
              <a:rPr lang="en-US" sz="2200" dirty="0"/>
              <a:t> </a:t>
            </a:r>
            <a:r>
              <a:rPr lang="en-US" sz="2200" dirty="0" err="1"/>
              <a:t>čvorovi</a:t>
            </a:r>
            <a:r>
              <a:rPr lang="en-US" sz="2200" dirty="0"/>
              <a:t> </a:t>
            </a:r>
            <a:r>
              <a:rPr lang="en-US" sz="2200" dirty="0" err="1"/>
              <a:t>skoro</a:t>
            </a:r>
            <a:r>
              <a:rPr lang="en-US" sz="2200" dirty="0"/>
              <a:t> </a:t>
            </a:r>
            <a:r>
              <a:rPr lang="en-US" sz="2200" dirty="0" err="1"/>
              <a:t>prihvatili</a:t>
            </a:r>
            <a:r>
              <a:rPr lang="en-US" sz="2200" dirty="0"/>
              <a:t> u </a:t>
            </a:r>
            <a:r>
              <a:rPr lang="en-US" sz="2200" dirty="0" err="1"/>
              <a:t>prethodnoj</a:t>
            </a:r>
            <a:r>
              <a:rPr lang="en-US" sz="2200" dirty="0"/>
              <a:t> </a:t>
            </a:r>
            <a:r>
              <a:rPr lang="en-US" sz="2200" dirty="0" err="1"/>
              <a:t>rundi</a:t>
            </a:r>
            <a:endParaRPr lang="en-US" sz="2200" dirty="0"/>
          </a:p>
        </p:txBody>
      </p:sp>
      <p:pic>
        <p:nvPicPr>
          <p:cNvPr id="4" name="Picture 3" descr="C:\Users\Aleksandra\Desktop\capko\7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29" y="2219965"/>
            <a:ext cx="5930537" cy="42846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6278881" y="4750554"/>
            <a:ext cx="5773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 smtClean="0"/>
              <a:t>S</a:t>
            </a:r>
            <a:r>
              <a:rPr lang="en-US" dirty="0" err="1" smtClean="0"/>
              <a:t>luži</a:t>
            </a:r>
            <a:r>
              <a:rPr lang="en-US" dirty="0" smtClean="0"/>
              <a:t> </a:t>
            </a:r>
            <a:r>
              <a:rPr lang="en-US" dirty="0"/>
              <a:t>da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gomile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izvuče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je "</a:t>
            </a:r>
            <a:r>
              <a:rPr lang="en-US" dirty="0" err="1"/>
              <a:t>najdalje</a:t>
            </a:r>
            <a:r>
              <a:rPr lang="en-US" dirty="0"/>
              <a:t> </a:t>
            </a:r>
            <a:r>
              <a:rPr lang="en-US" dirty="0" err="1" smtClean="0"/>
              <a:t>stigla</a:t>
            </a:r>
            <a:r>
              <a:rPr lang="en-US" dirty="0" smtClean="0"/>
              <a:t>„</a:t>
            </a:r>
            <a:endParaRPr lang="sr-Latn-R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 err="1"/>
              <a:t>Qrc</a:t>
            </a:r>
            <a:r>
              <a:rPr lang="en-US" b="1" dirty="0"/>
              <a:t>​:</a:t>
            </a:r>
            <a:r>
              <a:rPr lang="en-US" dirty="0"/>
              <a:t> </a:t>
            </a:r>
            <a:r>
              <a:rPr lang="en-US" dirty="0" err="1" smtClean="0"/>
              <a:t>Kvorum</a:t>
            </a:r>
            <a:r>
              <a:rPr lang="en-US" dirty="0" smtClean="0"/>
              <a:t> </a:t>
            </a:r>
            <a:r>
              <a:rPr lang="en-US" dirty="0" err="1"/>
              <a:t>poruka</a:t>
            </a:r>
            <a:r>
              <a:rPr lang="en-US" dirty="0"/>
              <a:t> o </a:t>
            </a:r>
            <a:r>
              <a:rPr lang="en-US" dirty="0" err="1"/>
              <a:t>promeni</a:t>
            </a:r>
            <a:r>
              <a:rPr lang="en-US" dirty="0"/>
              <a:t> </a:t>
            </a:r>
            <a:r>
              <a:rPr lang="en-US" dirty="0" err="1"/>
              <a:t>runde</a:t>
            </a:r>
            <a:r>
              <a:rPr lang="en-US" dirty="0"/>
              <a:t> (ROUND-CHANGE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876800" y="5212219"/>
            <a:ext cx="1402081" cy="831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2904" y="2225104"/>
            <a:ext cx="5625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P</a:t>
            </a:r>
            <a:r>
              <a:rPr lang="en-US" dirty="0" err="1" smtClean="0"/>
              <a:t>roverava</a:t>
            </a:r>
            <a:r>
              <a:rPr lang="en-US" dirty="0" smtClean="0"/>
              <a:t> </a:t>
            </a:r>
            <a:r>
              <a:rPr lang="en-US" dirty="0"/>
              <a:t>da li je </a:t>
            </a:r>
            <a:r>
              <a:rPr lang="en-US" dirty="0" err="1"/>
              <a:t>kvorum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promenu</a:t>
            </a:r>
            <a:r>
              <a:rPr lang="en-US" dirty="0"/>
              <a:t> </a:t>
            </a:r>
            <a:r>
              <a:rPr lang="en-US" dirty="0" err="1"/>
              <a:t>runde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je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sakupio</a:t>
            </a:r>
            <a:r>
              <a:rPr lang="en-US" dirty="0"/>
              <a:t> </a:t>
            </a:r>
            <a:r>
              <a:rPr lang="en-US" dirty="0" err="1"/>
              <a:t>uopšte</a:t>
            </a:r>
            <a:r>
              <a:rPr lang="en-US" dirty="0"/>
              <a:t> </a:t>
            </a:r>
            <a:r>
              <a:rPr lang="en-US" dirty="0" err="1" smtClean="0"/>
              <a:t>validan</a:t>
            </a:r>
            <a:r>
              <a:rPr lang="en-US" dirty="0" smtClean="0"/>
              <a:t> (2 </a:t>
            </a:r>
            <a:r>
              <a:rPr lang="en-US" dirty="0" err="1" smtClean="0"/>
              <a:t>na</a:t>
            </a:r>
            <a:r>
              <a:rPr lang="sr-Latn-RS" dirty="0" smtClean="0"/>
              <a:t>čina da promena runde bude opravdana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278881" y="3429183"/>
            <a:ext cx="5625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err="1" smtClean="0"/>
              <a:t>N</a:t>
            </a:r>
            <a:r>
              <a:rPr lang="en-US" dirty="0" err="1" smtClean="0"/>
              <a:t>ajbitniji</a:t>
            </a:r>
            <a:r>
              <a:rPr lang="en-US" dirty="0" smtClean="0"/>
              <a:t> </a:t>
            </a:r>
            <a:r>
              <a:rPr lang="en-US" dirty="0" err="1"/>
              <a:t>deo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izvršavaju</a:t>
            </a:r>
            <a:r>
              <a:rPr lang="en-US" dirty="0"/>
              <a:t> </a:t>
            </a:r>
            <a:r>
              <a:rPr lang="en-US" dirty="0" err="1"/>
              <a:t>obični</a:t>
            </a:r>
            <a:r>
              <a:rPr lang="en-US" dirty="0"/>
              <a:t> </a:t>
            </a:r>
            <a:r>
              <a:rPr lang="en-US" dirty="0" err="1"/>
              <a:t>čvorovi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novi</a:t>
            </a:r>
            <a:r>
              <a:rPr lang="en-US" dirty="0"/>
              <a:t> </a:t>
            </a:r>
            <a:r>
              <a:rPr lang="en-US" dirty="0" err="1"/>
              <a:t>lider</a:t>
            </a:r>
            <a:r>
              <a:rPr lang="en-US" dirty="0"/>
              <a:t> </a:t>
            </a:r>
            <a:r>
              <a:rPr lang="en-US" dirty="0" err="1"/>
              <a:t>pošalje</a:t>
            </a:r>
            <a:r>
              <a:rPr lang="en-US" dirty="0"/>
              <a:t> </a:t>
            </a:r>
            <a:r>
              <a:rPr lang="en-US" dirty="0" err="1"/>
              <a:t>predlog</a:t>
            </a:r>
            <a:r>
              <a:rPr lang="en-US" dirty="0"/>
              <a:t> (PRE-PREPARE). Oni ne </a:t>
            </a:r>
            <a:r>
              <a:rPr lang="en-US" dirty="0" err="1"/>
              <a:t>veruju</a:t>
            </a:r>
            <a:r>
              <a:rPr lang="en-US" dirty="0"/>
              <a:t> </a:t>
            </a:r>
            <a:r>
              <a:rPr lang="en-US" dirty="0" err="1"/>
              <a:t>lideru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reč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</a:t>
            </a:r>
            <a:r>
              <a:rPr lang="en-US" dirty="0" err="1"/>
              <a:t>pozivaju</a:t>
            </a:r>
            <a:r>
              <a:rPr lang="en-US" dirty="0"/>
              <a:t> </a:t>
            </a:r>
            <a:r>
              <a:rPr lang="en-US" dirty="0" err="1"/>
              <a:t>ovu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0698" y="6043749"/>
            <a:ext cx="514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osigurava</a:t>
            </a:r>
            <a:r>
              <a:rPr lang="en-US" dirty="0"/>
              <a:t> </a:t>
            </a:r>
            <a:r>
              <a:rPr lang="en-US" b="1" dirty="0"/>
              <a:t>Safety (</a:t>
            </a:r>
            <a:r>
              <a:rPr lang="en-US" b="1" dirty="0" err="1"/>
              <a:t>Bezbednost</a:t>
            </a:r>
            <a:r>
              <a:rPr lang="en-US" b="1" dirty="0"/>
              <a:t>)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4" idx="1"/>
          </p:cNvCxnSpPr>
          <p:nvPr/>
        </p:nvCxnSpPr>
        <p:spPr>
          <a:xfrm flipH="1">
            <a:off x="4937761" y="2660714"/>
            <a:ext cx="1341120" cy="296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1"/>
          </p:cNvCxnSpPr>
          <p:nvPr/>
        </p:nvCxnSpPr>
        <p:spPr>
          <a:xfrm flipH="1">
            <a:off x="4876800" y="3890848"/>
            <a:ext cx="1402081" cy="171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4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899" y="163286"/>
            <a:ext cx="10018713" cy="986246"/>
          </a:xfrm>
        </p:spPr>
        <p:txBody>
          <a:bodyPr>
            <a:normAutofit/>
          </a:bodyPr>
          <a:lstStyle/>
          <a:p>
            <a:r>
              <a:rPr lang="en-US" sz="3600" dirty="0" err="1"/>
              <a:t>Tehničko</a:t>
            </a:r>
            <a:r>
              <a:rPr lang="en-US" sz="3600" dirty="0"/>
              <a:t> "</a:t>
            </a:r>
            <a:r>
              <a:rPr lang="en-US" sz="3600" dirty="0" err="1"/>
              <a:t>pakovanje</a:t>
            </a:r>
            <a:r>
              <a:rPr lang="en-US" sz="3600" dirty="0"/>
              <a:t>" </a:t>
            </a:r>
            <a:r>
              <a:rPr lang="en-US" sz="3600" dirty="0" err="1" smtClean="0"/>
              <a:t>bloka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727" y="1188720"/>
            <a:ext cx="10577061" cy="566928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validatori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Algoritme</a:t>
            </a:r>
            <a:r>
              <a:rPr lang="en-US" dirty="0"/>
              <a:t> 2 </a:t>
            </a:r>
            <a:r>
              <a:rPr lang="en-US" dirty="0" err="1"/>
              <a:t>i</a:t>
            </a:r>
            <a:r>
              <a:rPr lang="en-US" dirty="0"/>
              <a:t> 3 </a:t>
            </a:r>
            <a:r>
              <a:rPr lang="en-US" dirty="0" err="1"/>
              <a:t>postigli</a:t>
            </a:r>
            <a:r>
              <a:rPr lang="en-US" dirty="0"/>
              <a:t> </a:t>
            </a:r>
            <a:r>
              <a:rPr lang="en-US" dirty="0" err="1"/>
              <a:t>dogovor</a:t>
            </a:r>
            <a:r>
              <a:rPr lang="en-US" dirty="0"/>
              <a:t> (</a:t>
            </a:r>
            <a:r>
              <a:rPr lang="en-US" dirty="0" err="1"/>
              <a:t>faza</a:t>
            </a:r>
            <a:r>
              <a:rPr lang="en-US" dirty="0"/>
              <a:t> COMMIT), </a:t>
            </a:r>
            <a:r>
              <a:rPr lang="en-US" dirty="0" err="1"/>
              <a:t>blok</a:t>
            </a:r>
            <a:r>
              <a:rPr lang="en-US" dirty="0"/>
              <a:t> mora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trajno</a:t>
            </a:r>
            <a:r>
              <a:rPr lang="en-US" dirty="0"/>
              <a:t> </a:t>
            </a:r>
            <a:r>
              <a:rPr lang="en-US" dirty="0" err="1"/>
              <a:t>upisan</a:t>
            </a:r>
            <a:r>
              <a:rPr lang="en-US" dirty="0"/>
              <a:t> u </a:t>
            </a:r>
            <a:r>
              <a:rPr lang="en-US" dirty="0" err="1"/>
              <a:t>bazu</a:t>
            </a:r>
            <a:r>
              <a:rPr lang="en-US" dirty="0"/>
              <a:t>. </a:t>
            </a:r>
            <a:r>
              <a:rPr lang="en-US" dirty="0" err="1"/>
              <a:t>Međutim</a:t>
            </a:r>
            <a:r>
              <a:rPr lang="en-US" dirty="0"/>
              <a:t>, </a:t>
            </a:r>
            <a:r>
              <a:rPr lang="en-US" dirty="0" err="1"/>
              <a:t>ovde</a:t>
            </a:r>
            <a:r>
              <a:rPr lang="en-US" dirty="0"/>
              <a:t> se </a:t>
            </a:r>
            <a:r>
              <a:rPr lang="en-US" dirty="0" err="1"/>
              <a:t>javlja</a:t>
            </a:r>
            <a:r>
              <a:rPr lang="en-US" dirty="0"/>
              <a:t> </a:t>
            </a:r>
            <a:r>
              <a:rPr lang="en-US" dirty="0" err="1"/>
              <a:t>specifičan</a:t>
            </a:r>
            <a:r>
              <a:rPr lang="en-US" dirty="0"/>
              <a:t> problem </a:t>
            </a:r>
            <a:r>
              <a:rPr lang="en-US" dirty="0" err="1"/>
              <a:t>koji</a:t>
            </a:r>
            <a:r>
              <a:rPr lang="en-US" dirty="0"/>
              <a:t> IBFT </a:t>
            </a:r>
            <a:r>
              <a:rPr lang="en-US" dirty="0" err="1"/>
              <a:t>rešava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drugačiji</a:t>
            </a:r>
            <a:r>
              <a:rPr lang="en-US" dirty="0"/>
              <a:t> </a:t>
            </a:r>
            <a:r>
              <a:rPr lang="en-US" dirty="0" err="1"/>
              <a:t>način</a:t>
            </a:r>
            <a:r>
              <a:rPr lang="en-US" dirty="0"/>
              <a:t> od </a:t>
            </a:r>
            <a:r>
              <a:rPr lang="en-US" dirty="0" err="1"/>
              <a:t>običnog</a:t>
            </a:r>
            <a:r>
              <a:rPr lang="en-US" dirty="0"/>
              <a:t> </a:t>
            </a:r>
            <a:r>
              <a:rPr lang="en-US" dirty="0" err="1"/>
              <a:t>Ethereuma</a:t>
            </a:r>
            <a:r>
              <a:rPr lang="en-US" dirty="0"/>
              <a:t>.</a:t>
            </a:r>
          </a:p>
          <a:p>
            <a:r>
              <a:rPr lang="en-US" dirty="0"/>
              <a:t>U </a:t>
            </a:r>
            <a:r>
              <a:rPr lang="en-US" dirty="0" err="1"/>
              <a:t>Bitkoinu</a:t>
            </a:r>
            <a:r>
              <a:rPr lang="en-US" dirty="0"/>
              <a:t>, </a:t>
            </a:r>
            <a:r>
              <a:rPr lang="en-US" dirty="0" err="1"/>
              <a:t>dokaz</a:t>
            </a:r>
            <a:r>
              <a:rPr lang="en-US" dirty="0"/>
              <a:t> da je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validan</a:t>
            </a:r>
            <a:r>
              <a:rPr lang="en-US" dirty="0"/>
              <a:t> je </a:t>
            </a:r>
            <a:r>
              <a:rPr lang="en-US" dirty="0" smtClean="0"/>
              <a:t>Hash </a:t>
            </a:r>
            <a:r>
              <a:rPr lang="en-US" dirty="0"/>
              <a:t>(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puno</a:t>
            </a:r>
            <a:r>
              <a:rPr lang="en-US" dirty="0"/>
              <a:t> </a:t>
            </a:r>
            <a:r>
              <a:rPr lang="en-US" dirty="0" err="1"/>
              <a:t>nula</a:t>
            </a:r>
            <a:r>
              <a:rPr lang="en-US" dirty="0"/>
              <a:t>). U IBFT-u, </a:t>
            </a:r>
            <a:r>
              <a:rPr lang="en-US" dirty="0" err="1"/>
              <a:t>dokaz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 </a:t>
            </a:r>
            <a:r>
              <a:rPr lang="en-US" b="1" dirty="0" err="1"/>
              <a:t>digitalni</a:t>
            </a:r>
            <a:r>
              <a:rPr lang="en-US" b="1" dirty="0"/>
              <a:t> </a:t>
            </a:r>
            <a:r>
              <a:rPr lang="en-US" b="1" dirty="0" err="1"/>
              <a:t>potpisi</a:t>
            </a:r>
            <a:r>
              <a:rPr lang="en-US" dirty="0"/>
              <a:t> </a:t>
            </a:r>
            <a:r>
              <a:rPr lang="en-US" dirty="0" err="1"/>
              <a:t>validatora</a:t>
            </a:r>
            <a:r>
              <a:rPr lang="en-US" dirty="0"/>
              <a:t>. </a:t>
            </a:r>
            <a:endParaRPr lang="sr-Latn-RS" dirty="0" smtClean="0"/>
          </a:p>
          <a:p>
            <a:r>
              <a:rPr lang="en-US" dirty="0" err="1" smtClean="0"/>
              <a:t>Tu</a:t>
            </a:r>
            <a:r>
              <a:rPr lang="en-US" dirty="0" smtClean="0"/>
              <a:t> </a:t>
            </a:r>
            <a:r>
              <a:rPr lang="en-US" dirty="0" err="1"/>
              <a:t>nastaje</a:t>
            </a:r>
            <a:r>
              <a:rPr lang="en-US" dirty="0"/>
              <a:t> </a:t>
            </a:r>
            <a:r>
              <a:rPr lang="en-US" dirty="0" err="1"/>
              <a:t>logički</a:t>
            </a:r>
            <a:r>
              <a:rPr lang="en-US" dirty="0"/>
              <a:t> problem</a:t>
            </a:r>
            <a:r>
              <a:rPr lang="en-US" dirty="0" smtClean="0"/>
              <a:t>:</a:t>
            </a:r>
            <a:r>
              <a:rPr lang="sr-Latn-RS" dirty="0" smtClean="0"/>
              <a:t> problem kokoške i jajeta</a:t>
            </a:r>
          </a:p>
          <a:p>
            <a:r>
              <a:rPr lang="en-US" dirty="0" err="1"/>
              <a:t>Kako</a:t>
            </a:r>
            <a:r>
              <a:rPr lang="en-US" dirty="0"/>
              <a:t> IBFT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rešava</a:t>
            </a:r>
            <a:r>
              <a:rPr lang="en-US" dirty="0" smtClean="0"/>
              <a:t>?</a:t>
            </a:r>
            <a:endParaRPr lang="sr-Latn-RS" dirty="0" smtClean="0"/>
          </a:p>
          <a:p>
            <a:pPr marL="0" lvl="0" indent="0">
              <a:buNone/>
            </a:pPr>
            <a:r>
              <a:rPr lang="sr-Latn-RS" dirty="0"/>
              <a:t>	</a:t>
            </a:r>
            <a:r>
              <a:rPr lang="sr-Latn-RS" dirty="0" smtClean="0"/>
              <a:t>1. </a:t>
            </a:r>
            <a:r>
              <a:rPr lang="en-US" b="1" dirty="0" err="1"/>
              <a:t>Pečat</a:t>
            </a:r>
            <a:r>
              <a:rPr lang="en-US" b="1" dirty="0"/>
              <a:t> </a:t>
            </a:r>
            <a:r>
              <a:rPr lang="en-US" b="1" dirty="0" err="1"/>
              <a:t>predlagača</a:t>
            </a:r>
            <a:r>
              <a:rPr lang="en-US" b="1" dirty="0"/>
              <a:t> (Proposer Seal):</a:t>
            </a:r>
            <a:r>
              <a:rPr lang="en-US" dirty="0"/>
              <a:t> </a:t>
            </a:r>
            <a:r>
              <a:rPr lang="en-US" dirty="0" err="1"/>
              <a:t>Predlagač</a:t>
            </a:r>
            <a:r>
              <a:rPr lang="en-US" dirty="0"/>
              <a:t> </a:t>
            </a:r>
            <a:r>
              <a:rPr lang="en-US" dirty="0" err="1"/>
              <a:t>prvi</a:t>
            </a:r>
            <a:r>
              <a:rPr lang="en-US" dirty="0"/>
              <a:t> </a:t>
            </a:r>
            <a:r>
              <a:rPr lang="en-US" dirty="0" err="1"/>
              <a:t>potpisuje</a:t>
            </a:r>
            <a:r>
              <a:rPr lang="en-US" dirty="0"/>
              <a:t> </a:t>
            </a:r>
            <a:r>
              <a:rPr lang="en-US" dirty="0" err="1"/>
              <a:t>zaglavlje</a:t>
            </a:r>
            <a:r>
              <a:rPr lang="en-US" dirty="0"/>
              <a:t> </a:t>
            </a:r>
            <a:r>
              <a:rPr lang="en-US" dirty="0" err="1"/>
              <a:t>bloka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polja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ostale</a:t>
            </a:r>
            <a:r>
              <a:rPr lang="en-US" dirty="0"/>
              <a:t> </a:t>
            </a:r>
            <a:r>
              <a:rPr lang="en-US" dirty="0" err="1"/>
              <a:t>potpise</a:t>
            </a:r>
            <a:r>
              <a:rPr lang="en-US" dirty="0"/>
              <a:t> </a:t>
            </a:r>
            <a:r>
              <a:rPr lang="en-US" b="1" dirty="0" err="1"/>
              <a:t>prazna</a:t>
            </a:r>
            <a:r>
              <a:rPr lang="en-US" dirty="0"/>
              <a:t>. To je </a:t>
            </a:r>
            <a:r>
              <a:rPr lang="en-US" dirty="0" err="1"/>
              <a:t>inicijalni</a:t>
            </a:r>
            <a:r>
              <a:rPr lang="en-US" dirty="0"/>
              <a:t> </a:t>
            </a:r>
            <a:r>
              <a:rPr lang="en-US" dirty="0" err="1"/>
              <a:t>pečat</a:t>
            </a:r>
            <a:r>
              <a:rPr lang="en-US" dirty="0" smtClean="0"/>
              <a:t>.</a:t>
            </a:r>
            <a:endParaRPr lang="sr-Latn-RS" dirty="0" smtClean="0"/>
          </a:p>
          <a:p>
            <a:pPr marL="0" indent="0">
              <a:buNone/>
            </a:pPr>
            <a:r>
              <a:rPr lang="sr-Latn-RS" dirty="0"/>
              <a:t>	</a:t>
            </a:r>
            <a:r>
              <a:rPr lang="sr-Latn-RS" dirty="0" smtClean="0"/>
              <a:t>2. </a:t>
            </a:r>
            <a:r>
              <a:rPr lang="en-US" b="1" dirty="0" err="1"/>
              <a:t>Dosledan</a:t>
            </a:r>
            <a:r>
              <a:rPr lang="en-US" b="1" dirty="0"/>
              <a:t> Hash </a:t>
            </a:r>
            <a:r>
              <a:rPr lang="en-US" b="1" dirty="0" err="1"/>
              <a:t>bloka</a:t>
            </a:r>
            <a:r>
              <a:rPr lang="en-US" b="1" dirty="0"/>
              <a:t> (Block Hash):</a:t>
            </a:r>
            <a:r>
              <a:rPr lang="en-US" dirty="0"/>
              <a:t> 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ključna</a:t>
            </a:r>
            <a:r>
              <a:rPr lang="en-US" dirty="0"/>
              <a:t> </a:t>
            </a:r>
            <a:r>
              <a:rPr lang="en-US" dirty="0" err="1"/>
              <a:t>inovacija</a:t>
            </a:r>
            <a:r>
              <a:rPr lang="en-US" dirty="0"/>
              <a:t>.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računanja</a:t>
            </a:r>
            <a:r>
              <a:rPr lang="en-US" dirty="0"/>
              <a:t> Hash-a </a:t>
            </a:r>
            <a:r>
              <a:rPr lang="en-US" dirty="0" err="1"/>
              <a:t>bloka</a:t>
            </a:r>
            <a:r>
              <a:rPr lang="en-US" dirty="0"/>
              <a:t>, </a:t>
            </a:r>
            <a:r>
              <a:rPr lang="en-US" dirty="0" err="1"/>
              <a:t>polja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potpisima</a:t>
            </a:r>
            <a:r>
              <a:rPr lang="en-US" dirty="0"/>
              <a:t> </a:t>
            </a:r>
            <a:r>
              <a:rPr lang="en-US" dirty="0" err="1"/>
              <a:t>ostalih</a:t>
            </a:r>
            <a:r>
              <a:rPr lang="en-US" dirty="0"/>
              <a:t> </a:t>
            </a:r>
            <a:r>
              <a:rPr lang="en-US" dirty="0" err="1"/>
              <a:t>validatora</a:t>
            </a:r>
            <a:r>
              <a:rPr lang="en-US" dirty="0"/>
              <a:t> (</a:t>
            </a:r>
            <a:r>
              <a:rPr lang="en-US" dirty="0" err="1"/>
              <a:t>CommittedSeals</a:t>
            </a:r>
            <a:r>
              <a:rPr lang="en-US" dirty="0"/>
              <a:t>) se </a:t>
            </a:r>
            <a:r>
              <a:rPr lang="en-US" b="1" dirty="0" err="1"/>
              <a:t>ignorišu</a:t>
            </a:r>
            <a:r>
              <a:rPr lang="en-US" dirty="0"/>
              <a:t> (</a:t>
            </a:r>
            <a:r>
              <a:rPr lang="en-US" dirty="0" err="1"/>
              <a:t>tretiraju</a:t>
            </a:r>
            <a:r>
              <a:rPr lang="en-US" dirty="0"/>
              <a:t> se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prazna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sr-Latn-RS" dirty="0" smtClean="0"/>
              <a:t>	3. </a:t>
            </a:r>
            <a:r>
              <a:rPr lang="en-US" b="1" dirty="0" err="1"/>
              <a:t>Konačni</a:t>
            </a:r>
            <a:r>
              <a:rPr lang="en-US" b="1" dirty="0"/>
              <a:t> </a:t>
            </a:r>
            <a:r>
              <a:rPr lang="en-US" b="1" dirty="0" err="1"/>
              <a:t>dokaz</a:t>
            </a:r>
            <a:r>
              <a:rPr lang="en-US" b="1" dirty="0"/>
              <a:t> (Consensus Proof):</a:t>
            </a:r>
            <a:r>
              <a:rPr lang="en-US" dirty="0"/>
              <a:t> 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se </a:t>
            </a:r>
            <a:r>
              <a:rPr lang="en-US" dirty="0" err="1"/>
              <a:t>dobije</a:t>
            </a:r>
            <a:r>
              <a:rPr lang="en-US" dirty="0"/>
              <a:t> </a:t>
            </a:r>
            <a:r>
              <a:rPr lang="en-US" dirty="0" err="1"/>
              <a:t>taj</a:t>
            </a:r>
            <a:r>
              <a:rPr lang="en-US" dirty="0"/>
              <a:t> </a:t>
            </a:r>
            <a:r>
              <a:rPr lang="en-US" dirty="0" err="1"/>
              <a:t>fiksni</a:t>
            </a:r>
            <a:r>
              <a:rPr lang="en-US" dirty="0"/>
              <a:t> Hash, </a:t>
            </a:r>
            <a:r>
              <a:rPr lang="en-US" dirty="0" err="1"/>
              <a:t>svako</a:t>
            </a:r>
            <a:r>
              <a:rPr lang="en-US" dirty="0"/>
              <a:t> </a:t>
            </a:r>
            <a:r>
              <a:rPr lang="en-US" dirty="0" err="1"/>
              <a:t>ga</a:t>
            </a:r>
            <a:r>
              <a:rPr lang="en-US" dirty="0"/>
              <a:t> </a:t>
            </a:r>
            <a:r>
              <a:rPr lang="en-US" dirty="0" err="1"/>
              <a:t>potpisuje</a:t>
            </a:r>
            <a:r>
              <a:rPr lang="en-US" dirty="0"/>
              <a:t>. </a:t>
            </a:r>
            <a:r>
              <a:rPr lang="en-US" dirty="0" err="1"/>
              <a:t>Ti</a:t>
            </a:r>
            <a:r>
              <a:rPr lang="en-US" dirty="0"/>
              <a:t> </a:t>
            </a:r>
            <a:r>
              <a:rPr lang="en-US" dirty="0" err="1"/>
              <a:t>potpisi</a:t>
            </a:r>
            <a:r>
              <a:rPr lang="en-US" dirty="0"/>
              <a:t> se </a:t>
            </a:r>
            <a:r>
              <a:rPr lang="en-US" dirty="0" err="1"/>
              <a:t>onda</a:t>
            </a:r>
            <a:r>
              <a:rPr lang="en-US" dirty="0"/>
              <a:t> "</a:t>
            </a:r>
            <a:r>
              <a:rPr lang="en-US" dirty="0" err="1"/>
              <a:t>prilepe</a:t>
            </a:r>
            <a:r>
              <a:rPr lang="en-US" dirty="0"/>
              <a:t>" u </a:t>
            </a:r>
            <a:r>
              <a:rPr lang="en-US" dirty="0" err="1"/>
              <a:t>polje</a:t>
            </a:r>
            <a:r>
              <a:rPr lang="en-US" dirty="0"/>
              <a:t> </a:t>
            </a:r>
            <a:r>
              <a:rPr lang="en-US" dirty="0" err="1"/>
              <a:t>extraData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se </a:t>
            </a:r>
            <a:r>
              <a:rPr lang="en-US" dirty="0" err="1"/>
              <a:t>šalje</a:t>
            </a:r>
            <a:r>
              <a:rPr lang="en-US" dirty="0"/>
              <a:t> u </a:t>
            </a:r>
            <a:r>
              <a:rPr lang="en-US" dirty="0" err="1"/>
              <a:t>bazu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6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776" y="-26122"/>
            <a:ext cx="8848910" cy="1393371"/>
          </a:xfrm>
        </p:spPr>
        <p:txBody>
          <a:bodyPr>
            <a:normAutofit/>
          </a:bodyPr>
          <a:lstStyle/>
          <a:p>
            <a:r>
              <a:rPr lang="pl-PL" sz="3600" dirty="0"/>
              <a:t>Adaptacija na Ethereum </a:t>
            </a:r>
            <a:r>
              <a:rPr lang="pl-PL" sz="3600" dirty="0" smtClean="0"/>
              <a:t/>
            </a:r>
            <a:br>
              <a:rPr lang="pl-PL" sz="3600" dirty="0" smtClean="0"/>
            </a:br>
            <a:r>
              <a:rPr lang="pl-PL" sz="3600" dirty="0" smtClean="0"/>
              <a:t>(</a:t>
            </a:r>
            <a:r>
              <a:rPr lang="pl-PL" sz="3600" dirty="0"/>
              <a:t>Nove funkcije u starim poljima</a:t>
            </a:r>
            <a:r>
              <a:rPr lang="pl-PL" sz="3600" dirty="0" smtClean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599" y="1436909"/>
            <a:ext cx="10559647" cy="4415251"/>
          </a:xfrm>
        </p:spPr>
        <p:txBody>
          <a:bodyPr>
            <a:normAutofit/>
          </a:bodyPr>
          <a:lstStyle/>
          <a:p>
            <a:r>
              <a:rPr lang="en-US" sz="2200" b="1" dirty="0" err="1"/>
              <a:t>Kompatibilnost</a:t>
            </a:r>
            <a:r>
              <a:rPr lang="en-US" sz="2200" b="1" dirty="0"/>
              <a:t>:</a:t>
            </a:r>
            <a:r>
              <a:rPr lang="en-US" sz="2200" dirty="0"/>
              <a:t> IBFT je </a:t>
            </a:r>
            <a:r>
              <a:rPr lang="en-US" sz="2200" dirty="0" err="1"/>
              <a:t>dizajniran</a:t>
            </a:r>
            <a:r>
              <a:rPr lang="en-US" sz="2200" dirty="0"/>
              <a:t> da </a:t>
            </a:r>
            <a:r>
              <a:rPr lang="en-US" sz="2200" dirty="0" err="1"/>
              <a:t>radi</a:t>
            </a:r>
            <a:r>
              <a:rPr lang="en-US" sz="2200" dirty="0"/>
              <a:t> </a:t>
            </a:r>
            <a:r>
              <a:rPr lang="en-US" sz="2200" dirty="0" err="1"/>
              <a:t>unutar</a:t>
            </a:r>
            <a:r>
              <a:rPr lang="en-US" sz="2200" dirty="0"/>
              <a:t> </a:t>
            </a:r>
            <a:r>
              <a:rPr lang="en-US" sz="2200" dirty="0" err="1"/>
              <a:t>Ethereuma</a:t>
            </a:r>
            <a:r>
              <a:rPr lang="en-US" sz="2200" dirty="0"/>
              <a:t> bez </a:t>
            </a:r>
            <a:r>
              <a:rPr lang="en-US" sz="2200" dirty="0" err="1"/>
              <a:t>promene</a:t>
            </a:r>
            <a:r>
              <a:rPr lang="en-US" sz="2200" dirty="0"/>
              <a:t> </a:t>
            </a:r>
            <a:r>
              <a:rPr lang="en-US" sz="2200" dirty="0" err="1"/>
              <a:t>njegove</a:t>
            </a:r>
            <a:r>
              <a:rPr lang="en-US" sz="2200" dirty="0"/>
              <a:t> </a:t>
            </a:r>
            <a:r>
              <a:rPr lang="en-US" sz="2200" dirty="0" err="1"/>
              <a:t>osnovne</a:t>
            </a:r>
            <a:r>
              <a:rPr lang="en-US" sz="2200" dirty="0"/>
              <a:t> </a:t>
            </a:r>
            <a:r>
              <a:rPr lang="en-US" sz="2200" dirty="0" err="1"/>
              <a:t>arhitekture</a:t>
            </a:r>
            <a:r>
              <a:rPr lang="en-US" sz="2200" dirty="0"/>
              <a:t>. </a:t>
            </a:r>
            <a:r>
              <a:rPr lang="en-US" sz="2200" dirty="0" err="1"/>
              <a:t>Zato</a:t>
            </a:r>
            <a:r>
              <a:rPr lang="en-US" sz="2200" dirty="0"/>
              <a:t> </a:t>
            </a:r>
            <a:r>
              <a:rPr lang="en-US" sz="2200" dirty="0" err="1"/>
              <a:t>koristi</a:t>
            </a:r>
            <a:r>
              <a:rPr lang="en-US" sz="2200" dirty="0"/>
              <a:t> </a:t>
            </a:r>
            <a:r>
              <a:rPr lang="en-US" sz="2200" dirty="0" err="1"/>
              <a:t>stara</a:t>
            </a:r>
            <a:r>
              <a:rPr lang="en-US" sz="2200" dirty="0"/>
              <a:t> </a:t>
            </a:r>
            <a:r>
              <a:rPr lang="en-US" sz="2200" dirty="0" err="1"/>
              <a:t>polja</a:t>
            </a:r>
            <a:r>
              <a:rPr lang="en-US" sz="2200" dirty="0"/>
              <a:t> </a:t>
            </a:r>
            <a:r>
              <a:rPr lang="en-US" sz="2200" dirty="0" err="1"/>
              <a:t>za</a:t>
            </a:r>
            <a:r>
              <a:rPr lang="en-US" sz="2200" dirty="0"/>
              <a:t> </a:t>
            </a:r>
            <a:r>
              <a:rPr lang="en-US" sz="2200" dirty="0" err="1"/>
              <a:t>nove</a:t>
            </a:r>
            <a:r>
              <a:rPr lang="en-US" sz="2200" dirty="0"/>
              <a:t> </a:t>
            </a:r>
            <a:r>
              <a:rPr lang="en-US" sz="2200" dirty="0" err="1"/>
              <a:t>svrhe</a:t>
            </a:r>
            <a:r>
              <a:rPr lang="en-US" sz="2200" dirty="0"/>
              <a:t>:</a:t>
            </a:r>
          </a:p>
          <a:p>
            <a:pPr lvl="1"/>
            <a:r>
              <a:rPr lang="en-US" sz="2200" b="1" dirty="0" err="1"/>
              <a:t>ExtraData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  <a:r>
              <a:rPr lang="en-US" sz="2200" dirty="0" err="1"/>
              <a:t>Postaje</a:t>
            </a:r>
            <a:r>
              <a:rPr lang="en-US" sz="2200" dirty="0"/>
              <a:t> "</a:t>
            </a:r>
            <a:r>
              <a:rPr lang="en-US" sz="2200" dirty="0" err="1"/>
              <a:t>ranac</a:t>
            </a:r>
            <a:r>
              <a:rPr lang="en-US" sz="2200" dirty="0"/>
              <a:t>" u </a:t>
            </a:r>
            <a:r>
              <a:rPr lang="en-US" sz="2200" dirty="0" err="1"/>
              <a:t>koji</a:t>
            </a:r>
            <a:r>
              <a:rPr lang="en-US" sz="2200" dirty="0"/>
              <a:t> se </a:t>
            </a:r>
            <a:r>
              <a:rPr lang="en-US" sz="2200" dirty="0" err="1" smtClean="0"/>
              <a:t>pakuje</a:t>
            </a:r>
            <a:r>
              <a:rPr lang="en-US" sz="2200" dirty="0" smtClean="0"/>
              <a:t> </a:t>
            </a:r>
            <a:r>
              <a:rPr lang="sr-Latn-RS" sz="2200" dirty="0" smtClean="0"/>
              <a:t>sve: </a:t>
            </a:r>
            <a:r>
              <a:rPr lang="en-US" sz="2200" dirty="0" err="1"/>
              <a:t>lista</a:t>
            </a:r>
            <a:r>
              <a:rPr lang="en-US" sz="2200" dirty="0"/>
              <a:t> </a:t>
            </a:r>
            <a:r>
              <a:rPr lang="en-US" sz="2200" dirty="0" err="1"/>
              <a:t>validatora</a:t>
            </a:r>
            <a:r>
              <a:rPr lang="en-US" sz="2200" dirty="0"/>
              <a:t>, </a:t>
            </a:r>
            <a:r>
              <a:rPr lang="en-US" sz="2200" dirty="0" err="1"/>
              <a:t>potpis</a:t>
            </a:r>
            <a:r>
              <a:rPr lang="en-US" sz="2200" dirty="0"/>
              <a:t> </a:t>
            </a:r>
            <a:r>
              <a:rPr lang="en-US" sz="2200" dirty="0" err="1"/>
              <a:t>predlagača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svi</a:t>
            </a:r>
            <a:r>
              <a:rPr lang="en-US" sz="2200" dirty="0"/>
              <a:t> </a:t>
            </a:r>
            <a:r>
              <a:rPr lang="en-US" sz="2200" dirty="0" err="1"/>
              <a:t>prikupljeni</a:t>
            </a:r>
            <a:r>
              <a:rPr lang="en-US" sz="2200" dirty="0"/>
              <a:t> </a:t>
            </a:r>
            <a:r>
              <a:rPr lang="en-US" sz="2200" dirty="0" err="1"/>
              <a:t>potpisi</a:t>
            </a:r>
            <a:r>
              <a:rPr lang="en-US" sz="2200" dirty="0"/>
              <a:t> </a:t>
            </a:r>
            <a:r>
              <a:rPr lang="en-US" sz="2200" dirty="0" err="1"/>
              <a:t>kvoruma</a:t>
            </a:r>
            <a:endParaRPr lang="en-US" sz="2200" dirty="0"/>
          </a:p>
          <a:p>
            <a:pPr lvl="1"/>
            <a:r>
              <a:rPr lang="en-US" sz="2200" b="1" dirty="0"/>
              <a:t>Nonce:</a:t>
            </a:r>
            <a:r>
              <a:rPr lang="en-US" sz="2200" dirty="0"/>
              <a:t> </a:t>
            </a:r>
            <a:r>
              <a:rPr lang="en-US" sz="2200" dirty="0" err="1"/>
              <a:t>Umesto</a:t>
            </a:r>
            <a:r>
              <a:rPr lang="en-US" sz="2200" dirty="0"/>
              <a:t> </a:t>
            </a:r>
            <a:r>
              <a:rPr lang="en-US" sz="2200" dirty="0" err="1"/>
              <a:t>za</a:t>
            </a:r>
            <a:r>
              <a:rPr lang="en-US" sz="2200" dirty="0"/>
              <a:t> </a:t>
            </a:r>
            <a:r>
              <a:rPr lang="en-US" sz="2200" dirty="0" err="1"/>
              <a:t>rudarenje</a:t>
            </a:r>
            <a:r>
              <a:rPr lang="en-US" sz="2200" dirty="0"/>
              <a:t>, </a:t>
            </a:r>
            <a:r>
              <a:rPr lang="en-US" sz="2200" dirty="0" err="1"/>
              <a:t>koristi</a:t>
            </a:r>
            <a:r>
              <a:rPr lang="en-US" sz="2200" dirty="0"/>
              <a:t> se </a:t>
            </a:r>
            <a:r>
              <a:rPr lang="en-US" sz="2200" dirty="0" err="1"/>
              <a:t>za</a:t>
            </a:r>
            <a:r>
              <a:rPr lang="en-US" sz="2200" dirty="0"/>
              <a:t> </a:t>
            </a:r>
            <a:r>
              <a:rPr lang="en-US" sz="2200" dirty="0" err="1"/>
              <a:t>glasanje</a:t>
            </a:r>
            <a:r>
              <a:rPr lang="en-US" sz="2200" dirty="0"/>
              <a:t> o </a:t>
            </a:r>
            <a:r>
              <a:rPr lang="en-US" sz="2200" dirty="0" err="1"/>
              <a:t>promeni</a:t>
            </a:r>
            <a:r>
              <a:rPr lang="en-US" sz="2200" dirty="0"/>
              <a:t> </a:t>
            </a:r>
            <a:r>
              <a:rPr lang="en-US" sz="2200" dirty="0" err="1"/>
              <a:t>liste</a:t>
            </a:r>
            <a:r>
              <a:rPr lang="en-US" sz="2200" dirty="0"/>
              <a:t> </a:t>
            </a:r>
            <a:r>
              <a:rPr lang="en-US" sz="2200" dirty="0" err="1"/>
              <a:t>validatora</a:t>
            </a:r>
            <a:r>
              <a:rPr lang="en-US" sz="2200" dirty="0"/>
              <a:t> (</a:t>
            </a:r>
            <a:r>
              <a:rPr lang="en-US" sz="2200" dirty="0" err="1"/>
              <a:t>izbacivanje</a:t>
            </a:r>
            <a:r>
              <a:rPr lang="en-US" sz="2200" dirty="0"/>
              <a:t> </a:t>
            </a:r>
            <a:r>
              <a:rPr lang="en-US" sz="2200" dirty="0" err="1"/>
              <a:t>ili</a:t>
            </a:r>
            <a:r>
              <a:rPr lang="en-US" sz="2200" dirty="0"/>
              <a:t> </a:t>
            </a:r>
            <a:r>
              <a:rPr lang="en-US" sz="2200" dirty="0" err="1"/>
              <a:t>ubacivanje</a:t>
            </a:r>
            <a:r>
              <a:rPr lang="en-US" sz="2200" dirty="0"/>
              <a:t> </a:t>
            </a:r>
            <a:r>
              <a:rPr lang="en-US" sz="2200" dirty="0" err="1"/>
              <a:t>članova</a:t>
            </a:r>
            <a:r>
              <a:rPr lang="en-US" sz="2200" dirty="0"/>
              <a:t>).</a:t>
            </a:r>
          </a:p>
          <a:p>
            <a:pPr lvl="1"/>
            <a:r>
              <a:rPr lang="en-US" sz="2200" b="1" dirty="0" err="1"/>
              <a:t>MixHash</a:t>
            </a:r>
            <a:r>
              <a:rPr lang="en-US" sz="2200" b="1" dirty="0"/>
              <a:t>:</a:t>
            </a:r>
            <a:r>
              <a:rPr lang="en-US" sz="2200" dirty="0"/>
              <a:t> </a:t>
            </a:r>
            <a:r>
              <a:rPr lang="en-US" sz="2200" dirty="0" err="1"/>
              <a:t>Sadrži</a:t>
            </a:r>
            <a:r>
              <a:rPr lang="en-US" sz="2200" dirty="0"/>
              <a:t> "</a:t>
            </a:r>
            <a:r>
              <a:rPr lang="en-US" sz="2200" dirty="0" err="1"/>
              <a:t>magični</a:t>
            </a:r>
            <a:r>
              <a:rPr lang="en-US" sz="2200" dirty="0"/>
              <a:t> </a:t>
            </a:r>
            <a:r>
              <a:rPr lang="en-US" sz="2200" dirty="0" err="1"/>
              <a:t>broj</a:t>
            </a:r>
            <a:r>
              <a:rPr lang="en-US" sz="2200" dirty="0"/>
              <a:t>" (0x6374...) </a:t>
            </a:r>
            <a:r>
              <a:rPr lang="en-US" sz="2200" dirty="0" err="1"/>
              <a:t>koji</a:t>
            </a:r>
            <a:r>
              <a:rPr lang="en-US" sz="2200" dirty="0"/>
              <a:t> </a:t>
            </a:r>
            <a:r>
              <a:rPr lang="en-US" sz="2200" dirty="0" err="1"/>
              <a:t>govori</a:t>
            </a:r>
            <a:r>
              <a:rPr lang="en-US" sz="2200" dirty="0"/>
              <a:t> </a:t>
            </a:r>
            <a:r>
              <a:rPr lang="en-US" sz="2200" dirty="0" err="1"/>
              <a:t>softveru</a:t>
            </a:r>
            <a:r>
              <a:rPr lang="en-US" sz="2200" dirty="0"/>
              <a:t>: "</a:t>
            </a:r>
            <a:r>
              <a:rPr lang="en-US" sz="2200" dirty="0" err="1"/>
              <a:t>Ovo</a:t>
            </a:r>
            <a:r>
              <a:rPr lang="en-US" sz="2200" dirty="0"/>
              <a:t> je IBFT </a:t>
            </a:r>
            <a:r>
              <a:rPr lang="en-US" sz="2200" dirty="0" err="1"/>
              <a:t>blok</a:t>
            </a:r>
            <a:r>
              <a:rPr lang="en-US" sz="2200" dirty="0"/>
              <a:t>, </a:t>
            </a:r>
            <a:r>
              <a:rPr lang="en-US" sz="2200" dirty="0" err="1"/>
              <a:t>nemoj</a:t>
            </a:r>
            <a:r>
              <a:rPr lang="en-US" sz="2200" dirty="0"/>
              <a:t> </a:t>
            </a:r>
            <a:r>
              <a:rPr lang="en-US" sz="2200" dirty="0" err="1"/>
              <a:t>tražiti</a:t>
            </a:r>
            <a:r>
              <a:rPr lang="en-US" sz="2200" dirty="0"/>
              <a:t> </a:t>
            </a:r>
            <a:r>
              <a:rPr lang="en-US" sz="2200" dirty="0" err="1"/>
              <a:t>rudare</a:t>
            </a:r>
            <a:r>
              <a:rPr lang="en-US" sz="2200" dirty="0" smtClean="0"/>
              <a:t>".</a:t>
            </a:r>
            <a:endParaRPr lang="sr-Latn-RS" sz="2200" dirty="0" smtClean="0"/>
          </a:p>
          <a:p>
            <a:pPr marL="457200" lvl="1" indent="0">
              <a:buNone/>
            </a:pPr>
            <a:endParaRPr lang="sr-Latn-RS" sz="2200" dirty="0" smtClean="0"/>
          </a:p>
          <a:p>
            <a:pPr marL="457200" lvl="1" indent="0">
              <a:buNone/>
            </a:pPr>
            <a:endParaRPr lang="en-US" sz="2200" dirty="0"/>
          </a:p>
          <a:p>
            <a:endParaRPr lang="en-US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1641062" y="4790331"/>
            <a:ext cx="103941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Takođe</a:t>
            </a:r>
            <a:r>
              <a:rPr lang="en-US" sz="2200" dirty="0"/>
              <a:t>, </a:t>
            </a:r>
            <a:r>
              <a:rPr lang="en-US" sz="2200" dirty="0" err="1"/>
              <a:t>sistem</a:t>
            </a:r>
            <a:r>
              <a:rPr lang="en-US" sz="2200" dirty="0"/>
              <a:t> </a:t>
            </a:r>
            <a:r>
              <a:rPr lang="en-US" sz="2200" dirty="0" err="1"/>
              <a:t>dozvoljava</a:t>
            </a:r>
            <a:r>
              <a:rPr lang="en-US" sz="2200" dirty="0"/>
              <a:t> </a:t>
            </a:r>
            <a:r>
              <a:rPr lang="en-US" sz="2200" dirty="0" err="1"/>
              <a:t>biranje</a:t>
            </a:r>
            <a:r>
              <a:rPr lang="en-US" sz="2200" dirty="0"/>
              <a:t> </a:t>
            </a:r>
            <a:r>
              <a:rPr lang="en-US" sz="2200" dirty="0" err="1"/>
              <a:t>strategije</a:t>
            </a:r>
            <a:r>
              <a:rPr lang="en-US" sz="2200" dirty="0"/>
              <a:t> </a:t>
            </a:r>
            <a:r>
              <a:rPr lang="en-US" sz="2200" dirty="0" err="1"/>
              <a:t>lidera</a:t>
            </a:r>
            <a:r>
              <a:rPr lang="en-US" sz="2200" dirty="0"/>
              <a:t>:</a:t>
            </a:r>
          </a:p>
          <a:p>
            <a:pPr lvl="0"/>
            <a:r>
              <a:rPr lang="en-US" sz="2200" b="1" dirty="0"/>
              <a:t>Round Robin:</a:t>
            </a:r>
            <a:r>
              <a:rPr lang="en-US" sz="2200" dirty="0"/>
              <a:t> "</a:t>
            </a:r>
            <a:r>
              <a:rPr lang="en-US" sz="2200" dirty="0" err="1"/>
              <a:t>Fer-plej</a:t>
            </a:r>
            <a:r>
              <a:rPr lang="en-US" sz="2200" dirty="0"/>
              <a:t>" </a:t>
            </a:r>
            <a:r>
              <a:rPr lang="en-US" sz="2200" dirty="0" err="1"/>
              <a:t>sistem</a:t>
            </a:r>
            <a:r>
              <a:rPr lang="en-US" sz="2200" dirty="0"/>
              <a:t> </a:t>
            </a:r>
            <a:r>
              <a:rPr lang="en-US" sz="2200" dirty="0" err="1"/>
              <a:t>gde</a:t>
            </a:r>
            <a:r>
              <a:rPr lang="en-US" sz="2200" dirty="0"/>
              <a:t> </a:t>
            </a:r>
            <a:r>
              <a:rPr lang="en-US" sz="2200" dirty="0" err="1"/>
              <a:t>svako</a:t>
            </a:r>
            <a:r>
              <a:rPr lang="en-US" sz="2200" dirty="0"/>
              <a:t> </a:t>
            </a:r>
            <a:r>
              <a:rPr lang="en-US" sz="2200" dirty="0" err="1"/>
              <a:t>dobija</a:t>
            </a:r>
            <a:r>
              <a:rPr lang="en-US" sz="2200" dirty="0"/>
              <a:t> </a:t>
            </a:r>
            <a:r>
              <a:rPr lang="en-US" sz="2200" dirty="0" err="1"/>
              <a:t>šansu</a:t>
            </a:r>
            <a:r>
              <a:rPr lang="en-US" sz="2200" dirty="0"/>
              <a:t> da </a:t>
            </a:r>
            <a:r>
              <a:rPr lang="en-US" sz="2200" dirty="0" err="1"/>
              <a:t>predloži</a:t>
            </a:r>
            <a:r>
              <a:rPr lang="en-US" sz="2200" dirty="0"/>
              <a:t> </a:t>
            </a:r>
            <a:r>
              <a:rPr lang="en-US" sz="2200" dirty="0" err="1"/>
              <a:t>blok</a:t>
            </a:r>
            <a:r>
              <a:rPr lang="en-US" sz="2200" dirty="0"/>
              <a:t> (</a:t>
            </a:r>
            <a:r>
              <a:rPr lang="en-US" sz="2200" dirty="0" err="1"/>
              <a:t>menja</a:t>
            </a:r>
            <a:r>
              <a:rPr lang="en-US" sz="2200" dirty="0"/>
              <a:t> se </a:t>
            </a:r>
            <a:r>
              <a:rPr lang="en-US" sz="2200" dirty="0" err="1"/>
              <a:t>svaki</a:t>
            </a:r>
            <a:r>
              <a:rPr lang="en-US" sz="2200" dirty="0"/>
              <a:t> put).</a:t>
            </a:r>
          </a:p>
          <a:p>
            <a:pPr lvl="0"/>
            <a:r>
              <a:rPr lang="en-US" sz="2200" b="1" dirty="0"/>
              <a:t>Sticky Proposer:</a:t>
            </a:r>
            <a:r>
              <a:rPr lang="en-US" sz="2200" dirty="0"/>
              <a:t> </a:t>
            </a:r>
            <a:r>
              <a:rPr lang="en-US" sz="2200" dirty="0" err="1"/>
              <a:t>Sistem</a:t>
            </a:r>
            <a:r>
              <a:rPr lang="en-US" sz="2200" dirty="0"/>
              <a:t> "</a:t>
            </a:r>
            <a:r>
              <a:rPr lang="en-US" sz="2200" dirty="0" err="1"/>
              <a:t>dok</a:t>
            </a:r>
            <a:r>
              <a:rPr lang="en-US" sz="2200" dirty="0"/>
              <a:t> </a:t>
            </a:r>
            <a:r>
              <a:rPr lang="en-US" sz="2200" dirty="0" err="1"/>
              <a:t>radi</a:t>
            </a:r>
            <a:r>
              <a:rPr lang="en-US" sz="2200" dirty="0"/>
              <a:t> – ne </a:t>
            </a:r>
            <a:r>
              <a:rPr lang="en-US" sz="2200" dirty="0" err="1"/>
              <a:t>diraj</a:t>
            </a:r>
            <a:r>
              <a:rPr lang="en-US" sz="2200" dirty="0"/>
              <a:t>". </a:t>
            </a:r>
            <a:r>
              <a:rPr lang="en-US" sz="2200" dirty="0" err="1"/>
              <a:t>Isti</a:t>
            </a:r>
            <a:r>
              <a:rPr lang="en-US" sz="2200" dirty="0"/>
              <a:t> </a:t>
            </a:r>
            <a:r>
              <a:rPr lang="en-US" sz="2200" dirty="0" err="1"/>
              <a:t>lider</a:t>
            </a:r>
            <a:r>
              <a:rPr lang="en-US" sz="2200" dirty="0"/>
              <a:t> </a:t>
            </a:r>
            <a:r>
              <a:rPr lang="en-US" sz="2200" dirty="0" err="1"/>
              <a:t>ostaje</a:t>
            </a:r>
            <a:r>
              <a:rPr lang="en-US" sz="2200" dirty="0"/>
              <a:t> </a:t>
            </a:r>
            <a:r>
              <a:rPr lang="en-US" sz="2200" dirty="0" err="1"/>
              <a:t>dokle</a:t>
            </a:r>
            <a:r>
              <a:rPr lang="en-US" sz="2200" dirty="0"/>
              <a:t> god je </a:t>
            </a:r>
            <a:r>
              <a:rPr lang="en-US" sz="2200" dirty="0" err="1"/>
              <a:t>brz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</a:t>
            </a:r>
            <a:r>
              <a:rPr lang="en-US" sz="2200" dirty="0" err="1"/>
              <a:t>ispravan</a:t>
            </a:r>
            <a:r>
              <a:rPr lang="en-US" sz="2200" dirty="0"/>
              <a:t>. </a:t>
            </a:r>
            <a:r>
              <a:rPr lang="en-US" sz="2200" dirty="0" err="1"/>
              <a:t>Menja</a:t>
            </a:r>
            <a:r>
              <a:rPr lang="en-US" sz="2200" dirty="0"/>
              <a:t> se </a:t>
            </a:r>
            <a:r>
              <a:rPr lang="en-US" sz="2200" dirty="0" err="1"/>
              <a:t>samo</a:t>
            </a:r>
            <a:r>
              <a:rPr lang="en-US" sz="2200" dirty="0"/>
              <a:t> </a:t>
            </a:r>
            <a:r>
              <a:rPr lang="en-US" sz="2200" dirty="0" err="1"/>
              <a:t>ako</a:t>
            </a:r>
            <a:r>
              <a:rPr lang="en-US" sz="2200" dirty="0"/>
              <a:t> </a:t>
            </a:r>
            <a:r>
              <a:rPr lang="en-US" sz="2200" dirty="0" err="1"/>
              <a:t>dođe</a:t>
            </a:r>
            <a:r>
              <a:rPr lang="en-US" sz="2200" dirty="0"/>
              <a:t> do </a:t>
            </a:r>
            <a:r>
              <a:rPr lang="en-US" sz="2200" dirty="0" err="1"/>
              <a:t>greške</a:t>
            </a:r>
            <a:r>
              <a:rPr lang="en-US" sz="2200" dirty="0"/>
              <a:t> (Round Change).</a:t>
            </a:r>
          </a:p>
          <a:p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0344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441" y="32908"/>
            <a:ext cx="10018713" cy="724989"/>
          </a:xfrm>
        </p:spPr>
        <p:txBody>
          <a:bodyPr>
            <a:normAutofit/>
          </a:bodyPr>
          <a:lstStyle/>
          <a:p>
            <a:r>
              <a:rPr lang="sr-Latn-RS" sz="3600" dirty="0" smtClean="0"/>
              <a:t>Dokazi ispravnosti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9441" y="491201"/>
            <a:ext cx="10018713" cy="6527587"/>
          </a:xfrm>
        </p:spPr>
        <p:txBody>
          <a:bodyPr>
            <a:normAutofit/>
          </a:bodyPr>
          <a:lstStyle/>
          <a:p>
            <a:r>
              <a:rPr lang="en-US" dirty="0"/>
              <a:t>Da bi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konsenzusa</a:t>
            </a:r>
            <a:r>
              <a:rPr lang="en-US" dirty="0"/>
              <a:t> bio </a:t>
            </a:r>
            <a:r>
              <a:rPr lang="en-US" dirty="0" err="1"/>
              <a:t>smatran</a:t>
            </a:r>
            <a:r>
              <a:rPr lang="en-US" dirty="0"/>
              <a:t> </a:t>
            </a:r>
            <a:r>
              <a:rPr lang="en-US" dirty="0" err="1"/>
              <a:t>pouzdanim</a:t>
            </a:r>
            <a:r>
              <a:rPr lang="en-US" dirty="0"/>
              <a:t>, on mora </a:t>
            </a:r>
            <a:r>
              <a:rPr lang="en-US" dirty="0" err="1"/>
              <a:t>rigorozno</a:t>
            </a:r>
            <a:r>
              <a:rPr lang="en-US" dirty="0"/>
              <a:t> </a:t>
            </a:r>
            <a:r>
              <a:rPr lang="en-US" dirty="0" err="1"/>
              <a:t>dokazati</a:t>
            </a:r>
            <a:r>
              <a:rPr lang="en-US" dirty="0"/>
              <a:t> tri </a:t>
            </a:r>
            <a:r>
              <a:rPr lang="en-US" dirty="0" err="1"/>
              <a:t>ključne</a:t>
            </a:r>
            <a:r>
              <a:rPr lang="en-US" dirty="0"/>
              <a:t> </a:t>
            </a:r>
            <a:r>
              <a:rPr lang="en-US" dirty="0" err="1"/>
              <a:t>osobine</a:t>
            </a:r>
            <a:r>
              <a:rPr lang="en-US" dirty="0"/>
              <a:t>: </a:t>
            </a:r>
            <a:endParaRPr lang="sr-Latn-RS" dirty="0" smtClean="0"/>
          </a:p>
          <a:p>
            <a:r>
              <a:rPr lang="en-US" b="1" dirty="0" smtClean="0"/>
              <a:t>Agreement</a:t>
            </a:r>
            <a:r>
              <a:rPr lang="en-US" dirty="0"/>
              <a:t> (</a:t>
            </a:r>
            <a:r>
              <a:rPr lang="en-US" dirty="0" err="1"/>
              <a:t>Dogovor</a:t>
            </a:r>
            <a:r>
              <a:rPr lang="en-US" dirty="0" smtClean="0"/>
              <a:t>)</a:t>
            </a:r>
            <a:r>
              <a:rPr lang="sr-Latn-RS" dirty="0" smtClean="0"/>
              <a:t> -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ispravan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odluči</a:t>
            </a:r>
            <a:r>
              <a:rPr lang="en-US" dirty="0"/>
              <a:t> o </a:t>
            </a:r>
            <a:r>
              <a:rPr lang="en-US" dirty="0" err="1"/>
              <a:t>vrednosti</a:t>
            </a:r>
            <a:r>
              <a:rPr lang="en-US" dirty="0"/>
              <a:t> </a:t>
            </a:r>
            <a:r>
              <a:rPr lang="en-US" i="1" dirty="0"/>
              <a:t>v</a:t>
            </a:r>
            <a:r>
              <a:rPr lang="en-US" dirty="0"/>
              <a:t>, </a:t>
            </a:r>
            <a:r>
              <a:rPr lang="en-US" dirty="0" err="1"/>
              <a:t>nijedan</a:t>
            </a:r>
            <a:r>
              <a:rPr lang="en-US" dirty="0"/>
              <a:t> </a:t>
            </a:r>
            <a:r>
              <a:rPr lang="en-US" dirty="0" err="1"/>
              <a:t>drugi</a:t>
            </a:r>
            <a:r>
              <a:rPr lang="en-US" dirty="0"/>
              <a:t> </a:t>
            </a:r>
            <a:r>
              <a:rPr lang="en-US" dirty="0" err="1"/>
              <a:t>ispravan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ne </a:t>
            </a:r>
            <a:r>
              <a:rPr lang="en-US" dirty="0" err="1"/>
              <a:t>sme</a:t>
            </a:r>
            <a:r>
              <a:rPr lang="en-US" dirty="0"/>
              <a:t> </a:t>
            </a:r>
            <a:r>
              <a:rPr lang="en-US" dirty="0" err="1"/>
              <a:t>doneti</a:t>
            </a:r>
            <a:r>
              <a:rPr lang="en-US" dirty="0"/>
              <a:t> </a:t>
            </a:r>
            <a:r>
              <a:rPr lang="en-US" dirty="0" err="1"/>
              <a:t>odluku</a:t>
            </a:r>
            <a:r>
              <a:rPr lang="en-US" dirty="0"/>
              <a:t> o </a:t>
            </a:r>
            <a:r>
              <a:rPr lang="en-US" dirty="0" err="1"/>
              <a:t>različitoj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 </a:t>
            </a:r>
            <a:r>
              <a:rPr lang="en-US" i="1" dirty="0"/>
              <a:t>v</a:t>
            </a:r>
            <a:r>
              <a:rPr lang="en-US" dirty="0" smtClean="0"/>
              <a:t>′</a:t>
            </a:r>
            <a:r>
              <a:rPr lang="en-US" dirty="0"/>
              <a:t> </a:t>
            </a:r>
            <a:endParaRPr lang="sr-Latn-RS" dirty="0" smtClean="0"/>
          </a:p>
          <a:p>
            <a:r>
              <a:rPr lang="en-US" b="1" dirty="0" smtClean="0"/>
              <a:t>Validity</a:t>
            </a:r>
            <a:r>
              <a:rPr lang="en-US" dirty="0"/>
              <a:t> (</a:t>
            </a:r>
            <a:r>
              <a:rPr lang="en-US" dirty="0" err="1"/>
              <a:t>Validnost</a:t>
            </a:r>
            <a:r>
              <a:rPr lang="en-US" dirty="0"/>
              <a:t>) </a:t>
            </a:r>
            <a:r>
              <a:rPr lang="sr-Latn-RS" dirty="0" smtClean="0"/>
              <a:t>-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ispravan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donese</a:t>
            </a:r>
            <a:r>
              <a:rPr lang="en-US" dirty="0"/>
              <a:t> </a:t>
            </a:r>
            <a:r>
              <a:rPr lang="en-US" dirty="0" err="1"/>
              <a:t>odluku</a:t>
            </a:r>
            <a:r>
              <a:rPr lang="en-US" dirty="0"/>
              <a:t> o </a:t>
            </a:r>
            <a:r>
              <a:rPr lang="en-US" dirty="0" err="1"/>
              <a:t>vrednosti</a:t>
            </a:r>
            <a:r>
              <a:rPr lang="en-US" dirty="0"/>
              <a:t> </a:t>
            </a:r>
            <a:r>
              <a:rPr lang="en-US" i="1" dirty="0"/>
              <a:t>v</a:t>
            </a:r>
            <a:r>
              <a:rPr lang="en-US" dirty="0"/>
              <a:t>, ta </a:t>
            </a:r>
            <a:r>
              <a:rPr lang="en-US" dirty="0" err="1"/>
              <a:t>vrednost</a:t>
            </a:r>
            <a:r>
              <a:rPr lang="en-US" dirty="0"/>
              <a:t> mora </a:t>
            </a:r>
            <a:r>
              <a:rPr lang="en-US" dirty="0" err="1"/>
              <a:t>zadovoljiti</a:t>
            </a:r>
            <a:r>
              <a:rPr lang="en-US" dirty="0"/>
              <a:t> </a:t>
            </a:r>
            <a:r>
              <a:rPr lang="en-US" dirty="0" err="1"/>
              <a:t>eksterni</a:t>
            </a:r>
            <a:r>
              <a:rPr lang="en-US" dirty="0"/>
              <a:t> </a:t>
            </a:r>
            <a:r>
              <a:rPr lang="en-US" dirty="0" err="1"/>
              <a:t>predikat</a:t>
            </a:r>
            <a:r>
              <a:rPr lang="en-US" dirty="0"/>
              <a:t> </a:t>
            </a:r>
            <a:r>
              <a:rPr lang="en-US" i="1" dirty="0"/>
              <a:t>β</a:t>
            </a:r>
            <a:r>
              <a:rPr lang="en-US" dirty="0"/>
              <a:t> (mora </a:t>
            </a:r>
            <a:r>
              <a:rPr lang="en-US" dirty="0" err="1"/>
              <a:t>biti</a:t>
            </a:r>
            <a:r>
              <a:rPr lang="en-US" dirty="0"/>
              <a:t> </a:t>
            </a:r>
            <a:r>
              <a:rPr lang="en-US" dirty="0" err="1"/>
              <a:t>ispravna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pravilima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sr-Latn-RS" dirty="0" smtClean="0"/>
          </a:p>
          <a:p>
            <a:r>
              <a:rPr lang="en-US" b="1" dirty="0" smtClean="0"/>
              <a:t>Termination</a:t>
            </a:r>
            <a:r>
              <a:rPr lang="en-US" dirty="0"/>
              <a:t> (</a:t>
            </a:r>
            <a:r>
              <a:rPr lang="en-US" dirty="0" err="1"/>
              <a:t>Terminacija</a:t>
            </a:r>
            <a:r>
              <a:rPr lang="en-US" dirty="0" smtClean="0"/>
              <a:t>)</a:t>
            </a:r>
            <a:r>
              <a:rPr lang="sr-Latn-RS" dirty="0" smtClean="0"/>
              <a:t> -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ispravan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kraju</a:t>
            </a:r>
            <a:r>
              <a:rPr lang="en-US" dirty="0"/>
              <a:t> mora </a:t>
            </a:r>
            <a:r>
              <a:rPr lang="en-US" dirty="0" err="1"/>
              <a:t>doneti</a:t>
            </a:r>
            <a:r>
              <a:rPr lang="en-US" dirty="0"/>
              <a:t> </a:t>
            </a:r>
            <a:r>
              <a:rPr lang="en-US" dirty="0" err="1" smtClean="0"/>
              <a:t>odluku</a:t>
            </a:r>
            <a:r>
              <a:rPr lang="en-US" dirty="0" smtClean="0"/>
              <a:t> (</a:t>
            </a:r>
            <a:r>
              <a:rPr lang="en-US" dirty="0" err="1" smtClean="0"/>
              <a:t>tajmeri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procesa</a:t>
            </a:r>
            <a:r>
              <a:rPr lang="en-US" dirty="0" smtClean="0"/>
              <a:t> </a:t>
            </a:r>
            <a:r>
              <a:rPr lang="en-US" dirty="0" err="1" smtClean="0"/>
              <a:t>promene</a:t>
            </a:r>
            <a:r>
              <a:rPr lang="en-US" dirty="0" smtClean="0"/>
              <a:t> </a:t>
            </a:r>
            <a:r>
              <a:rPr lang="en-US" dirty="0" err="1" smtClean="0"/>
              <a:t>runde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29394" y="3823063"/>
            <a:ext cx="92910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Parametar</a:t>
            </a:r>
            <a:r>
              <a:rPr lang="en-US" sz="2000" dirty="0"/>
              <a:t> </a:t>
            </a:r>
            <a:r>
              <a:rPr lang="en-US" sz="2000" i="1" dirty="0"/>
              <a:t>β</a:t>
            </a:r>
            <a:r>
              <a:rPr lang="en-US" sz="2000" dirty="0"/>
              <a:t> </a:t>
            </a:r>
            <a:r>
              <a:rPr lang="en-US" sz="2000" dirty="0" err="1"/>
              <a:t>predstavlja</a:t>
            </a:r>
            <a:r>
              <a:rPr lang="en-US" sz="2000" dirty="0"/>
              <a:t> </a:t>
            </a:r>
            <a:r>
              <a:rPr lang="en-US" sz="2000" b="1" dirty="0" err="1"/>
              <a:t>skup</a:t>
            </a:r>
            <a:r>
              <a:rPr lang="en-US" sz="2000" b="1" dirty="0"/>
              <a:t> </a:t>
            </a:r>
            <a:r>
              <a:rPr lang="en-US" sz="2000" b="1" dirty="0" err="1"/>
              <a:t>pravila</a:t>
            </a:r>
            <a:r>
              <a:rPr lang="en-US" sz="2000" b="1" dirty="0"/>
              <a:t> </a:t>
            </a:r>
            <a:r>
              <a:rPr lang="en-US" sz="2000" b="1" dirty="0" err="1"/>
              <a:t>aplikacije</a:t>
            </a:r>
            <a:r>
              <a:rPr lang="en-US" sz="2000" dirty="0"/>
              <a:t> </a:t>
            </a:r>
            <a:r>
              <a:rPr lang="en-US" sz="2000" dirty="0" err="1"/>
              <a:t>koja</a:t>
            </a:r>
            <a:r>
              <a:rPr lang="en-US" sz="2000" dirty="0"/>
              <a:t>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nezavisna</a:t>
            </a:r>
            <a:r>
              <a:rPr lang="en-US" sz="2000" dirty="0"/>
              <a:t> od </a:t>
            </a:r>
            <a:r>
              <a:rPr lang="en-US" sz="2000" dirty="0" err="1"/>
              <a:t>samog</a:t>
            </a:r>
            <a:r>
              <a:rPr lang="en-US" sz="2000" dirty="0"/>
              <a:t> </a:t>
            </a:r>
            <a:r>
              <a:rPr lang="en-US" sz="2000" dirty="0" err="1"/>
              <a:t>procesa</a:t>
            </a:r>
            <a:r>
              <a:rPr lang="en-US" sz="2000" dirty="0"/>
              <a:t> </a:t>
            </a:r>
            <a:r>
              <a:rPr lang="en-US" sz="2000" dirty="0" err="1"/>
              <a:t>glasanja</a:t>
            </a:r>
            <a:r>
              <a:rPr lang="en-US" sz="2000" dirty="0"/>
              <a:t>. On </a:t>
            </a:r>
            <a:r>
              <a:rPr lang="en-US" sz="2000" dirty="0" err="1"/>
              <a:t>služi</a:t>
            </a:r>
            <a:r>
              <a:rPr lang="en-US" sz="2000" dirty="0"/>
              <a:t> </a:t>
            </a:r>
            <a:r>
              <a:rPr lang="en-US" sz="2000" dirty="0" err="1"/>
              <a:t>kao</a:t>
            </a:r>
            <a:r>
              <a:rPr lang="en-US" sz="2000" dirty="0"/>
              <a:t> '</a:t>
            </a:r>
            <a:r>
              <a:rPr lang="en-US" sz="2000" dirty="0" err="1"/>
              <a:t>sudija</a:t>
            </a:r>
            <a:r>
              <a:rPr lang="en-US" sz="2000" dirty="0"/>
              <a:t>' </a:t>
            </a:r>
            <a:r>
              <a:rPr lang="en-US" sz="2000" dirty="0" err="1"/>
              <a:t>koji</a:t>
            </a:r>
            <a:r>
              <a:rPr lang="en-US" sz="2000" dirty="0"/>
              <a:t> </a:t>
            </a:r>
            <a:r>
              <a:rPr lang="en-US" sz="2000" dirty="0" err="1"/>
              <a:t>svakom</a:t>
            </a:r>
            <a:r>
              <a:rPr lang="en-US" sz="2000" dirty="0"/>
              <a:t> </a:t>
            </a:r>
            <a:r>
              <a:rPr lang="en-US" sz="2000" dirty="0" err="1"/>
              <a:t>validatoru</a:t>
            </a:r>
            <a:r>
              <a:rPr lang="en-US" sz="2000" dirty="0"/>
              <a:t> </a:t>
            </a:r>
            <a:r>
              <a:rPr lang="en-US" sz="2000" dirty="0" err="1"/>
              <a:t>omogućava</a:t>
            </a:r>
            <a:r>
              <a:rPr lang="en-US" sz="2000" dirty="0"/>
              <a:t> da </a:t>
            </a:r>
            <a:r>
              <a:rPr lang="en-US" sz="2000" dirty="0" err="1"/>
              <a:t>proveri</a:t>
            </a:r>
            <a:r>
              <a:rPr lang="en-US" sz="2000" dirty="0"/>
              <a:t> </a:t>
            </a:r>
            <a:r>
              <a:rPr lang="en-US" sz="2000" dirty="0" err="1"/>
              <a:t>sadržaj</a:t>
            </a:r>
            <a:r>
              <a:rPr lang="en-US" sz="2000" dirty="0"/>
              <a:t> </a:t>
            </a:r>
            <a:r>
              <a:rPr lang="en-US" sz="2000" dirty="0" err="1"/>
              <a:t>bloka</a:t>
            </a:r>
            <a:r>
              <a:rPr lang="en-US" sz="2000" dirty="0"/>
              <a:t> pre </a:t>
            </a:r>
            <a:r>
              <a:rPr lang="en-US" sz="2000" dirty="0" err="1"/>
              <a:t>nego</a:t>
            </a:r>
            <a:r>
              <a:rPr lang="en-US" sz="2000" dirty="0"/>
              <a:t> </a:t>
            </a:r>
            <a:r>
              <a:rPr lang="en-US" sz="2000" dirty="0" err="1"/>
              <a:t>što</a:t>
            </a:r>
            <a:r>
              <a:rPr lang="en-US" sz="2000" dirty="0"/>
              <a:t>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njega</a:t>
            </a:r>
            <a:r>
              <a:rPr lang="en-US" sz="2000" dirty="0"/>
              <a:t> da </a:t>
            </a:r>
            <a:r>
              <a:rPr lang="en-US" sz="2000" dirty="0" err="1"/>
              <a:t>svoj</a:t>
            </a:r>
            <a:r>
              <a:rPr lang="en-US" sz="2000" dirty="0"/>
              <a:t> </a:t>
            </a:r>
            <a:r>
              <a:rPr lang="en-US" sz="2000" dirty="0" err="1"/>
              <a:t>glas</a:t>
            </a:r>
            <a:r>
              <a:rPr lang="en-US" sz="2000" dirty="0"/>
              <a:t>. </a:t>
            </a:r>
            <a:r>
              <a:rPr lang="en-US" sz="2000" dirty="0" err="1"/>
              <a:t>Ako</a:t>
            </a:r>
            <a:r>
              <a:rPr lang="en-US" sz="2000" dirty="0"/>
              <a:t> </a:t>
            </a:r>
            <a:r>
              <a:rPr lang="en-US" sz="2000" dirty="0" err="1"/>
              <a:t>sadržaj</a:t>
            </a:r>
            <a:r>
              <a:rPr lang="en-US" sz="2000" dirty="0"/>
              <a:t> </a:t>
            </a:r>
            <a:r>
              <a:rPr lang="en-US" sz="2000" dirty="0" err="1"/>
              <a:t>bloka</a:t>
            </a:r>
            <a:r>
              <a:rPr lang="en-US" sz="2000" dirty="0"/>
              <a:t> </a:t>
            </a:r>
            <a:r>
              <a:rPr lang="en-US" sz="2000" dirty="0" err="1"/>
              <a:t>krši</a:t>
            </a:r>
            <a:r>
              <a:rPr lang="en-US" sz="2000" dirty="0"/>
              <a:t> </a:t>
            </a:r>
            <a:r>
              <a:rPr lang="en-US" sz="2000" dirty="0" err="1"/>
              <a:t>bilo</a:t>
            </a:r>
            <a:r>
              <a:rPr lang="en-US" sz="2000" dirty="0"/>
              <a:t> </a:t>
            </a:r>
            <a:r>
              <a:rPr lang="en-US" sz="2000" dirty="0" err="1"/>
              <a:t>koje</a:t>
            </a:r>
            <a:r>
              <a:rPr lang="en-US" sz="2000" dirty="0"/>
              <a:t> </a:t>
            </a:r>
            <a:r>
              <a:rPr lang="en-US" sz="2000" dirty="0" err="1"/>
              <a:t>pravilo</a:t>
            </a:r>
            <a:r>
              <a:rPr lang="en-US" sz="2000" dirty="0"/>
              <a:t> </a:t>
            </a:r>
            <a:r>
              <a:rPr lang="en-US" sz="2000" dirty="0" err="1"/>
              <a:t>blockchaina</a:t>
            </a:r>
            <a:r>
              <a:rPr lang="en-US" sz="2000" dirty="0"/>
              <a:t> (</a:t>
            </a:r>
            <a:r>
              <a:rPr lang="en-US" sz="2000" dirty="0" err="1"/>
              <a:t>npr</a:t>
            </a:r>
            <a:r>
              <a:rPr lang="en-US" sz="2000" dirty="0"/>
              <a:t>. </a:t>
            </a:r>
            <a:r>
              <a:rPr lang="en-US" sz="2000" dirty="0" err="1"/>
              <a:t>nevalidna</a:t>
            </a:r>
            <a:r>
              <a:rPr lang="en-US" sz="2000" dirty="0"/>
              <a:t> </a:t>
            </a:r>
            <a:r>
              <a:rPr lang="en-US" sz="2000" dirty="0" err="1"/>
              <a:t>transakcija</a:t>
            </a:r>
            <a:r>
              <a:rPr lang="en-US" sz="2000" dirty="0"/>
              <a:t>), </a:t>
            </a:r>
            <a:r>
              <a:rPr lang="en-US" sz="2000" dirty="0" err="1"/>
              <a:t>funkcija</a:t>
            </a:r>
            <a:r>
              <a:rPr lang="en-US" sz="2000" dirty="0"/>
              <a:t> </a:t>
            </a:r>
            <a:r>
              <a:rPr lang="en-US" sz="2000" i="1" dirty="0"/>
              <a:t>β</a:t>
            </a:r>
            <a:r>
              <a:rPr lang="en-US" sz="2000" dirty="0"/>
              <a:t> </a:t>
            </a:r>
            <a:r>
              <a:rPr lang="en-US" sz="2000" dirty="0" err="1"/>
              <a:t>vraća</a:t>
            </a:r>
            <a:r>
              <a:rPr lang="en-US" sz="2000" dirty="0"/>
              <a:t> </a:t>
            </a:r>
            <a:r>
              <a:rPr lang="en-US" sz="2000" dirty="0" err="1"/>
              <a:t>negativan</a:t>
            </a:r>
            <a:r>
              <a:rPr lang="en-US" sz="2000" dirty="0"/>
              <a:t> </a:t>
            </a:r>
            <a:r>
              <a:rPr lang="en-US" sz="2000" dirty="0" err="1"/>
              <a:t>rezultat</a:t>
            </a:r>
            <a:r>
              <a:rPr lang="en-US" sz="2000" dirty="0"/>
              <a:t>, a </a:t>
            </a:r>
            <a:r>
              <a:rPr lang="en-US" sz="2000" dirty="0" err="1"/>
              <a:t>pošteni</a:t>
            </a:r>
            <a:r>
              <a:rPr lang="en-US" sz="2000" dirty="0"/>
              <a:t> </a:t>
            </a:r>
            <a:r>
              <a:rPr lang="en-US" sz="2000" dirty="0" err="1"/>
              <a:t>validatori</a:t>
            </a:r>
            <a:r>
              <a:rPr lang="en-US" sz="2000" dirty="0"/>
              <a:t> </a:t>
            </a:r>
            <a:r>
              <a:rPr lang="en-US" sz="2000" dirty="0" err="1"/>
              <a:t>automatski</a:t>
            </a:r>
            <a:r>
              <a:rPr lang="en-US" sz="2000" dirty="0"/>
              <a:t> </a:t>
            </a:r>
            <a:r>
              <a:rPr lang="en-US" sz="2000" dirty="0" err="1"/>
              <a:t>odbacuju</a:t>
            </a:r>
            <a:r>
              <a:rPr lang="en-US" sz="2000" dirty="0"/>
              <a:t> </a:t>
            </a:r>
            <a:r>
              <a:rPr lang="en-US" sz="2000" dirty="0" err="1"/>
              <a:t>predlog</a:t>
            </a:r>
            <a:r>
              <a:rPr lang="en-US" sz="2000" dirty="0"/>
              <a:t>, </a:t>
            </a:r>
            <a:r>
              <a:rPr lang="en-US" sz="2000" dirty="0" err="1"/>
              <a:t>čime</a:t>
            </a:r>
            <a:r>
              <a:rPr lang="en-US" sz="2000" dirty="0"/>
              <a:t> se </a:t>
            </a:r>
            <a:r>
              <a:rPr lang="en-US" sz="2000" dirty="0" err="1"/>
              <a:t>osigurava</a:t>
            </a:r>
            <a:r>
              <a:rPr lang="en-US" sz="2000" dirty="0"/>
              <a:t> da </a:t>
            </a:r>
            <a:r>
              <a:rPr lang="en-US" sz="2000" dirty="0" err="1"/>
              <a:t>mreža</a:t>
            </a:r>
            <a:r>
              <a:rPr lang="en-US" sz="2000" dirty="0"/>
              <a:t> </a:t>
            </a:r>
            <a:r>
              <a:rPr lang="en-US" sz="2000" dirty="0" err="1"/>
              <a:t>postiže</a:t>
            </a:r>
            <a:r>
              <a:rPr lang="en-US" sz="2000" dirty="0"/>
              <a:t> </a:t>
            </a:r>
            <a:r>
              <a:rPr lang="en-US" sz="2000" dirty="0" err="1"/>
              <a:t>dogovor</a:t>
            </a:r>
            <a:r>
              <a:rPr lang="en-US" sz="2000" dirty="0"/>
              <a:t> </a:t>
            </a:r>
            <a:r>
              <a:rPr lang="en-US" sz="2000" dirty="0" err="1"/>
              <a:t>samo</a:t>
            </a:r>
            <a:r>
              <a:rPr lang="en-US" sz="2000" dirty="0"/>
              <a:t> o </a:t>
            </a:r>
            <a:r>
              <a:rPr lang="en-US" sz="2000" dirty="0" err="1"/>
              <a:t>ispravnim</a:t>
            </a:r>
            <a:r>
              <a:rPr lang="en-US" sz="2000" dirty="0"/>
              <a:t> </a:t>
            </a:r>
            <a:r>
              <a:rPr lang="en-US" sz="2000" dirty="0" err="1"/>
              <a:t>podacima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813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0789" y="171994"/>
            <a:ext cx="10018713" cy="1029789"/>
          </a:xfrm>
        </p:spPr>
        <p:txBody>
          <a:bodyPr>
            <a:normAutofit/>
          </a:bodyPr>
          <a:lstStyle/>
          <a:p>
            <a:r>
              <a:rPr lang="sr-Latn-RS" sz="3600" dirty="0" smtClean="0"/>
              <a:t>Poređenje performansi i zaključak</a:t>
            </a:r>
            <a:endParaRPr lang="en-US" sz="36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10789" y="4313426"/>
            <a:ext cx="10675709" cy="224896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sr-Latn-RS" dirty="0"/>
          </a:p>
          <a:p>
            <a:r>
              <a:rPr lang="en-US" dirty="0"/>
              <a:t>Ove </a:t>
            </a:r>
            <a:r>
              <a:rPr lang="en-US" dirty="0" err="1"/>
              <a:t>karakteristike</a:t>
            </a:r>
            <a:r>
              <a:rPr lang="en-US" dirty="0"/>
              <a:t> </a:t>
            </a:r>
            <a:r>
              <a:rPr lang="en-US" dirty="0" err="1"/>
              <a:t>čine</a:t>
            </a:r>
            <a:r>
              <a:rPr lang="en-US" dirty="0"/>
              <a:t> IBFT </a:t>
            </a:r>
            <a:r>
              <a:rPr lang="en-US" dirty="0" err="1"/>
              <a:t>idealnim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b="1" dirty="0" err="1"/>
              <a:t>mreže</a:t>
            </a:r>
            <a:r>
              <a:rPr lang="en-US" b="1" dirty="0"/>
              <a:t> </a:t>
            </a:r>
            <a:r>
              <a:rPr lang="en-US" b="1" dirty="0" err="1"/>
              <a:t>srednje</a:t>
            </a:r>
            <a:r>
              <a:rPr lang="en-US" b="1" dirty="0"/>
              <a:t> </a:t>
            </a:r>
            <a:r>
              <a:rPr lang="en-US" b="1" dirty="0" err="1"/>
              <a:t>veličine</a:t>
            </a:r>
            <a:r>
              <a:rPr lang="en-US" b="1" dirty="0"/>
              <a:t> </a:t>
            </a:r>
            <a:r>
              <a:rPr lang="en-US" dirty="0"/>
              <a:t>(do par </a:t>
            </a:r>
            <a:r>
              <a:rPr lang="en-US" dirty="0" err="1"/>
              <a:t>stotina</a:t>
            </a:r>
            <a:r>
              <a:rPr lang="en-US" dirty="0"/>
              <a:t> </a:t>
            </a:r>
            <a:r>
              <a:rPr lang="en-US" dirty="0" err="1"/>
              <a:t>validatora</a:t>
            </a:r>
            <a:r>
              <a:rPr lang="en-US" dirty="0"/>
              <a:t>), </a:t>
            </a:r>
            <a:r>
              <a:rPr lang="en-US" dirty="0" err="1"/>
              <a:t>što</a:t>
            </a:r>
            <a:r>
              <a:rPr lang="en-US" dirty="0"/>
              <a:t> je standard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većinu</a:t>
            </a:r>
            <a:r>
              <a:rPr lang="en-US" dirty="0"/>
              <a:t> </a:t>
            </a:r>
            <a:r>
              <a:rPr lang="en-US" dirty="0" err="1"/>
              <a:t>konzorcijumskih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poslovnih</a:t>
            </a:r>
            <a:r>
              <a:rPr lang="en-US" dirty="0"/>
              <a:t> </a:t>
            </a:r>
            <a:r>
              <a:rPr lang="en-US" dirty="0" err="1"/>
              <a:t>blockchain</a:t>
            </a:r>
            <a:r>
              <a:rPr lang="en-US" dirty="0"/>
              <a:t> </a:t>
            </a:r>
            <a:r>
              <a:rPr lang="en-US" dirty="0" err="1"/>
              <a:t>rešenja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en-US" dirty="0" err="1"/>
              <a:t>Zahvaljujući</a:t>
            </a:r>
            <a:r>
              <a:rPr lang="en-US" dirty="0"/>
              <a:t> </a:t>
            </a:r>
            <a:r>
              <a:rPr lang="en-US" dirty="0" err="1"/>
              <a:t>radu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2020, IBFT je </a:t>
            </a:r>
            <a:r>
              <a:rPr lang="en-US" dirty="0" err="1"/>
              <a:t>postao</a:t>
            </a:r>
            <a:r>
              <a:rPr lang="en-US" dirty="0"/>
              <a:t> </a:t>
            </a:r>
            <a:r>
              <a:rPr lang="en-US" dirty="0" err="1"/>
              <a:t>robustan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dokazano</a:t>
            </a:r>
            <a:r>
              <a:rPr lang="en-US" dirty="0"/>
              <a:t> </a:t>
            </a:r>
            <a:r>
              <a:rPr lang="en-US" dirty="0" err="1"/>
              <a:t>siguran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nudi</a:t>
            </a:r>
            <a:r>
              <a:rPr lang="en-US" dirty="0"/>
              <a:t> </a:t>
            </a:r>
            <a:r>
              <a:rPr lang="en-US" b="1" dirty="0" err="1"/>
              <a:t>savršen</a:t>
            </a:r>
            <a:r>
              <a:rPr lang="en-US" b="1" dirty="0"/>
              <a:t> </a:t>
            </a:r>
            <a:r>
              <a:rPr lang="en-US" b="1" dirty="0" err="1"/>
              <a:t>balans</a:t>
            </a:r>
            <a:r>
              <a:rPr lang="en-US" b="1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brzine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otpornosti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greške</a:t>
            </a:r>
            <a:r>
              <a:rPr lang="en-US" dirty="0"/>
              <a:t> u </a:t>
            </a:r>
            <a:r>
              <a:rPr lang="en-US" dirty="0" err="1"/>
              <a:t>poslovnim</a:t>
            </a:r>
            <a:r>
              <a:rPr lang="en-US" dirty="0"/>
              <a:t> </a:t>
            </a:r>
            <a:r>
              <a:rPr lang="en-US" dirty="0" err="1"/>
              <a:t>okruženjima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Picture 5" descr="C:\Users\Aleksandra\Desktop\capko\6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14" y="1408226"/>
            <a:ext cx="5642972" cy="296132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095999" y="1512659"/>
            <a:ext cx="563344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 smtClean="0"/>
              <a:t>Latencija</a:t>
            </a:r>
            <a:r>
              <a:rPr lang="en-US" sz="2200" b="1" dirty="0" smtClean="0"/>
              <a:t> (Message Delays):</a:t>
            </a:r>
            <a:r>
              <a:rPr lang="en-US" sz="2200" dirty="0" smtClean="0"/>
              <a:t> IBFT je </a:t>
            </a:r>
            <a:r>
              <a:rPr lang="en-US" sz="2200" dirty="0" err="1" smtClean="0"/>
              <a:t>izuzetno</a:t>
            </a:r>
            <a:r>
              <a:rPr lang="en-US" sz="2200" dirty="0" smtClean="0"/>
              <a:t> </a:t>
            </a:r>
            <a:r>
              <a:rPr lang="en-US" sz="2200" dirty="0" err="1" smtClean="0"/>
              <a:t>brz</a:t>
            </a:r>
            <a:r>
              <a:rPr lang="en-US" sz="2200" dirty="0" smtClean="0"/>
              <a:t> (</a:t>
            </a:r>
            <a:r>
              <a:rPr lang="en-US" sz="2200" dirty="0" err="1" smtClean="0"/>
              <a:t>samo</a:t>
            </a:r>
            <a:r>
              <a:rPr lang="en-US" sz="2200" dirty="0" smtClean="0"/>
              <a:t> 3 </a:t>
            </a:r>
            <a:r>
              <a:rPr lang="en-US" sz="2200" dirty="0" err="1" smtClean="0"/>
              <a:t>kašnjenja</a:t>
            </a:r>
            <a:r>
              <a:rPr lang="en-US" sz="2200" dirty="0" smtClean="0"/>
              <a:t> </a:t>
            </a:r>
            <a:r>
              <a:rPr lang="en-US" sz="2200" dirty="0" err="1" smtClean="0"/>
              <a:t>poruke</a:t>
            </a:r>
            <a:r>
              <a:rPr lang="en-US" sz="2200" dirty="0" smtClean="0"/>
              <a:t> do </a:t>
            </a:r>
            <a:r>
              <a:rPr lang="en-US" sz="2200" dirty="0" err="1" smtClean="0"/>
              <a:t>finalnosti</a:t>
            </a:r>
            <a:r>
              <a:rPr lang="en-US" sz="2200" dirty="0" smtClean="0"/>
              <a:t>), </a:t>
            </a:r>
            <a:r>
              <a:rPr lang="en-US" sz="2200" dirty="0" err="1" smtClean="0"/>
              <a:t>što</a:t>
            </a:r>
            <a:r>
              <a:rPr lang="en-US" sz="2200" dirty="0" smtClean="0"/>
              <a:t> </a:t>
            </a:r>
            <a:r>
              <a:rPr lang="en-US" sz="2200" dirty="0" err="1" smtClean="0"/>
              <a:t>ga</a:t>
            </a:r>
            <a:r>
              <a:rPr lang="en-US" sz="2200" dirty="0" smtClean="0"/>
              <a:t> </a:t>
            </a:r>
            <a:r>
              <a:rPr lang="en-US" sz="2200" dirty="0" err="1" smtClean="0"/>
              <a:t>čini</a:t>
            </a:r>
            <a:r>
              <a:rPr lang="en-US" sz="2200" dirty="0" smtClean="0"/>
              <a:t> </a:t>
            </a:r>
            <a:r>
              <a:rPr lang="en-US" sz="2200" dirty="0" err="1" smtClean="0"/>
              <a:t>boljim</a:t>
            </a:r>
            <a:r>
              <a:rPr lang="en-US" sz="2200" dirty="0" smtClean="0"/>
              <a:t> od </a:t>
            </a:r>
            <a:r>
              <a:rPr lang="en-US" sz="2200" dirty="0" err="1" smtClean="0"/>
              <a:t>modernijih</a:t>
            </a:r>
            <a:r>
              <a:rPr lang="en-US" sz="2200" dirty="0" smtClean="0"/>
              <a:t> </a:t>
            </a:r>
            <a:r>
              <a:rPr lang="en-US" sz="2200" dirty="0" err="1" smtClean="0"/>
              <a:t>rešenja</a:t>
            </a:r>
            <a:r>
              <a:rPr lang="en-US" sz="2200" dirty="0" smtClean="0"/>
              <a:t> </a:t>
            </a:r>
            <a:r>
              <a:rPr lang="en-US" sz="2200" dirty="0" err="1" smtClean="0"/>
              <a:t>poput</a:t>
            </a:r>
            <a:r>
              <a:rPr lang="en-US" sz="2200" dirty="0" smtClean="0"/>
              <a:t> </a:t>
            </a:r>
            <a:r>
              <a:rPr lang="en-US" sz="2200" dirty="0" err="1" smtClean="0"/>
              <a:t>HotStuff</a:t>
            </a:r>
            <a:r>
              <a:rPr lang="en-US" sz="2200" dirty="0" smtClean="0"/>
              <a:t>-a.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err="1" smtClean="0"/>
              <a:t>Skalabilnost</a:t>
            </a:r>
            <a:r>
              <a:rPr lang="en-US" sz="2200" b="1" dirty="0" smtClean="0"/>
              <a:t>:</a:t>
            </a:r>
            <a:r>
              <a:rPr lang="en-US" sz="2200" dirty="0" smtClean="0"/>
              <a:t> </a:t>
            </a:r>
            <a:r>
              <a:rPr lang="en-US" sz="2200" dirty="0" err="1" smtClean="0"/>
              <a:t>Ima</a:t>
            </a:r>
            <a:r>
              <a:rPr lang="en-US" sz="2200" dirty="0" smtClean="0"/>
              <a:t> </a:t>
            </a:r>
            <a:r>
              <a:rPr lang="en-US" sz="2200" dirty="0" err="1" smtClean="0"/>
              <a:t>kvadratnu</a:t>
            </a:r>
            <a:r>
              <a:rPr lang="en-US" sz="2200" dirty="0" smtClean="0"/>
              <a:t> </a:t>
            </a:r>
            <a:r>
              <a:rPr lang="en-US" sz="2200" dirty="0" err="1" smtClean="0"/>
              <a:t>komunikacionu</a:t>
            </a:r>
            <a:r>
              <a:rPr lang="en-US" sz="2200" dirty="0" smtClean="0"/>
              <a:t> </a:t>
            </a:r>
            <a:r>
              <a:rPr lang="en-US" sz="2200" dirty="0" err="1" smtClean="0"/>
              <a:t>složenost</a:t>
            </a:r>
            <a:r>
              <a:rPr lang="sr-Latn-RS" sz="2200" dirty="0" smtClean="0"/>
              <a:t> </a:t>
            </a:r>
            <a:r>
              <a:rPr lang="en-US" sz="2200" dirty="0" smtClean="0"/>
              <a:t>u </a:t>
            </a:r>
            <a:r>
              <a:rPr lang="en-US" sz="2200" dirty="0" err="1" smtClean="0"/>
              <a:t>oba</a:t>
            </a:r>
            <a:r>
              <a:rPr lang="en-US" sz="2200" dirty="0" smtClean="0"/>
              <a:t> </a:t>
            </a:r>
            <a:r>
              <a:rPr lang="en-US" sz="2200" dirty="0" err="1" smtClean="0"/>
              <a:t>slučaja</a:t>
            </a:r>
            <a:r>
              <a:rPr lang="en-US" sz="2200" dirty="0" smtClean="0"/>
              <a:t> – </a:t>
            </a:r>
            <a:r>
              <a:rPr lang="en-US" sz="2200" dirty="0" err="1" smtClean="0"/>
              <a:t>i</a:t>
            </a:r>
            <a:r>
              <a:rPr lang="en-US" sz="2200" dirty="0" smtClean="0"/>
              <a:t> </a:t>
            </a:r>
            <a:r>
              <a:rPr lang="en-US" sz="2200" dirty="0" err="1" smtClean="0"/>
              <a:t>tokom</a:t>
            </a:r>
            <a:r>
              <a:rPr lang="en-US" sz="2200" dirty="0" smtClean="0"/>
              <a:t> </a:t>
            </a:r>
            <a:r>
              <a:rPr lang="en-US" sz="2200" dirty="0" err="1" smtClean="0"/>
              <a:t>normalnog</a:t>
            </a:r>
            <a:r>
              <a:rPr lang="en-US" sz="2200" dirty="0" smtClean="0"/>
              <a:t> </a:t>
            </a:r>
            <a:r>
              <a:rPr lang="en-US" sz="2200" dirty="0" err="1" smtClean="0"/>
              <a:t>rada</a:t>
            </a:r>
            <a:r>
              <a:rPr lang="en-US" sz="2200" dirty="0" smtClean="0"/>
              <a:t> </a:t>
            </a:r>
            <a:r>
              <a:rPr lang="en-US" sz="2200" dirty="0" err="1" smtClean="0"/>
              <a:t>i</a:t>
            </a:r>
            <a:r>
              <a:rPr lang="en-US" sz="2200" dirty="0" smtClean="0"/>
              <a:t> </a:t>
            </a:r>
            <a:r>
              <a:rPr lang="en-US" sz="2200" dirty="0" err="1" smtClean="0"/>
              <a:t>tokom</a:t>
            </a:r>
            <a:r>
              <a:rPr lang="en-US" sz="2200" dirty="0" smtClean="0"/>
              <a:t> </a:t>
            </a:r>
            <a:r>
              <a:rPr lang="en-US" sz="2200" dirty="0" err="1" smtClean="0"/>
              <a:t>promene</a:t>
            </a:r>
            <a:r>
              <a:rPr lang="en-US" sz="2200" dirty="0" smtClean="0"/>
              <a:t> </a:t>
            </a:r>
            <a:r>
              <a:rPr lang="en-US" sz="2200" dirty="0" err="1" smtClean="0"/>
              <a:t>runde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5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2304</TotalTime>
  <Words>571</Words>
  <Application>Microsoft Office PowerPoint</Application>
  <PresentationFormat>Widescreen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Unicode MS</vt:lpstr>
      <vt:lpstr>Calibri</vt:lpstr>
      <vt:lpstr>Corbel</vt:lpstr>
      <vt:lpstr>Courier New</vt:lpstr>
      <vt:lpstr>KaTeX_Math</vt:lpstr>
      <vt:lpstr>Times New Roman</vt:lpstr>
      <vt:lpstr>Parallax</vt:lpstr>
      <vt:lpstr> Istanbul Byzantine Fault Tolerance (IBFT)</vt:lpstr>
      <vt:lpstr>Šta je IBFT i zašto baš on?</vt:lpstr>
      <vt:lpstr>Ključna terminologija</vt:lpstr>
      <vt:lpstr>PowerPoint Presentation</vt:lpstr>
      <vt:lpstr>Logika kvoruma (Matematika sistema)</vt:lpstr>
      <vt:lpstr>Stanja u kojima se validator nalazi</vt:lpstr>
      <vt:lpstr>PowerPoint Presentation</vt:lpstr>
      <vt:lpstr>Tehnička analiza normalnog rada algoritma</vt:lpstr>
      <vt:lpstr>PowerPoint Presentation</vt:lpstr>
      <vt:lpstr>Šta kada nešto pođe po zlu? (mehanizam promene runde)</vt:lpstr>
      <vt:lpstr>PowerPoint Presentation</vt:lpstr>
      <vt:lpstr>Mehanizam opravdanja (Message Justification) </vt:lpstr>
      <vt:lpstr>Tehničko "pakovanje" bloka</vt:lpstr>
      <vt:lpstr>Adaptacija na Ethereum  (Nove funkcije u starim poljima)</vt:lpstr>
      <vt:lpstr>Dokazi ispravnosti</vt:lpstr>
      <vt:lpstr>Poređenje performansi i 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Istanbul Byzantine Fault Tolerance (IBFT)</dc:title>
  <dc:creator>Aleksandra</dc:creator>
  <cp:lastModifiedBy>Aleksandra</cp:lastModifiedBy>
  <cp:revision>56</cp:revision>
  <dcterms:created xsi:type="dcterms:W3CDTF">2026-06-19T08:34:18Z</dcterms:created>
  <dcterms:modified xsi:type="dcterms:W3CDTF">2026-06-26T11:32:50Z</dcterms:modified>
</cp:coreProperties>
</file>