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81" r:id="rId8"/>
    <p:sldId id="262" r:id="rId9"/>
    <p:sldId id="263" r:id="rId10"/>
    <p:sldId id="264" r:id="rId11"/>
    <p:sldId id="265" r:id="rId12"/>
    <p:sldId id="282"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109" d="100"/>
          <a:sy n="109" d="100"/>
        </p:scale>
        <p:origin x="706" y="8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239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Dobar</a:t>
            </a:r>
            <a:r>
              <a:rPr lang="en-US" dirty="0"/>
              <a:t> dan. Predstavljam algoritam Tendermint. Krenucu od OKRUZENJA u kom zivi - jer bez toga se ne razume zasto je napravljen ovako. Pa cu detaljno proci kroz algoritam, kroz pseudokod, i na kraju kroz njegove </a:t>
            </a:r>
            <a:r>
              <a:rPr lang="en-US" dirty="0" err="1"/>
              <a:t>osobine</a:t>
            </a:r>
            <a:r>
              <a:rPr lang="en-US" dirty="0"/>
              <a:t>."
</a:t>
            </a:r>
            <a:r>
              <a:rPr lang="en-US" dirty="0" err="1"/>
              <a:t>Važno</a:t>
            </a:r>
            <a:r>
              <a:rPr lang="en-US" dirty="0"/>
              <a:t> je </a:t>
            </a:r>
            <a:r>
              <a:rPr lang="en-US" dirty="0" err="1"/>
              <a:t>istaći</a:t>
            </a:r>
            <a:r>
              <a:rPr lang="en-US" dirty="0"/>
              <a:t> da </a:t>
            </a:r>
            <a:r>
              <a:rPr lang="en-US" dirty="0" err="1"/>
              <a:t>Tendermint</a:t>
            </a:r>
            <a:r>
              <a:rPr lang="en-US" dirty="0"/>
              <a:t> </a:t>
            </a:r>
            <a:r>
              <a:rPr lang="en-US" dirty="0" err="1"/>
              <a:t>nije</a:t>
            </a:r>
            <a:r>
              <a:rPr lang="en-US" dirty="0"/>
              <a:t> </a:t>
            </a:r>
            <a:r>
              <a:rPr lang="en-US" dirty="0" err="1"/>
              <a:t>samo</a:t>
            </a:r>
            <a:r>
              <a:rPr lang="en-US" dirty="0"/>
              <a:t> </a:t>
            </a:r>
            <a:r>
              <a:rPr lang="en-US" dirty="0" err="1"/>
              <a:t>akademski</a:t>
            </a:r>
            <a:r>
              <a:rPr lang="en-US" dirty="0"/>
              <a:t> primer </a:t>
            </a:r>
            <a:r>
              <a:rPr lang="en-US" dirty="0" err="1"/>
              <a:t>konsenzusnog</a:t>
            </a:r>
            <a:r>
              <a:rPr lang="en-US" dirty="0"/>
              <a:t> </a:t>
            </a:r>
            <a:r>
              <a:rPr lang="en-US" dirty="0" err="1"/>
              <a:t>algoritma</a:t>
            </a:r>
            <a:r>
              <a:rPr lang="en-US" dirty="0"/>
              <a:t>, </a:t>
            </a:r>
            <a:r>
              <a:rPr lang="en-US" dirty="0" err="1"/>
              <a:t>već</a:t>
            </a:r>
            <a:r>
              <a:rPr lang="en-US" dirty="0"/>
              <a:t> </a:t>
            </a:r>
            <a:r>
              <a:rPr lang="en-US" dirty="0" err="1"/>
              <a:t>tehnologija</a:t>
            </a:r>
            <a:r>
              <a:rPr lang="en-US" dirty="0"/>
              <a:t> </a:t>
            </a:r>
            <a:r>
              <a:rPr lang="en-US" dirty="0" err="1"/>
              <a:t>koja</a:t>
            </a:r>
            <a:r>
              <a:rPr lang="en-US" dirty="0"/>
              <a:t> se </a:t>
            </a:r>
            <a:r>
              <a:rPr lang="en-US" dirty="0" err="1"/>
              <a:t>danas</a:t>
            </a:r>
            <a:r>
              <a:rPr lang="en-US" dirty="0"/>
              <a:t> </a:t>
            </a:r>
            <a:r>
              <a:rPr lang="en-US" dirty="0" err="1"/>
              <a:t>koristi</a:t>
            </a:r>
            <a:r>
              <a:rPr lang="en-US" dirty="0"/>
              <a:t> u </a:t>
            </a:r>
            <a:r>
              <a:rPr lang="en-US" dirty="0" err="1"/>
              <a:t>praks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"Tendermint se koristi u blockchain sistemima, pa hajde prvo da razjasnimo gde tacno zivi.
Blockchain je u sustini replicirani lanac blokova - svaki cvor u mrezi cuva svoju identicnu kopiju celog lanca. Posao naseg algoritma je tacno jedan: da se svi sloze oko toga koji je SLEDECI blok.
Ali za razliku od klasicnih sistema, ovde imamo jako puno cvorova - stotine, hiljade - rasutih po celom internetu. Nije to nekoliko servera u jednoj prostoriji, nego siroka mreza.
I kljucna stvar: te cvorove drze razliciti, nezavisni vlasnici koji se medjusobno NE veruju. Bilo ko moze da se prikljuci.
A posto se ne veruju, moramo pretpostaviti najgore - da deo njih moze biti aktivno zlonameran. To zovemo bizantijsko okruzenje. Algoritam mora da radi ispravno cak i kad se neki cvorovi ponasaju kako god hoce - lazu, salju kontradiktorne poruke, cute."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"Posto smo rekli da ima jako puno cvorova, postavlja se pitanje - kako uopste komuniciraju? Ne moze svako sa svakim, to bi za hiljade cvorova bilo neizvodljivo. Zato svaki cvor zna samo nekoliko komsija, takozvanih peers, i poruke se sire kao glasina, gossipom.
Pogledajte mrezu. Recimo da cvor p1 - taj tamni, izvor - dobije poruku. On je salje samo svojim komsijama p2, p3, p4 - to je prvi skok. Oni je preprosledjuju svojim komsijama p5 i p6 - drugi skok. I tako poruka, skok po skok, stigne do svih."
Sta nam to </a:t>
            </a:r>
            <a:r>
              <a:rPr lang="en-US" dirty="0" err="1"/>
              <a:t>omogucava</a:t>
            </a:r>
            <a:r>
              <a:rPr lang="en-US" dirty="0"/>
              <a:t> </a:t>
            </a:r>
            <a:r>
              <a:rPr lang="sr-Latn-RS" dirty="0"/>
              <a:t>:</a:t>
            </a:r>
            <a:r>
              <a:rPr lang="en-US" dirty="0"/>
              <a:t>"Iz toga dobijamo gossip svojstvo: poruka koju makar jedan posten primi, na kraju stigne do SVIH postenih. Bas to ce omoguciti da Tendermint zavrsava bez ijedne dodatne poruke - sto stari algoritmi nisu mogli."
Sta uzima (cena): "Cena je broj poruka - red n na kvadrat po rundi, jer svako salje svima. To je glavno ogranicenje skalabilnosti. I latencija je veca zbog vise skokova, ali ostaje ogranicena sa delta posle GST."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"Posto smo rekli da cvorove drze razliciti vlasnici, sa razlicitim ulozima, prirodno je da cvorovi NISU jednaki. Svaki ima neku tezinu - zovemo je glasacka moc, srazmernu njegovom ulogu.
Pogledajte levo - cvorovi su nacrtani razlicite velicine bas da se vidi: A ima moc 4, B tri, C dva, D jedan. Ukupna moc je zbir, dakle 10.
I zato - i ovo je vazno za ceo ostatak izlaganja - kroz ceo algoritam pricamo o MOCI, a ne o broju cvorova. Svi pragovi se racunaju od ukupne moci. Kad kazem f, to je granica MOCI zlonamernih. Kad kazem da za odluku treba 2f plus 1 - to je 2f plus 1 od ukupne moci, ne od broja cvorova."
Analogija (desna kartica): "Najlakse preko akcionara. U firmi, ko ima vise akcija, njegov glas vredi vise. Za vaznu odluku treba dve trecine svih GLASOVA, a ne dve trecine prisutnih ljudi. Isto ovde.
f se meri kao udeo uloga, a ne broj cvorova. To je odbrana od Sybil napada - ne mozes da varas tako sto napravis hiljadu laznih cvorova, jer se racuna ULOG, a ne broj naloga."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 jedna stvar o okruzenju - kako se mreza ponasa u vremenu. Nije ni potpuno pouzdana ni potpuno haoticna, nego DELIMICNO sinhrona. Osu delimo na dva dela, granica je trenutak GST.
Levo, pre GST - haos. Poruke kasne nepredvidivo, mogu se i izgubiti. Strelice su duge i nejednake.
Desno, posle GST - mreza se smiri. Sve poruke medju postenima stizu u nekom roku, koji zovemo delta. Strelice su kratke i jednake."
</a:t>
            </a:r>
            <a:endParaRPr lang="sr-Latn-RS" dirty="0"/>
          </a:p>
          <a:p>
            <a:r>
              <a:rPr lang="en-US" dirty="0"/>
              <a:t>"Prvo, delta i GST POSTOJE, ali ih NE znamo unapred - zato tajmauti u algoritmu moraju da rastu. Drugo, bezbednost vazi i levo i desno, dakle uvek; a zivost tek desno, posle GST. Algoritam radije ceka nego sto pravi gresku."
Najavi: bas ova podela omogucava da Tendermint zaobidje FLP teoremu - videcemo u osobinama.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 kad znamo u kakvom svetu zivimo, mozemo da kazemo sta Tendermint tacno resava - a to je problem konsenzusa.
Konsenzus znaci: svi posteni cvorovi treba da se sloze oko jedne jedine vrednosti - kod nas, sledeceg bloka.
Zasto je to bitno? Zbog replikacije masine stanja, SMR. Ako sve replike izvrse iste komande istim redom, ostaju u istom stanju - padne li jedna, ostale nastavljaju.
Posto je okruzenje bizantijsko, treba nam BFT verzija. I tu dolazi kljucni uslov: tolerisemo zlonamerne sve dok je njihova MOC - setite se, pricamo o moci - manja od trecine ukupne. Formalno, uzimamo n jednako tri f plus jedan. Bas zato sto smo malopre uveli glasacku moc, ovo 'n' znaci ukupnu moc, a ne broj cvorova.
I poslednje, posto se cvorovi ne veruju, sve poruke su digitalno potpisane - tako je lazno predstavljanje nemoguce."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Tendermint resava varijantu vizantijskog konsenzusa zasnovanu na predikatu validnosti, i ona se definise kroz tri svojstva. Saglasnost znaci da nikad dva ispravna cvora ne odluce razlicito, to je bezbednost. Terminacija znaci da svaki ispravan cvor na kraju donese odluku, to je zivost. Validnost znaci da odlucena vrednost zadovoljava unapred zadati predikat valid, dakle nije besmislena, na primer za blockchain blok mora da sadrzi ispravan hes prethodnog bloka. Ceo algoritam je projektovan tako da dokazano garantuje sve tri osobine, i to cemo na kraju i pokazati.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 nego sto udjemo u sam algoritam, da razjasnimo kako je organizovan posao. Blockchain je niz blokova, jedan za drugim. Svaki taj blok, svaku poziciju u lancu, zovemo VISINA. I evo kljucne stvari: jedna visina, dakle jedan blok, jeste jedna instanca konsenzusa. Algoritam resava lanac visinu po visinu - kad zakljuci blok na visini h, prelazi na visinu h plus jedan.
A kako se odlucuje jedna visina? Kroz RUNDE. Algoritam unutar iste visine ide runda po runda dok ne donese odluku. Najlepsi slucaj je da se sve zavrsi vec u rundi nula - tada je blok odlucen iz prve. Ali to ne mora da uspe: ako je lider te runde los ili je mreza spora, runda nece doneti odluku, pa krece sledeca runda - i dalje za ISTI blok, samo sa novim liderom. Tako moze biti vise rundi dok jedna ne uspe."
Poenta za zapamtiti: visina je 'koji blok', runda je 'pokusaj da se taj blok odluci'. Vise rundi, jedna visina.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"Videli smo da unutar visine moze biti vise rundi. Sad - ko vodi koju rundu? Svaka runda ima tacno JEDNOG lidera, koga zovemo i predlagac. I on se menja iz runde u rundu, kruzno - kao sto vidite: runda nula vodi A, runda jedan B, runda dva C, pa se onda vraca na A. To je takozvani round-robin.
Ko je lider koje runde nije stvar dogovora - odredjuje ga unapred poznata funkcija, proposer od visine i runde. Svi je znaju, pa svako u svakom trenutku zna ko je trenutni lider, bez ijedne dodatne poruke."
Vezi na glasacku moc (desna kartica): "I rotacija nije ravnomerna - tezinska je, srazmerna glasackoj moci o kojoj smo pricali. Ko ima vise moci, bice lider cesce. To je posteno: vise si ulozio, cesce predlazes."
Zasto je rotacija lidera bitna - najavi: bas zato sto se lider menja, </a:t>
            </a:r>
            <a:r>
              <a:rPr lang="en-US" dirty="0" err="1"/>
              <a:t>ako</a:t>
            </a:r>
            <a:r>
              <a:rPr lang="en-US" dirty="0"/>
              <a:t> </a:t>
            </a:r>
            <a:r>
              <a:rPr lang="en-US" dirty="0" err="1"/>
              <a:t>jedan</a:t>
            </a:r>
            <a:r>
              <a:rPr lang="en-US" dirty="0"/>
              <a:t> </a:t>
            </a:r>
            <a:r>
              <a:rPr lang="en-US" dirty="0" err="1"/>
              <a:t>zakaze</a:t>
            </a:r>
            <a:r>
              <a:rPr lang="en-US" dirty="0"/>
              <a:t>, </a:t>
            </a:r>
            <a:r>
              <a:rPr lang="en-US" dirty="0" err="1"/>
              <a:t>sledeci</a:t>
            </a:r>
            <a:r>
              <a:rPr lang="en-US" dirty="0"/>
              <a:t> </a:t>
            </a:r>
            <a:r>
              <a:rPr lang="en-US" dirty="0" err="1"/>
              <a:t>pokusava</a:t>
            </a:r>
            <a:r>
              <a:rPr lang="en-US" dirty="0"/>
              <a:t>. Tu lezi otpornost - videcemo u primeru i u pseudokodu.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algoritam barata sa samo tri tipa poruke. PROPOSAL salje samo lider - jedina poruka koja nosi celu vrednost, ceo blok. PREVOTE i PRECOMMIT salju svi, i nose samo mali hes vrednosti, id(v) - zbog skalabilnosti, da se veliki blok ne salje u svakom glasu.
Ta tri tipa cine tri koraka jedne runde: propose, pa prevote, pa precommit. To je cela ideja - lider predlozi, pa se glasa u dva kruga, i kad se skupi dovoljno PRECOMMIT-a, odluka je tu. U dobrom slucaju odluka padne za samo ta tri koraka, isto brzo kao PBFT."
Zasto dva kruga (desna kartica): "Mozda se pitate zasto dva glasanja, a ne jedno. Jedan krug nije dovoljan da se kroz promene lidera ocuva saglasnost. PREVOTE prvo utvrdi da je vrednost moguca odluka, a PRECOMMIT je tek obavezujuci glas. Zasto je tacno tako - videcemo kroz pseudokod i osobine."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ovu ideju prizemimo konkretnim primerom. Uzmimo cetiri ucesnika, tolerisemo jednog zlonamernog - dakle f je jedan - pa je prag, dve trecine plus jedan, jednak tri. Zapamtite taj broj tri.
Korak jedan, propose: u rundi nula, posten lider p1 posalje PROPOSAL sa nekom vrednoscu v </a:t>
            </a:r>
            <a:r>
              <a:rPr lang="en-US" dirty="0" err="1"/>
              <a:t>svima</a:t>
            </a:r>
            <a:r>
              <a:rPr lang="en-US" dirty="0"/>
              <a:t>.
Korak dva, prevote: svi - p1, p2, p3, p4 - prihvate i posalju PREVOTE za v. Svako od njih sad vidi tri takva glasa, a tri je tacno prag. Cim ima prag, svako salje PRECOMMIT za v.
Korak tri, precommit: sad svako vidi tri PRECOMMIT-a za istu vrednost v. I to je to - svi odlucuju v. Blok je </a:t>
            </a:r>
            <a:r>
              <a:rPr lang="en-US" dirty="0" err="1"/>
              <a:t>usvojen</a:t>
            </a:r>
            <a:r>
              <a:rPr lang="en-US" dirty="0"/>
              <a:t>."
"Sve se ovde zavrsilo u rundi nula - idealan slucaj. A sta ako lider zakaze, recimo ne posalje predlog? Onda posteni cekaju, istekne im tajmaut, i predju u rundu jedan - gde je novi lider - i tamo se odluka donese. Bas zato sto se lideri rotiraju, jedan pokvaren lider ne moze da zaustavi </a:t>
            </a:r>
            <a:r>
              <a:rPr lang="en-US" dirty="0" err="1"/>
              <a:t>sistem</a:t>
            </a:r>
            <a:r>
              <a:rPr lang="en-US" dirty="0"/>
              <a:t>."
Posle ovog primera, prelazimo na pseudokod - sad cete lakse pratiti, jer vec znate kako izgleda jedna uspesna runda.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Vazan konceptualni slajd - resava cestu zabunu da svi cvorovi rade ukorak. Pokazi levo: svi su na bloku h0, ali u razlicitim rundama i fazama.
"Jedna stvar koju treba dobro razumeti: algoritam se NE izvrsava kao jedna zajednicka, globalna petlja. Svaki cvor vrti svoju, lokalnu masinu stanja. Zato svaki proces cuva SVOJE vrednosti - svoju visinu hp, svoju rundu roundp i svoju fazu stepp.
Pogledajte levo. Sva cetiri cvora su na istom bloku, visini h0 - jer su svi krenuli isti blok. Ali NISU u istoj rundi ni fazi: A i C su vec u rundi 2, dok su B i D jos u rundi 1; i faze su im razlicite. To je potpuno ocekivano - poruke kasne, tajmauti se aktiviraju u razlicito vreme, pa svako napreduje svojim tempom."
Zasto se onda ne raspadnu (desne kartice): "Ako nisu sinhronizovani, kako se ne raspadnu? Tri stvari.
Prvo - svaka poruka nosi kontekst: visinu, rundu, tip, vrednost i posiljaoca. Kad cvor primi poruku, tacno zna za koju visinu i rundu vazi - pa ignorise zastarele poruke iz starih rundi, a broji samo one prave.
Drugo, to je i razlog zasto se broji prema toj rundi - glasovi iz runde 2 se sabiraju zasebno od glasova iz runde 1.
I trece - pravilo f+1 sustize zaostale: ako cvor vidi f+1 poruka iz neke VISE runde nego sto je on, skoci u tu rundu. Posto je zlonamernih najvise f, tih f+1 garantuje da je bar jedan POSTEN vec tamo - znaci stvarno se napredovalo. Za cetiri cvora f+1 je dva: ako cvor u rundi 1 vidi dve poruke iz runde 3, skace u rundu 3. Tako sporiji uhvate korak."
Poenta: 'lokalne masine + poruke obelezene rundom + f+1 za sustizanje = sistem radi iako niko nije sinhronizovan'.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 nego sto procitamo pravila, da vidimo sta proces uopste pamti. Gore je stanje: visina, runda, korak koji moze biti propose, prevote ili precommit, i niz </a:t>
            </a:r>
            <a:r>
              <a:rPr lang="en-US" dirty="0" err="1"/>
              <a:t>odluka</a:t>
            </a:r>
            <a:r>
              <a:rPr lang="en-US" dirty="0"/>
              <a:t>.
Ali dve promenljive zasluzuju posebnu paznju jer nose celu logiku - i cesto se </a:t>
            </a:r>
            <a:r>
              <a:rPr lang="en-US" dirty="0" err="1"/>
              <a:t>brkaju</a:t>
            </a:r>
            <a:r>
              <a:rPr lang="en-US" dirty="0"/>
              <a:t>.</a:t>
            </a:r>
          </a:p>
          <a:p>
            <a:r>
              <a:rPr lang="en-US" dirty="0"/>
              <a:t>
Prva je lockedValue, sa lockedRound. To je 'na sta sam se </a:t>
            </a:r>
            <a:r>
              <a:rPr lang="en-US" dirty="0" err="1"/>
              <a:t>obavezao</a:t>
            </a:r>
            <a:r>
              <a:rPr lang="en-US" dirty="0"/>
              <a:t>'. To je </a:t>
            </a:r>
            <a:r>
              <a:rPr lang="en-US" dirty="0" err="1"/>
              <a:t>vrednost</a:t>
            </a:r>
            <a:r>
              <a:rPr lang="en-US" dirty="0"/>
              <a:t> </a:t>
            </a:r>
            <a:r>
              <a:rPr lang="en-US" dirty="0" err="1"/>
              <a:t>na</a:t>
            </a:r>
            <a:r>
              <a:rPr lang="en-US" dirty="0"/>
              <a:t> </a:t>
            </a:r>
            <a:r>
              <a:rPr lang="en-US" dirty="0" err="1"/>
              <a:t>koju</a:t>
            </a:r>
            <a:r>
              <a:rPr lang="en-US" dirty="0"/>
              <a:t> se </a:t>
            </a:r>
            <a:r>
              <a:rPr lang="en-US" dirty="0" err="1"/>
              <a:t>čvor</a:t>
            </a:r>
            <a:r>
              <a:rPr lang="en-US" dirty="0"/>
              <a:t> </a:t>
            </a:r>
            <a:r>
              <a:rPr lang="en-US" dirty="0" err="1"/>
              <a:t>lično</a:t>
            </a:r>
            <a:r>
              <a:rPr lang="en-US" dirty="0"/>
              <a:t> </a:t>
            </a:r>
            <a:r>
              <a:rPr lang="en-US" dirty="0" err="1"/>
              <a:t>zaključao</a:t>
            </a:r>
            <a:r>
              <a:rPr lang="en-US" dirty="0"/>
              <a:t> </a:t>
            </a:r>
            <a:r>
              <a:rPr lang="en-US" dirty="0" err="1"/>
              <a:t>jer</a:t>
            </a:r>
            <a:r>
              <a:rPr lang="en-US" dirty="0"/>
              <a:t> je </a:t>
            </a:r>
            <a:r>
              <a:rPr lang="en-US" dirty="0" err="1"/>
              <a:t>poslao</a:t>
            </a:r>
            <a:r>
              <a:rPr lang="en-US" dirty="0"/>
              <a:t> PRECOMMIT za </a:t>
            </a:r>
            <a:r>
              <a:rPr lang="en-US" dirty="0" err="1"/>
              <a:t>nju</a:t>
            </a:r>
            <a:r>
              <a:rPr lang="en-US" dirty="0"/>
              <a:t>.“Ja </a:t>
            </a:r>
            <a:r>
              <a:rPr lang="en-US" dirty="0" err="1"/>
              <a:t>sam</a:t>
            </a:r>
            <a:r>
              <a:rPr lang="en-US" dirty="0"/>
              <a:t> se </a:t>
            </a:r>
            <a:r>
              <a:rPr lang="en-US" dirty="0" err="1"/>
              <a:t>obavezao</a:t>
            </a:r>
            <a:r>
              <a:rPr lang="en-US" dirty="0"/>
              <a:t> </a:t>
            </a:r>
            <a:r>
              <a:rPr lang="en-US" dirty="0" err="1"/>
              <a:t>na</a:t>
            </a:r>
            <a:r>
              <a:rPr lang="en-US" dirty="0"/>
              <a:t> </a:t>
            </a:r>
            <a:r>
              <a:rPr lang="en-US" dirty="0" err="1"/>
              <a:t>ovu</a:t>
            </a:r>
            <a:r>
              <a:rPr lang="en-US" dirty="0"/>
              <a:t> </a:t>
            </a:r>
            <a:r>
              <a:rPr lang="en-US" dirty="0" err="1"/>
              <a:t>vrednost</a:t>
            </a:r>
            <a:r>
              <a:rPr lang="en-US" dirty="0"/>
              <a:t> Cim se obavezem na vrednost, ne smem olako da glasam za drugu u buducim rundama - jer je mozda bas ta vec odlucena negde. Dakle lockedValue sluzi BEZBEDNOSTI - sprecava </a:t>
            </a:r>
            <a:r>
              <a:rPr lang="en-US" dirty="0" err="1"/>
              <a:t>forkove</a:t>
            </a:r>
            <a:r>
              <a:rPr lang="en-US" dirty="0"/>
              <a:t>.</a:t>
            </a:r>
            <a:r>
              <a:rPr lang="pl-PL" dirty="0"/>
              <a:t> Neću glasati za drugu vrednost osim ako ne dobijem dokaz da je neka druga vrednost novija i bezbedna.”</a:t>
            </a:r>
            <a:endParaRPr lang="en-US" dirty="0"/>
          </a:p>
          <a:p>
            <a:r>
              <a:rPr lang="en-US" dirty="0"/>
              <a:t>
Druga je validValue, sa validRound. To je 'najskorija moguca odluka koju sam video'. Ova </a:t>
            </a:r>
            <a:r>
              <a:rPr lang="en-US" dirty="0" err="1"/>
              <a:t>vrednost</a:t>
            </a:r>
            <a:r>
              <a:rPr lang="en-US" dirty="0"/>
              <a:t> je </a:t>
            </a:r>
            <a:r>
              <a:rPr lang="en-US" dirty="0" err="1"/>
              <a:t>bezbedan</a:t>
            </a:r>
            <a:r>
              <a:rPr lang="en-US" dirty="0"/>
              <a:t> </a:t>
            </a:r>
            <a:r>
              <a:rPr lang="en-US" dirty="0" err="1"/>
              <a:t>kandidat</a:t>
            </a:r>
            <a:r>
              <a:rPr lang="en-US" dirty="0"/>
              <a:t> za </a:t>
            </a:r>
            <a:r>
              <a:rPr lang="en-US" dirty="0" err="1"/>
              <a:t>predlaganje</a:t>
            </a:r>
            <a:r>
              <a:rPr lang="en-US" dirty="0"/>
              <a:t> u </a:t>
            </a:r>
            <a:r>
              <a:rPr lang="en-US" dirty="0" err="1"/>
              <a:t>budućoj</a:t>
            </a:r>
            <a:r>
              <a:rPr lang="en-US" dirty="0"/>
              <a:t> </a:t>
            </a:r>
            <a:r>
              <a:rPr lang="en-US" dirty="0" err="1"/>
              <a:t>rundi</a:t>
            </a:r>
            <a:r>
              <a:rPr lang="en-US" dirty="0"/>
              <a:t>.” </a:t>
            </a:r>
            <a:r>
              <a:rPr lang="en-US" dirty="0" err="1"/>
              <a:t>validValue</a:t>
            </a:r>
            <a:r>
              <a:rPr lang="en-US" dirty="0"/>
              <a:t> — </a:t>
            </a:r>
            <a:r>
              <a:rPr lang="en-US" dirty="0" err="1"/>
              <a:t>vrednost</a:t>
            </a:r>
            <a:r>
              <a:rPr lang="en-US" dirty="0"/>
              <a:t> </a:t>
            </a:r>
            <a:r>
              <a:rPr lang="en-US" dirty="0" err="1"/>
              <a:t>koja</a:t>
            </a:r>
            <a:r>
              <a:rPr lang="en-US" dirty="0"/>
              <a:t> je </a:t>
            </a:r>
            <a:r>
              <a:rPr lang="en-US" dirty="0" err="1"/>
              <a:t>ranije</a:t>
            </a:r>
            <a:r>
              <a:rPr lang="en-US" dirty="0"/>
              <a:t> </a:t>
            </a:r>
            <a:r>
              <a:rPr lang="en-US" dirty="0" err="1"/>
              <a:t>imala</a:t>
            </a:r>
            <a:r>
              <a:rPr lang="en-US" dirty="0"/>
              <a:t> </a:t>
            </a:r>
            <a:r>
              <a:rPr lang="en-US" dirty="0" err="1"/>
              <a:t>dovoljno</a:t>
            </a:r>
            <a:r>
              <a:rPr lang="en-US" dirty="0"/>
              <a:t> PREVOTE </a:t>
            </a:r>
            <a:r>
              <a:rPr lang="en-US" dirty="0" err="1"/>
              <a:t>podrške,Ovu</a:t>
            </a:r>
            <a:r>
              <a:rPr lang="en-US" dirty="0"/>
              <a:t> vrednost ce predlagac ponovo predloziti u buducim rundama da bi se svi uskladili. validValue sluzi ZIVOSTI - i to je glavna inovacija rada."
Slikovito: 'lockedValue je zavet koga se drzis - koci; validValue je najsvezija vest koju prenosis dalje - gura. Jedna cuva bezbednost, druga napredak.'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Pocinjemo analizu pravila. Idi red po red, prstom po kodu.
"Algoritam krece sa StartRound nula. Funkcija prvo postavi rundu i korak na propose. Pa if: da li sam JA predlagac ove runde? Ako jesam - gledam imam li validValue. Ako imam, MORAM da predlozim bas nju; tek ako nemam, uzimam nov blok preko getValue. Onda emitujem PROPOSAL, i u njega pakujem validRound da drugi znaju iz koje runde je vrednost.
Ako nisam predlagac - else - samo pokrenem timeoutPropose, da ne cekam vecno."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Dva pravila reakcije na predlog. Bitno: predlog je SUGESTIJA, ne prihvata se naslepo.
"B1, svez predlog - ko proposal </a:t>
            </a:r>
            <a:r>
              <a:rPr lang="en-US" dirty="0" err="1"/>
              <a:t>ima</a:t>
            </a:r>
            <a:r>
              <a:rPr lang="en-US" dirty="0"/>
              <a:t> </a:t>
            </a:r>
            <a:r>
              <a:rPr lang="en-US" sz="1200" kern="1200" dirty="0" err="1">
                <a:solidFill>
                  <a:schemeClr val="tx1"/>
                </a:solidFill>
                <a:latin typeface="+mn-lt"/>
                <a:ea typeface="+mn-ea"/>
                <a:cs typeface="+mn-cs"/>
              </a:rPr>
              <a:t>validRound</a:t>
            </a:r>
            <a:r>
              <a:rPr lang="en-US" sz="1200" kern="1200" dirty="0">
                <a:solidFill>
                  <a:schemeClr val="tx1"/>
                </a:solidFill>
                <a:latin typeface="+mn-lt"/>
                <a:ea typeface="+mn-ea"/>
                <a:cs typeface="+mn-cs"/>
              </a:rPr>
              <a:t> = -1</a:t>
            </a:r>
            <a:r>
              <a:rPr lang="en-US" dirty="0"/>
              <a:t>, to </a:t>
            </a:r>
            <a:r>
              <a:rPr lang="en-US" dirty="0" err="1"/>
              <a:t>znači</a:t>
            </a:r>
            <a:r>
              <a:rPr lang="en-US" dirty="0"/>
              <a:t> da proposer ne </a:t>
            </a:r>
            <a:r>
              <a:rPr lang="en-US" dirty="0" err="1"/>
              <a:t>tvrdi</a:t>
            </a:r>
            <a:r>
              <a:rPr lang="en-US" dirty="0"/>
              <a:t> da je ta </a:t>
            </a:r>
            <a:r>
              <a:rPr lang="en-US" dirty="0" err="1"/>
              <a:t>vrednost</a:t>
            </a:r>
            <a:r>
              <a:rPr lang="en-US" dirty="0"/>
              <a:t> </a:t>
            </a:r>
            <a:r>
              <a:rPr lang="en-US" dirty="0" err="1"/>
              <a:t>ranije</a:t>
            </a:r>
            <a:r>
              <a:rPr lang="en-US" dirty="0"/>
              <a:t> </a:t>
            </a:r>
            <a:r>
              <a:rPr lang="en-US" dirty="0" err="1"/>
              <a:t>imala</a:t>
            </a:r>
            <a:r>
              <a:rPr lang="en-US" dirty="0"/>
              <a:t> </a:t>
            </a:r>
            <a:r>
              <a:rPr lang="en-US" dirty="0" err="1"/>
              <a:t>podršku</a:t>
            </a:r>
            <a:r>
              <a:rPr lang="en-US" dirty="0"/>
              <a:t>. Glasam PREVOTE za id(v) ako je v validna I (nisam nista zakljucao ili sam zakljucao bas v). Inace glasam nil. Pa predjem u prevote.
B2, re-predlog sa </a:t>
            </a:r>
            <a:r>
              <a:rPr lang="en-US" dirty="0" err="1"/>
              <a:t>dokazom</a:t>
            </a:r>
            <a:r>
              <a:rPr lang="en-US" dirty="0"/>
              <a:t> -ta </a:t>
            </a:r>
            <a:r>
              <a:rPr lang="en-US" dirty="0" err="1"/>
              <a:t>ako</a:t>
            </a:r>
            <a:r>
              <a:rPr lang="en-US" dirty="0"/>
              <a:t> proposal </a:t>
            </a:r>
            <a:r>
              <a:rPr lang="en-US" dirty="0" err="1"/>
              <a:t>ima</a:t>
            </a:r>
            <a:r>
              <a:rPr lang="en-US" dirty="0"/>
              <a:t> </a:t>
            </a:r>
            <a:r>
              <a:rPr lang="en-US" sz="1200" kern="1200" dirty="0" err="1">
                <a:solidFill>
                  <a:schemeClr val="tx1"/>
                </a:solidFill>
                <a:latin typeface="+mn-lt"/>
                <a:ea typeface="+mn-ea"/>
                <a:cs typeface="+mn-cs"/>
              </a:rPr>
              <a:t>validRound</a:t>
            </a:r>
            <a:r>
              <a:rPr lang="en-US" sz="1200" kern="1200" dirty="0">
                <a:solidFill>
                  <a:schemeClr val="tx1"/>
                </a:solidFill>
                <a:latin typeface="+mn-lt"/>
                <a:ea typeface="+mn-ea"/>
                <a:cs typeface="+mn-cs"/>
              </a:rPr>
              <a:t> &gt;= 0</a:t>
            </a:r>
            <a:r>
              <a:rPr lang="en-US" dirty="0"/>
              <a:t>? Ako proposer </a:t>
            </a:r>
            <a:r>
              <a:rPr lang="en-US" dirty="0" err="1"/>
              <a:t>pošalje</a:t>
            </a:r>
            <a:r>
              <a:rPr lang="en-US" dirty="0"/>
              <a:t> proposal </a:t>
            </a:r>
            <a:r>
              <a:rPr lang="en-US" dirty="0" err="1"/>
              <a:t>sa</a:t>
            </a:r>
            <a:r>
              <a:rPr lang="en-US" dirty="0"/>
              <a:t> </a:t>
            </a:r>
            <a:r>
              <a:rPr lang="en-US" sz="1200" kern="1200" dirty="0" err="1">
                <a:solidFill>
                  <a:schemeClr val="tx1"/>
                </a:solidFill>
                <a:latin typeface="+mn-lt"/>
                <a:ea typeface="+mn-ea"/>
                <a:cs typeface="+mn-cs"/>
              </a:rPr>
              <a:t>validRound</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vr</a:t>
            </a:r>
            <a:r>
              <a:rPr lang="en-US" dirty="0"/>
              <a:t>, </a:t>
            </a:r>
            <a:r>
              <a:rPr lang="en-US" dirty="0" err="1"/>
              <a:t>gde</a:t>
            </a:r>
            <a:r>
              <a:rPr lang="en-US" dirty="0"/>
              <a:t> je </a:t>
            </a:r>
            <a:r>
              <a:rPr lang="en-US" sz="1200" kern="1200" dirty="0" err="1">
                <a:solidFill>
                  <a:schemeClr val="tx1"/>
                </a:solidFill>
                <a:latin typeface="+mn-lt"/>
                <a:ea typeface="+mn-ea"/>
                <a:cs typeface="+mn-cs"/>
              </a:rPr>
              <a:t>vr</a:t>
            </a:r>
            <a:r>
              <a:rPr lang="en-US" sz="1200" kern="1200" dirty="0">
                <a:solidFill>
                  <a:schemeClr val="tx1"/>
                </a:solidFill>
                <a:latin typeface="+mn-lt"/>
                <a:ea typeface="+mn-ea"/>
                <a:cs typeface="+mn-cs"/>
              </a:rPr>
              <a:t> &gt;= 0</a:t>
            </a:r>
            <a:r>
              <a:rPr lang="en-US" dirty="0"/>
              <a:t>, on </a:t>
            </a:r>
            <a:r>
              <a:rPr lang="en-US" dirty="0" err="1"/>
              <a:t>zapravo</a:t>
            </a:r>
            <a:r>
              <a:rPr lang="en-US" dirty="0"/>
              <a:t> </a:t>
            </a:r>
            <a:r>
              <a:rPr lang="en-US" dirty="0" err="1"/>
              <a:t>kaže</a:t>
            </a:r>
            <a:r>
              <a:rPr lang="en-US" dirty="0"/>
              <a:t>:</a:t>
            </a:r>
          </a:p>
          <a:p>
            <a:r>
              <a:rPr lang="en-US" dirty="0"/>
              <a:t>“Ova </a:t>
            </a:r>
            <a:r>
              <a:rPr lang="en-US" dirty="0" err="1"/>
              <a:t>vrednost</a:t>
            </a:r>
            <a:r>
              <a:rPr lang="en-US" dirty="0"/>
              <a:t> je </a:t>
            </a:r>
            <a:r>
              <a:rPr lang="en-US" dirty="0" err="1"/>
              <a:t>već</a:t>
            </a:r>
            <a:r>
              <a:rPr lang="en-US" dirty="0"/>
              <a:t> u </a:t>
            </a:r>
            <a:r>
              <a:rPr lang="en-US" dirty="0" err="1"/>
              <a:t>rundi</a:t>
            </a:r>
            <a:r>
              <a:rPr lang="en-US" dirty="0"/>
              <a:t> </a:t>
            </a:r>
            <a:r>
              <a:rPr lang="en-US" sz="1200" kern="1200" dirty="0" err="1">
                <a:solidFill>
                  <a:schemeClr val="tx1"/>
                </a:solidFill>
                <a:latin typeface="+mn-lt"/>
                <a:ea typeface="+mn-ea"/>
                <a:cs typeface="+mn-cs"/>
              </a:rPr>
              <a:t>vr</a:t>
            </a:r>
            <a:r>
              <a:rPr lang="en-US" dirty="0"/>
              <a:t> </a:t>
            </a:r>
            <a:r>
              <a:rPr lang="en-US" dirty="0" err="1"/>
              <a:t>imala</a:t>
            </a:r>
            <a:r>
              <a:rPr lang="en-US" dirty="0"/>
              <a:t> </a:t>
            </a:r>
            <a:r>
              <a:rPr lang="en-US" sz="1200" kern="1200" dirty="0">
                <a:solidFill>
                  <a:schemeClr val="tx1"/>
                </a:solidFill>
                <a:latin typeface="+mn-lt"/>
                <a:ea typeface="+mn-ea"/>
                <a:cs typeface="+mn-cs"/>
              </a:rPr>
              <a:t>2f + 1</a:t>
            </a:r>
            <a:r>
              <a:rPr lang="en-US" dirty="0"/>
              <a:t> PREVOTE </a:t>
            </a:r>
            <a:r>
              <a:rPr lang="en-US" dirty="0" err="1"/>
              <a:t>glasova</a:t>
            </a:r>
            <a:r>
              <a:rPr lang="en-US" dirty="0"/>
              <a:t>.”</a:t>
            </a:r>
          </a:p>
          <a:p>
            <a:r>
              <a:rPr lang="en-US" dirty="0" err="1"/>
              <a:t>Drugim</a:t>
            </a:r>
            <a:r>
              <a:rPr lang="en-US" dirty="0"/>
              <a:t> </a:t>
            </a:r>
            <a:r>
              <a:rPr lang="en-US" dirty="0" err="1"/>
              <a:t>rečima</a:t>
            </a:r>
            <a:r>
              <a:rPr lang="en-US" dirty="0"/>
              <a:t>, proposer ne </a:t>
            </a:r>
            <a:r>
              <a:rPr lang="en-US" dirty="0" err="1"/>
              <a:t>predlaže</a:t>
            </a:r>
            <a:r>
              <a:rPr lang="en-US" dirty="0"/>
              <a:t> </a:t>
            </a:r>
            <a:r>
              <a:rPr lang="en-US" dirty="0" err="1"/>
              <a:t>bilo</a:t>
            </a:r>
            <a:r>
              <a:rPr lang="en-US" dirty="0"/>
              <a:t> </a:t>
            </a:r>
            <a:r>
              <a:rPr lang="en-US" dirty="0" err="1"/>
              <a:t>šta</a:t>
            </a:r>
            <a:r>
              <a:rPr lang="en-US" dirty="0"/>
              <a:t>, </a:t>
            </a:r>
            <a:r>
              <a:rPr lang="en-US" dirty="0" err="1"/>
              <a:t>nego</a:t>
            </a:r>
            <a:r>
              <a:rPr lang="en-US" dirty="0"/>
              <a:t> </a:t>
            </a:r>
            <a:r>
              <a:rPr lang="en-US" dirty="0" err="1"/>
              <a:t>vrednost</a:t>
            </a:r>
            <a:r>
              <a:rPr lang="en-US" dirty="0"/>
              <a:t> </a:t>
            </a:r>
            <a:r>
              <a:rPr lang="en-US" dirty="0" err="1"/>
              <a:t>koja</a:t>
            </a:r>
            <a:r>
              <a:rPr lang="en-US" dirty="0"/>
              <a:t> je </a:t>
            </a:r>
            <a:r>
              <a:rPr lang="en-US" dirty="0" err="1"/>
              <a:t>već</a:t>
            </a:r>
            <a:r>
              <a:rPr lang="en-US" dirty="0"/>
              <a:t> </a:t>
            </a:r>
            <a:r>
              <a:rPr lang="en-US" dirty="0" err="1"/>
              <a:t>ranije</a:t>
            </a:r>
            <a:r>
              <a:rPr lang="en-US" dirty="0"/>
              <a:t> </a:t>
            </a:r>
            <a:r>
              <a:rPr lang="en-US" dirty="0" err="1"/>
              <a:t>bila</a:t>
            </a:r>
            <a:r>
              <a:rPr lang="en-US" dirty="0"/>
              <a:t> </a:t>
            </a:r>
            <a:r>
              <a:rPr lang="en-US" dirty="0" err="1"/>
              <a:t>ozbiljan</a:t>
            </a:r>
            <a:r>
              <a:rPr lang="en-US" dirty="0"/>
              <a:t> </a:t>
            </a:r>
            <a:r>
              <a:rPr lang="en-US" dirty="0" err="1"/>
              <a:t>kandidat</a:t>
            </a:r>
            <a:r>
              <a:rPr lang="en-US" dirty="0"/>
              <a:t> za </a:t>
            </a:r>
            <a:r>
              <a:rPr lang="en-US" dirty="0" err="1"/>
              <a:t>odluku</a:t>
            </a:r>
            <a:r>
              <a:rPr lang="en-US" dirty="0"/>
              <a:t>.</a:t>
            </a:r>
          </a:p>
          <a:p>
            <a:r>
              <a:rPr lang="en-US" dirty="0"/>
              <a:t>Tada </a:t>
            </a:r>
            <a:r>
              <a:rPr lang="en-US" dirty="0" err="1"/>
              <a:t>čvor</a:t>
            </a:r>
            <a:r>
              <a:rPr lang="en-US" dirty="0"/>
              <a:t> </a:t>
            </a:r>
            <a:r>
              <a:rPr lang="en-US" dirty="0" err="1"/>
              <a:t>proverava</a:t>
            </a:r>
            <a:r>
              <a:rPr lang="en-US" dirty="0"/>
              <a:t>:</a:t>
            </a:r>
          </a:p>
          <a:p>
            <a:r>
              <a:rPr lang="en-US" dirty="0"/>
              <a:t>da li je </a:t>
            </a:r>
            <a:r>
              <a:rPr lang="en-US" dirty="0" err="1"/>
              <a:t>vrednost</a:t>
            </a:r>
            <a:r>
              <a:rPr lang="en-US" dirty="0"/>
              <a:t> </a:t>
            </a:r>
            <a:r>
              <a:rPr lang="en-US" dirty="0" err="1"/>
              <a:t>validna</a:t>
            </a:r>
            <a:r>
              <a:rPr lang="en-US" dirty="0"/>
              <a:t>, </a:t>
            </a:r>
          </a:p>
          <a:p>
            <a:r>
              <a:rPr lang="en-US" dirty="0"/>
              <a:t>da li </a:t>
            </a:r>
            <a:r>
              <a:rPr lang="en-US" dirty="0" err="1"/>
              <a:t>stvarno</a:t>
            </a:r>
            <a:r>
              <a:rPr lang="en-US" dirty="0"/>
              <a:t> </a:t>
            </a:r>
            <a:r>
              <a:rPr lang="en-US" dirty="0" err="1"/>
              <a:t>postoje</a:t>
            </a:r>
            <a:r>
              <a:rPr lang="en-US" dirty="0"/>
              <a:t> </a:t>
            </a:r>
            <a:r>
              <a:rPr lang="en-US" sz="1200" kern="1200" dirty="0">
                <a:solidFill>
                  <a:schemeClr val="tx1"/>
                </a:solidFill>
                <a:latin typeface="+mn-lt"/>
                <a:ea typeface="+mn-ea"/>
                <a:cs typeface="+mn-cs"/>
              </a:rPr>
              <a:t>2f + 1</a:t>
            </a:r>
            <a:r>
              <a:rPr lang="en-US" dirty="0"/>
              <a:t> PREVOTE </a:t>
            </a:r>
            <a:r>
              <a:rPr lang="en-US" dirty="0" err="1"/>
              <a:t>poruke</a:t>
            </a:r>
            <a:r>
              <a:rPr lang="en-US" dirty="0"/>
              <a:t> za </a:t>
            </a:r>
            <a:r>
              <a:rPr lang="en-US" dirty="0" err="1"/>
              <a:t>tu</a:t>
            </a:r>
            <a:r>
              <a:rPr lang="en-US" dirty="0"/>
              <a:t> </a:t>
            </a:r>
            <a:r>
              <a:rPr lang="en-US" dirty="0" err="1"/>
              <a:t>vrednost</a:t>
            </a:r>
            <a:r>
              <a:rPr lang="en-US" dirty="0"/>
              <a:t> u </a:t>
            </a:r>
            <a:r>
              <a:rPr lang="en-US" dirty="0" err="1"/>
              <a:t>rundi</a:t>
            </a:r>
            <a:r>
              <a:rPr lang="en-US" dirty="0"/>
              <a:t> </a:t>
            </a:r>
            <a:r>
              <a:rPr lang="en-US" sz="1200" kern="1200" dirty="0" err="1">
                <a:solidFill>
                  <a:schemeClr val="tx1"/>
                </a:solidFill>
                <a:latin typeface="+mn-lt"/>
                <a:ea typeface="+mn-ea"/>
                <a:cs typeface="+mn-cs"/>
              </a:rPr>
              <a:t>vr</a:t>
            </a:r>
            <a:r>
              <a:rPr lang="en-US" dirty="0"/>
              <a:t>, </a:t>
            </a:r>
          </a:p>
          <a:p>
            <a:r>
              <a:rPr lang="en-US" dirty="0"/>
              <a:t>da li je </a:t>
            </a:r>
            <a:r>
              <a:rPr lang="en-US" dirty="0" err="1"/>
              <a:t>bezbedno</a:t>
            </a:r>
            <a:r>
              <a:rPr lang="en-US" dirty="0"/>
              <a:t> </a:t>
            </a:r>
            <a:r>
              <a:rPr lang="en-US" dirty="0" err="1"/>
              <a:t>glasati</a:t>
            </a:r>
            <a:r>
              <a:rPr lang="en-US" dirty="0"/>
              <a:t> za </a:t>
            </a:r>
            <a:r>
              <a:rPr lang="en-US" dirty="0" err="1"/>
              <a:t>nju</a:t>
            </a:r>
            <a:r>
              <a:rPr lang="en-US" dirty="0"/>
              <a:t> u </a:t>
            </a:r>
            <a:r>
              <a:rPr lang="en-US" dirty="0" err="1"/>
              <a:t>odnosu</a:t>
            </a:r>
            <a:r>
              <a:rPr lang="en-US" dirty="0"/>
              <a:t> </a:t>
            </a:r>
            <a:r>
              <a:rPr lang="en-US" dirty="0" err="1"/>
              <a:t>na</a:t>
            </a:r>
            <a:r>
              <a:rPr lang="en-US" dirty="0"/>
              <a:t> </a:t>
            </a:r>
            <a:r>
              <a:rPr lang="en-US" dirty="0" err="1"/>
              <a:t>njegov</a:t>
            </a:r>
            <a:r>
              <a:rPr lang="en-US" dirty="0"/>
              <a:t> </a:t>
            </a:r>
            <a:r>
              <a:rPr lang="en-US" sz="1200" kern="1200" dirty="0" err="1">
                <a:solidFill>
                  <a:schemeClr val="tx1"/>
                </a:solidFill>
                <a:latin typeface="+mn-lt"/>
                <a:ea typeface="+mn-ea"/>
                <a:cs typeface="+mn-cs"/>
              </a:rPr>
              <a:t>lockedRound</a:t>
            </a:r>
            <a:r>
              <a:rPr lang="en-US" dirty="0"/>
              <a:t>. </a:t>
            </a:r>
          </a:p>
          <a:p>
            <a:r>
              <a:rPr lang="en-US" dirty="0" err="1"/>
              <a:t>Čvor</a:t>
            </a:r>
            <a:r>
              <a:rPr lang="en-US" dirty="0"/>
              <a:t> </a:t>
            </a:r>
            <a:r>
              <a:rPr lang="en-US" dirty="0" err="1"/>
              <a:t>prihvata</a:t>
            </a:r>
            <a:r>
              <a:rPr lang="en-US" dirty="0"/>
              <a:t> proposal </a:t>
            </a:r>
            <a:r>
              <a:rPr lang="en-US" dirty="0" err="1"/>
              <a:t>ako</a:t>
            </a:r>
            <a:r>
              <a:rPr lang="en-US" dirty="0"/>
              <a:t>:</a:t>
            </a:r>
          </a:p>
          <a:p>
            <a:r>
              <a:rPr lang="en-US" dirty="0" err="1"/>
              <a:t>nije</a:t>
            </a:r>
            <a:r>
              <a:rPr lang="en-US" dirty="0"/>
              <a:t> </a:t>
            </a:r>
            <a:r>
              <a:rPr lang="en-US" dirty="0" err="1"/>
              <a:t>zaključan</a:t>
            </a:r>
            <a:r>
              <a:rPr lang="en-US" dirty="0"/>
              <a:t> </a:t>
            </a:r>
            <a:r>
              <a:rPr lang="en-US" dirty="0" err="1"/>
              <a:t>na</a:t>
            </a:r>
            <a:r>
              <a:rPr lang="en-US" dirty="0"/>
              <a:t> </a:t>
            </a:r>
            <a:r>
              <a:rPr lang="en-US" dirty="0" err="1"/>
              <a:t>noviju</a:t>
            </a:r>
            <a:r>
              <a:rPr lang="en-US" dirty="0"/>
              <a:t> </a:t>
            </a:r>
            <a:r>
              <a:rPr lang="en-US" dirty="0" err="1"/>
              <a:t>vrednost</a:t>
            </a:r>
            <a:r>
              <a:rPr lang="en-US" dirty="0"/>
              <a:t>, </a:t>
            </a:r>
          </a:p>
          <a:p>
            <a:r>
              <a:rPr lang="en-US" dirty="0" err="1"/>
              <a:t>ili</a:t>
            </a:r>
            <a:r>
              <a:rPr lang="en-US" dirty="0"/>
              <a:t> je </a:t>
            </a:r>
            <a:r>
              <a:rPr lang="en-US" dirty="0" err="1"/>
              <a:t>zaključan</a:t>
            </a:r>
            <a:r>
              <a:rPr lang="en-US" dirty="0"/>
              <a:t> </a:t>
            </a:r>
            <a:r>
              <a:rPr lang="en-US" dirty="0" err="1"/>
              <a:t>baš</a:t>
            </a:r>
            <a:r>
              <a:rPr lang="en-US" dirty="0"/>
              <a:t> </a:t>
            </a:r>
            <a:r>
              <a:rPr lang="en-US" dirty="0" err="1"/>
              <a:t>na</a:t>
            </a:r>
            <a:r>
              <a:rPr lang="en-US" dirty="0"/>
              <a:t> </a:t>
            </a:r>
            <a:r>
              <a:rPr lang="en-US" dirty="0" err="1"/>
              <a:t>tu</a:t>
            </a:r>
            <a:r>
              <a:rPr lang="en-US" dirty="0"/>
              <a:t> </a:t>
            </a:r>
            <a:r>
              <a:rPr lang="en-US" dirty="0" err="1"/>
              <a:t>istu</a:t>
            </a:r>
            <a:r>
              <a:rPr lang="en-US" dirty="0"/>
              <a:t> </a:t>
            </a:r>
            <a:r>
              <a:rPr lang="en-US" dirty="0" err="1"/>
              <a:t>vrednost</a:t>
            </a:r>
            <a:r>
              <a:rPr lang="en-US" dirty="0"/>
              <a:t>.</a:t>
            </a:r>
          </a:p>
          <a:p>
            <a:r>
              <a:rPr lang="en-US" dirty="0"/>
              <a:t> Ako je proposal </a:t>
            </a:r>
            <a:r>
              <a:rPr lang="en-US" dirty="0" err="1"/>
              <a:t>zasnovan</a:t>
            </a:r>
            <a:r>
              <a:rPr lang="en-US" dirty="0"/>
              <a:t> </a:t>
            </a:r>
            <a:r>
              <a:rPr lang="en-US" dirty="0" err="1"/>
              <a:t>na</a:t>
            </a:r>
            <a:r>
              <a:rPr lang="en-US" dirty="0"/>
              <a:t> </a:t>
            </a:r>
            <a:r>
              <a:rPr lang="en-US" dirty="0" err="1"/>
              <a:t>novijoj</a:t>
            </a:r>
            <a:r>
              <a:rPr lang="en-US" dirty="0"/>
              <a:t> </a:t>
            </a:r>
            <a:r>
              <a:rPr lang="en-US" dirty="0" err="1"/>
              <a:t>ili</a:t>
            </a:r>
            <a:r>
              <a:rPr lang="en-US" dirty="0"/>
              <a:t> </a:t>
            </a:r>
            <a:r>
              <a:rPr lang="en-US" dirty="0" err="1"/>
              <a:t>jednako</a:t>
            </a:r>
            <a:r>
              <a:rPr lang="en-US" dirty="0"/>
              <a:t> </a:t>
            </a:r>
            <a:r>
              <a:rPr lang="en-US" dirty="0" err="1"/>
              <a:t>novoj</a:t>
            </a:r>
            <a:r>
              <a:rPr lang="en-US" dirty="0"/>
              <a:t> </a:t>
            </a:r>
            <a:r>
              <a:rPr lang="en-US" dirty="0" err="1"/>
              <a:t>rundi</a:t>
            </a:r>
            <a:r>
              <a:rPr lang="en-US" dirty="0"/>
              <a:t> od </a:t>
            </a:r>
            <a:r>
              <a:rPr lang="en-US" dirty="0" err="1"/>
              <a:t>moje</a:t>
            </a:r>
            <a:r>
              <a:rPr lang="en-US" dirty="0"/>
              <a:t> </a:t>
            </a:r>
            <a:r>
              <a:rPr lang="en-US" dirty="0" err="1"/>
              <a:t>zaključane</a:t>
            </a:r>
            <a:r>
              <a:rPr lang="en-US" dirty="0"/>
              <a:t> </a:t>
            </a:r>
            <a:r>
              <a:rPr lang="en-US" dirty="0" err="1"/>
              <a:t>runde</a:t>
            </a:r>
            <a:r>
              <a:rPr lang="en-US" dirty="0"/>
              <a:t>, </a:t>
            </a:r>
            <a:r>
              <a:rPr lang="en-US" dirty="0" err="1"/>
              <a:t>onda</a:t>
            </a:r>
            <a:r>
              <a:rPr lang="en-US" dirty="0"/>
              <a:t> </a:t>
            </a:r>
            <a:r>
              <a:rPr lang="en-US" dirty="0" err="1"/>
              <a:t>mogu</a:t>
            </a:r>
            <a:r>
              <a:rPr lang="en-US" dirty="0"/>
              <a:t> da </a:t>
            </a:r>
            <a:r>
              <a:rPr lang="en-US" dirty="0" err="1"/>
              <a:t>prihvatim</a:t>
            </a:r>
            <a:r>
              <a:rPr lang="en-US" dirty="0"/>
              <a:t> </a:t>
            </a:r>
            <a:r>
              <a:rPr lang="en-US" dirty="0" err="1"/>
              <a:t>tu</a:t>
            </a:r>
            <a:r>
              <a:rPr lang="en-US" dirty="0"/>
              <a:t> </a:t>
            </a:r>
            <a:r>
              <a:rPr lang="en-US" dirty="0" err="1"/>
              <a:t>vrednost</a:t>
            </a:r>
            <a:r>
              <a:rPr lang="en-US" dirty="0"/>
              <a:t> </a:t>
            </a:r>
            <a:r>
              <a:rPr lang="en-US" dirty="0" err="1"/>
              <a:t>jer</a:t>
            </a:r>
            <a:r>
              <a:rPr lang="en-US" dirty="0"/>
              <a:t> </a:t>
            </a:r>
            <a:r>
              <a:rPr lang="en-US" dirty="0" err="1"/>
              <a:t>ona</a:t>
            </a:r>
            <a:r>
              <a:rPr lang="en-US" dirty="0"/>
              <a:t> </a:t>
            </a:r>
            <a:r>
              <a:rPr lang="en-US" dirty="0" err="1"/>
              <a:t>ima</a:t>
            </a:r>
            <a:r>
              <a:rPr lang="en-US" dirty="0"/>
              <a:t> </a:t>
            </a:r>
            <a:r>
              <a:rPr lang="en-US" dirty="0" err="1"/>
              <a:t>noviji</a:t>
            </a:r>
            <a:r>
              <a:rPr lang="en-US" dirty="0"/>
              <a:t> </a:t>
            </a:r>
            <a:r>
              <a:rPr lang="en-US" dirty="0" err="1"/>
              <a:t>dokaz</a:t>
            </a:r>
            <a:r>
              <a:rPr lang="en-US" dirty="0"/>
              <a:t> </a:t>
            </a:r>
            <a:r>
              <a:rPr lang="en-US" dirty="0" err="1"/>
              <a:t>podrške.Ovo</a:t>
            </a:r>
            <a:r>
              <a:rPr lang="en-US" dirty="0"/>
              <a:t> je </a:t>
            </a:r>
            <a:r>
              <a:rPr lang="en-US" dirty="0" err="1"/>
              <a:t>mehanizam</a:t>
            </a:r>
            <a:r>
              <a:rPr lang="en-US" dirty="0"/>
              <a:t> koji </a:t>
            </a:r>
            <a:r>
              <a:rPr lang="en-US" dirty="0" err="1"/>
              <a:t>omogućava</a:t>
            </a:r>
            <a:r>
              <a:rPr lang="en-US" dirty="0"/>
              <a:t> </a:t>
            </a:r>
            <a:r>
              <a:rPr lang="en-US" dirty="0" err="1"/>
              <a:t>sistemu</a:t>
            </a:r>
            <a:r>
              <a:rPr lang="en-US" dirty="0"/>
              <a:t> da </a:t>
            </a:r>
            <a:r>
              <a:rPr lang="en-US" dirty="0" err="1"/>
              <a:t>napreduje</a:t>
            </a:r>
            <a:r>
              <a:rPr lang="en-US" dirty="0"/>
              <a:t>, </a:t>
            </a:r>
            <a:r>
              <a:rPr lang="en-US" dirty="0" err="1"/>
              <a:t>ali</a:t>
            </a:r>
            <a:r>
              <a:rPr lang="en-US" dirty="0"/>
              <a:t> da ne </a:t>
            </a:r>
            <a:r>
              <a:rPr lang="en-US" dirty="0" err="1"/>
              <a:t>naruši</a:t>
            </a:r>
            <a:r>
              <a:rPr lang="en-US" dirty="0"/>
              <a:t> safety. Razlika je u jednom uslovu: umesto 'lockedRound = -1' sada 'lockedRound &lt;= vr'. To je OTKLJUCAVANJE - cak i zakljucan, ako je dokaz iz kasnije runde, smem da glasam za v."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Pravilo D je najvaznije - radi i bezbednost i napredak istovremeno.
"Okida se kad vidim PROPOSAL za v I 2f+1 PREVOTE za id(v) u tekucoj rundi. Ako sam jos u prevote: ZAKLJUCAVAM - postavim lockedValue i lockedRound, posaljem PRECOMMIT, predjem u precommit. ALI - poslednje dve linije, validValue i validRound, su VAN if-a, manje uvucene. Znaci validValue se azurira UVEK, cak i ako sam vec u precommit zbog tajmauta. Jer je v i dalje moguca odluka koju treba zapamtiti."
Pokazi na uvlacenje: 'uvuceni deo je safety - zakljucavanje; izvucene dve linije su liveness - pamcenje validValue. Jedno pravilo, oba posla'.
"Pravilo E: ako se sakupi 2f+1 PREVOTE za NIL, runda nece </a:t>
            </a:r>
            <a:r>
              <a:rPr lang="en-US" dirty="0" err="1"/>
              <a:t>odluciti</a:t>
            </a:r>
            <a:r>
              <a:rPr lang="en-US" dirty="0"/>
              <a:t> –&gt;PRECOMMIT nil, idi </a:t>
            </a:r>
            <a:r>
              <a:rPr lang="en-US" dirty="0" err="1"/>
              <a:t>dalje</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Pravilo G je cilj svega - ODLUKA.
"Okida se kad vidim PROPOSAL za v I 2f+1 PRECOMMIT za id(v) u nekoj rundi r. Pazite - r NE mora biti tekuca! Mogu da odlucim na osnovu glasova iz ranije runde cim ih sakupim; gossip garantuje da ce ih svi videti. Kad odlucim: upisem v, predjem na visinu h plus jedan, resetujem sve i krenem nov blok od runde nula."
"Pravilo H, preskakanje runde: vidim f+1 poruka iz vise runde - skacem u nju. f+1 garantuje da je bar jedan POSTEN tamo, dakle pravi napredak. Jedan cvor ne povuce sve - tek f+1 znaci da zaostali treba da </a:t>
            </a:r>
            <a:r>
              <a:rPr lang="en-US" dirty="0" err="1"/>
              <a:t>sustigne</a:t>
            </a:r>
            <a:r>
              <a:rPr lang="en-US" dirty="0"/>
              <a:t>.“Ako </a:t>
            </a:r>
            <a:r>
              <a:rPr lang="en-US" dirty="0" err="1"/>
              <a:t>čvor</a:t>
            </a:r>
            <a:r>
              <a:rPr lang="en-US" dirty="0"/>
              <a:t> </a:t>
            </a:r>
            <a:r>
              <a:rPr lang="en-US" dirty="0" err="1"/>
              <a:t>vidi</a:t>
            </a:r>
            <a:r>
              <a:rPr lang="en-US" dirty="0"/>
              <a:t> </a:t>
            </a:r>
            <a:r>
              <a:rPr lang="en-US" sz="1200" kern="1200" dirty="0">
                <a:solidFill>
                  <a:schemeClr val="tx1"/>
                </a:solidFill>
                <a:latin typeface="+mn-lt"/>
                <a:ea typeface="+mn-ea"/>
                <a:cs typeface="+mn-cs"/>
              </a:rPr>
              <a:t>f + 1</a:t>
            </a:r>
            <a:r>
              <a:rPr lang="en-US" dirty="0"/>
              <a:t> </a:t>
            </a:r>
            <a:r>
              <a:rPr lang="en-US" dirty="0" err="1"/>
              <a:t>poruka</a:t>
            </a:r>
            <a:r>
              <a:rPr lang="en-US" dirty="0"/>
              <a:t> </a:t>
            </a:r>
            <a:r>
              <a:rPr lang="en-US" dirty="0" err="1"/>
              <a:t>iz</a:t>
            </a:r>
            <a:r>
              <a:rPr lang="en-US" dirty="0"/>
              <a:t> </a:t>
            </a:r>
            <a:r>
              <a:rPr lang="en-US" dirty="0" err="1"/>
              <a:t>neke</a:t>
            </a:r>
            <a:r>
              <a:rPr lang="en-US" dirty="0"/>
              <a:t> </a:t>
            </a:r>
            <a:r>
              <a:rPr lang="en-US" dirty="0" err="1"/>
              <a:t>više</a:t>
            </a:r>
            <a:r>
              <a:rPr lang="en-US" dirty="0"/>
              <a:t> </a:t>
            </a:r>
            <a:r>
              <a:rPr lang="en-US" dirty="0" err="1"/>
              <a:t>runde</a:t>
            </a:r>
            <a:r>
              <a:rPr lang="en-US" dirty="0"/>
              <a:t>, a on je </a:t>
            </a:r>
            <a:r>
              <a:rPr lang="en-US" dirty="0" err="1"/>
              <a:t>još</a:t>
            </a:r>
            <a:r>
              <a:rPr lang="en-US" dirty="0"/>
              <a:t> u </a:t>
            </a:r>
            <a:r>
              <a:rPr lang="en-US" dirty="0" err="1"/>
              <a:t>nižoj</a:t>
            </a:r>
            <a:r>
              <a:rPr lang="en-US" dirty="0"/>
              <a:t> </a:t>
            </a:r>
            <a:r>
              <a:rPr lang="en-US" dirty="0" err="1"/>
              <a:t>rundi</a:t>
            </a:r>
            <a:r>
              <a:rPr lang="en-US" dirty="0"/>
              <a:t>, </a:t>
            </a:r>
            <a:r>
              <a:rPr lang="en-US" dirty="0" err="1"/>
              <a:t>prelazi</a:t>
            </a:r>
            <a:r>
              <a:rPr lang="en-US" dirty="0"/>
              <a:t> u </a:t>
            </a:r>
            <a:r>
              <a:rPr lang="en-US" dirty="0" err="1"/>
              <a:t>tu</a:t>
            </a:r>
            <a:r>
              <a:rPr lang="en-US" dirty="0"/>
              <a:t> </a:t>
            </a:r>
            <a:r>
              <a:rPr lang="en-US" dirty="0" err="1"/>
              <a:t>višu</a:t>
            </a:r>
            <a:r>
              <a:rPr lang="en-US" dirty="0"/>
              <a:t> </a:t>
            </a:r>
            <a:r>
              <a:rPr lang="en-US" dirty="0" err="1"/>
              <a:t>rundu</a:t>
            </a:r>
            <a:r>
              <a:rPr lang="en-US" dirty="0"/>
              <a:t>.</a:t>
            </a:r>
          </a:p>
          <a:p>
            <a:r>
              <a:rPr lang="en-US" dirty="0" err="1"/>
              <a:t>Zašto</a:t>
            </a:r>
            <a:r>
              <a:rPr lang="en-US" dirty="0"/>
              <a:t> je </a:t>
            </a:r>
            <a:r>
              <a:rPr lang="en-US" dirty="0" err="1"/>
              <a:t>dovoljno</a:t>
            </a:r>
            <a:r>
              <a:rPr lang="en-US" dirty="0"/>
              <a:t> </a:t>
            </a:r>
            <a:r>
              <a:rPr lang="en-US" sz="1200" kern="1200" dirty="0">
                <a:solidFill>
                  <a:schemeClr val="tx1"/>
                </a:solidFill>
                <a:latin typeface="+mn-lt"/>
                <a:ea typeface="+mn-ea"/>
                <a:cs typeface="+mn-cs"/>
              </a:rPr>
              <a:t>f + 1</a:t>
            </a:r>
            <a:r>
              <a:rPr lang="en-US" dirty="0"/>
              <a:t>?</a:t>
            </a:r>
          </a:p>
          <a:p>
            <a:r>
              <a:rPr lang="en-US" dirty="0" err="1"/>
              <a:t>Zato</a:t>
            </a:r>
            <a:r>
              <a:rPr lang="en-US" dirty="0"/>
              <a:t> </a:t>
            </a:r>
            <a:r>
              <a:rPr lang="en-US" dirty="0" err="1"/>
              <a:t>što</a:t>
            </a:r>
            <a:r>
              <a:rPr lang="en-US" dirty="0"/>
              <a:t> </a:t>
            </a:r>
            <a:r>
              <a:rPr lang="en-US" dirty="0" err="1"/>
              <a:t>najviše</a:t>
            </a:r>
            <a:r>
              <a:rPr lang="en-US" dirty="0"/>
              <a:t> </a:t>
            </a:r>
            <a:r>
              <a:rPr lang="en-US" sz="1200" kern="1200" dirty="0">
                <a:solidFill>
                  <a:schemeClr val="tx1"/>
                </a:solidFill>
                <a:latin typeface="+mn-lt"/>
                <a:ea typeface="+mn-ea"/>
                <a:cs typeface="+mn-cs"/>
              </a:rPr>
              <a:t>f</a:t>
            </a:r>
            <a:r>
              <a:rPr lang="en-US" dirty="0"/>
              <a:t> </a:t>
            </a:r>
            <a:r>
              <a:rPr lang="en-US" dirty="0" err="1"/>
              <a:t>čvorova</a:t>
            </a:r>
            <a:r>
              <a:rPr lang="en-US" dirty="0"/>
              <a:t> </a:t>
            </a:r>
            <a:r>
              <a:rPr lang="en-US" dirty="0" err="1"/>
              <a:t>može</a:t>
            </a:r>
            <a:r>
              <a:rPr lang="en-US" dirty="0"/>
              <a:t> </a:t>
            </a:r>
            <a:r>
              <a:rPr lang="en-US" dirty="0" err="1"/>
              <a:t>biti</a:t>
            </a:r>
            <a:r>
              <a:rPr lang="en-US" dirty="0"/>
              <a:t> faulty. Ako </a:t>
            </a:r>
            <a:r>
              <a:rPr lang="en-US" dirty="0" err="1"/>
              <a:t>si</a:t>
            </a:r>
            <a:r>
              <a:rPr lang="en-US" dirty="0"/>
              <a:t> video </a:t>
            </a:r>
            <a:r>
              <a:rPr lang="en-US" sz="1200" kern="1200" dirty="0">
                <a:solidFill>
                  <a:schemeClr val="tx1"/>
                </a:solidFill>
                <a:latin typeface="+mn-lt"/>
                <a:ea typeface="+mn-ea"/>
                <a:cs typeface="+mn-cs"/>
              </a:rPr>
              <a:t>f + 1</a:t>
            </a:r>
            <a:r>
              <a:rPr lang="en-US" dirty="0"/>
              <a:t> </a:t>
            </a:r>
            <a:r>
              <a:rPr lang="en-US" dirty="0" err="1"/>
              <a:t>poruka</a:t>
            </a:r>
            <a:r>
              <a:rPr lang="en-US" dirty="0"/>
              <a:t> </a:t>
            </a:r>
            <a:r>
              <a:rPr lang="en-US" dirty="0" err="1"/>
              <a:t>iz</a:t>
            </a:r>
            <a:r>
              <a:rPr lang="en-US" dirty="0"/>
              <a:t> </a:t>
            </a:r>
            <a:r>
              <a:rPr lang="en-US" dirty="0" err="1"/>
              <a:t>više</a:t>
            </a:r>
            <a:r>
              <a:rPr lang="en-US" dirty="0"/>
              <a:t> </a:t>
            </a:r>
            <a:r>
              <a:rPr lang="en-US" dirty="0" err="1"/>
              <a:t>runde</a:t>
            </a:r>
            <a:r>
              <a:rPr lang="en-US" dirty="0"/>
              <a:t>, bar </a:t>
            </a:r>
            <a:r>
              <a:rPr lang="en-US" dirty="0" err="1"/>
              <a:t>jedna</a:t>
            </a:r>
            <a:r>
              <a:rPr lang="en-US" dirty="0"/>
              <a:t> mora </a:t>
            </a:r>
            <a:r>
              <a:rPr lang="en-US" dirty="0" err="1"/>
              <a:t>biti</a:t>
            </a:r>
            <a:r>
              <a:rPr lang="en-US" dirty="0"/>
              <a:t> od </a:t>
            </a:r>
            <a:r>
              <a:rPr lang="en-US" dirty="0" err="1"/>
              <a:t>ispravnog</a:t>
            </a:r>
            <a:r>
              <a:rPr lang="en-US" dirty="0"/>
              <a:t> </a:t>
            </a:r>
            <a:r>
              <a:rPr lang="en-US" dirty="0" err="1"/>
              <a:t>čvora</a:t>
            </a:r>
            <a:r>
              <a:rPr lang="en-US" dirty="0"/>
              <a:t>. To </a:t>
            </a:r>
            <a:r>
              <a:rPr lang="en-US" dirty="0" err="1"/>
              <a:t>znači</a:t>
            </a:r>
            <a:r>
              <a:rPr lang="en-US" dirty="0"/>
              <a:t> da je bar </a:t>
            </a:r>
            <a:r>
              <a:rPr lang="en-US" dirty="0" err="1"/>
              <a:t>jedan</a:t>
            </a:r>
            <a:r>
              <a:rPr lang="en-US" dirty="0"/>
              <a:t> </a:t>
            </a:r>
            <a:r>
              <a:rPr lang="en-US" dirty="0" err="1"/>
              <a:t>ispravan</a:t>
            </a:r>
            <a:r>
              <a:rPr lang="en-US" dirty="0"/>
              <a:t> </a:t>
            </a:r>
            <a:r>
              <a:rPr lang="en-US" dirty="0" err="1"/>
              <a:t>čvor</a:t>
            </a:r>
            <a:r>
              <a:rPr lang="en-US" dirty="0"/>
              <a:t> </a:t>
            </a:r>
            <a:r>
              <a:rPr lang="en-US" dirty="0" err="1"/>
              <a:t>već</a:t>
            </a:r>
            <a:r>
              <a:rPr lang="en-US" dirty="0"/>
              <a:t> </a:t>
            </a:r>
            <a:r>
              <a:rPr lang="en-US" dirty="0" err="1"/>
              <a:t>napredovao</a:t>
            </a:r>
            <a:r>
              <a:rPr lang="en-US" dirty="0"/>
              <a:t> </a:t>
            </a:r>
            <a:r>
              <a:rPr lang="en-US" dirty="0" err="1"/>
              <a:t>i</a:t>
            </a:r>
            <a:r>
              <a:rPr lang="en-US" dirty="0"/>
              <a:t> da ne </a:t>
            </a:r>
            <a:r>
              <a:rPr lang="en-US" dirty="0" err="1"/>
              <a:t>treba</a:t>
            </a:r>
            <a:r>
              <a:rPr lang="en-US" dirty="0"/>
              <a:t> da </a:t>
            </a:r>
            <a:r>
              <a:rPr lang="en-US" dirty="0" err="1"/>
              <a:t>ostaneš</a:t>
            </a:r>
            <a:r>
              <a:rPr lang="en-US" dirty="0"/>
              <a:t> </a:t>
            </a:r>
            <a:r>
              <a:rPr lang="en-US" dirty="0" err="1"/>
              <a:t>zaglavljen</a:t>
            </a:r>
            <a:r>
              <a:rPr lang="en-US" dirty="0"/>
              <a:t> u </a:t>
            </a:r>
            <a:r>
              <a:rPr lang="en-US" dirty="0" err="1"/>
              <a:t>staroj</a:t>
            </a:r>
            <a:r>
              <a:rPr lang="en-US" dirty="0"/>
              <a:t> </a:t>
            </a:r>
            <a:r>
              <a:rPr lang="en-US" dirty="0" err="1"/>
              <a:t>rundi</a:t>
            </a:r>
            <a:r>
              <a:rPr lang="en-US" dirty="0"/>
              <a:t>.</a:t>
            </a:r>
          </a:p>
          <a:p>
            <a:r>
              <a:rPr lang="en-US" dirty="0"/>
              <a:t>Za primer </a:t>
            </a:r>
            <a:r>
              <a:rPr lang="en-US" dirty="0" err="1"/>
              <a:t>sa</a:t>
            </a:r>
            <a:r>
              <a:rPr lang="en-US" dirty="0"/>
              <a:t> 4 </a:t>
            </a:r>
            <a:r>
              <a:rPr lang="en-US" dirty="0" err="1"/>
              <a:t>čvora</a:t>
            </a:r>
            <a:r>
              <a:rPr lang="en-US" dirty="0"/>
              <a:t>:</a:t>
            </a:r>
          </a:p>
          <a:p>
            <a:r>
              <a:rPr lang="en-US" sz="1200" kern="1200" dirty="0">
                <a:solidFill>
                  <a:schemeClr val="tx1"/>
                </a:solidFill>
                <a:latin typeface="+mn-lt"/>
                <a:ea typeface="+mn-ea"/>
                <a:cs typeface="+mn-cs"/>
              </a:rPr>
              <a:t>f = 1</a:t>
            </a:r>
            <a:r>
              <a:rPr lang="en-US" dirty="0"/>
              <a:t> </a:t>
            </a:r>
          </a:p>
          <a:p>
            <a:r>
              <a:rPr lang="en-US" sz="1200" kern="1200" dirty="0">
                <a:solidFill>
                  <a:schemeClr val="tx1"/>
                </a:solidFill>
                <a:latin typeface="+mn-lt"/>
                <a:ea typeface="+mn-ea"/>
                <a:cs typeface="+mn-cs"/>
              </a:rPr>
              <a:t>f + 1 = 2</a:t>
            </a:r>
            <a:r>
              <a:rPr lang="en-US" dirty="0"/>
              <a:t> </a:t>
            </a:r>
          </a:p>
          <a:p>
            <a:r>
              <a:rPr lang="en-US" dirty="0"/>
              <a:t>Ako </a:t>
            </a:r>
            <a:r>
              <a:rPr lang="en-US" dirty="0" err="1"/>
              <a:t>čvor</a:t>
            </a:r>
            <a:r>
              <a:rPr lang="en-US" dirty="0"/>
              <a:t> </a:t>
            </a:r>
            <a:r>
              <a:rPr lang="en-US" dirty="0" err="1"/>
              <a:t>vidi</a:t>
            </a:r>
            <a:r>
              <a:rPr lang="en-US" dirty="0"/>
              <a:t> 2 </a:t>
            </a:r>
            <a:r>
              <a:rPr lang="en-US" dirty="0" err="1"/>
              <a:t>poruke</a:t>
            </a:r>
            <a:r>
              <a:rPr lang="en-US" dirty="0"/>
              <a:t> </a:t>
            </a:r>
            <a:r>
              <a:rPr lang="en-US" dirty="0" err="1"/>
              <a:t>iz</a:t>
            </a:r>
            <a:r>
              <a:rPr lang="en-US" dirty="0"/>
              <a:t> </a:t>
            </a:r>
            <a:r>
              <a:rPr lang="en-US" dirty="0" err="1"/>
              <a:t>runde</a:t>
            </a:r>
            <a:r>
              <a:rPr lang="en-US" dirty="0"/>
              <a:t> 3, a on je </a:t>
            </a:r>
            <a:r>
              <a:rPr lang="en-US" dirty="0" err="1"/>
              <a:t>još</a:t>
            </a:r>
            <a:r>
              <a:rPr lang="en-US" dirty="0"/>
              <a:t> u </a:t>
            </a:r>
            <a:r>
              <a:rPr lang="en-US" dirty="0" err="1"/>
              <a:t>rundi</a:t>
            </a:r>
            <a:r>
              <a:rPr lang="en-US" dirty="0"/>
              <a:t> 1, on </a:t>
            </a:r>
            <a:r>
              <a:rPr lang="en-US" dirty="0" err="1"/>
              <a:t>prelazi</a:t>
            </a:r>
            <a:r>
              <a:rPr lang="en-US" dirty="0"/>
              <a:t> u </a:t>
            </a:r>
            <a:r>
              <a:rPr lang="en-US" dirty="0" err="1"/>
              <a:t>rundu</a:t>
            </a:r>
            <a:r>
              <a:rPr lang="en-US" dirty="0"/>
              <a:t> 3.</a:t>
            </a:r>
          </a:p>
          <a:p>
            <a:r>
              <a:rPr lang="en-US" dirty="0"/>
              <a:t>Ovo </a:t>
            </a:r>
            <a:r>
              <a:rPr lang="en-US" dirty="0" err="1"/>
              <a:t>pomaže</a:t>
            </a:r>
            <a:r>
              <a:rPr lang="en-US" dirty="0"/>
              <a:t> da se </a:t>
            </a:r>
            <a:r>
              <a:rPr lang="en-US" dirty="0" err="1"/>
              <a:t>čvorovi</a:t>
            </a:r>
            <a:r>
              <a:rPr lang="en-US" dirty="0"/>
              <a:t> </a:t>
            </a:r>
            <a:r>
              <a:rPr lang="en-US" dirty="0" err="1"/>
              <a:t>sinhronizuju</a:t>
            </a:r>
            <a:r>
              <a:rPr lang="en-US" dirty="0"/>
              <a:t> </a:t>
            </a:r>
            <a:r>
              <a:rPr lang="en-US" dirty="0" err="1"/>
              <a:t>i</a:t>
            </a:r>
            <a:r>
              <a:rPr lang="en-US" dirty="0"/>
              <a:t> da </a:t>
            </a:r>
            <a:r>
              <a:rPr lang="en-US" dirty="0" err="1"/>
              <a:t>sporiji</a:t>
            </a:r>
            <a:r>
              <a:rPr lang="en-US" dirty="0"/>
              <a:t> </a:t>
            </a:r>
            <a:r>
              <a:rPr lang="en-US" dirty="0" err="1"/>
              <a:t>čvorovi</a:t>
            </a:r>
            <a:r>
              <a:rPr lang="en-US" dirty="0"/>
              <a:t> </a:t>
            </a:r>
            <a:r>
              <a:rPr lang="en-US" dirty="0" err="1"/>
              <a:t>uhvate</a:t>
            </a:r>
            <a:r>
              <a:rPr lang="en-US" dirty="0"/>
              <a:t> </a:t>
            </a:r>
            <a:r>
              <a:rPr lang="en-US" dirty="0" err="1"/>
              <a:t>korak</a:t>
            </a:r>
            <a:r>
              <a:rPr lang="en-US" dirty="0"/>
              <a:t> </a:t>
            </a:r>
            <a:r>
              <a:rPr lang="en-US" dirty="0" err="1"/>
              <a:t>sa</a:t>
            </a:r>
            <a:r>
              <a:rPr lang="en-US" dirty="0"/>
              <a:t> </a:t>
            </a:r>
            <a:r>
              <a:rPr lang="en-US" dirty="0" err="1"/>
              <a:t>mrežom</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Timeout-</a:t>
            </a:r>
            <a:r>
              <a:rPr lang="en-US" dirty="0" err="1"/>
              <a:t>i</a:t>
            </a:r>
            <a:r>
              <a:rPr lang="en-US" dirty="0"/>
              <a:t> </a:t>
            </a:r>
            <a:r>
              <a:rPr lang="en-US" dirty="0" err="1"/>
              <a:t>sprečavaju</a:t>
            </a:r>
            <a:r>
              <a:rPr lang="en-US" dirty="0"/>
              <a:t> da </a:t>
            </a:r>
            <a:r>
              <a:rPr lang="en-US" dirty="0" err="1"/>
              <a:t>algoritam</a:t>
            </a:r>
            <a:r>
              <a:rPr lang="en-US" dirty="0"/>
              <a:t> </a:t>
            </a:r>
            <a:r>
              <a:rPr lang="en-US" dirty="0" err="1"/>
              <a:t>zauvek</a:t>
            </a:r>
            <a:r>
              <a:rPr lang="en-US" dirty="0"/>
              <a:t> </a:t>
            </a:r>
            <a:r>
              <a:rPr lang="en-US" dirty="0" err="1"/>
              <a:t>čeka</a:t>
            </a:r>
            <a:endParaRPr lang="en-US" dirty="0"/>
          </a:p>
          <a:p>
            <a:r>
              <a:rPr lang="en-US" dirty="0"/>
              <a:t>Ako </a:t>
            </a:r>
            <a:r>
              <a:rPr lang="en-US" dirty="0" err="1"/>
              <a:t>su</a:t>
            </a:r>
            <a:r>
              <a:rPr lang="en-US" dirty="0"/>
              <a:t> timeout-</a:t>
            </a:r>
            <a:r>
              <a:rPr lang="en-US" dirty="0" err="1"/>
              <a:t>i</a:t>
            </a:r>
            <a:r>
              <a:rPr lang="en-US" dirty="0"/>
              <a:t> </a:t>
            </a:r>
            <a:r>
              <a:rPr lang="en-US" dirty="0" err="1"/>
              <a:t>prekratki</a:t>
            </a:r>
            <a:r>
              <a:rPr lang="en-US" dirty="0"/>
              <a:t>, </a:t>
            </a:r>
            <a:r>
              <a:rPr lang="en-US" dirty="0" err="1"/>
              <a:t>čvorovi</a:t>
            </a:r>
            <a:r>
              <a:rPr lang="en-US" dirty="0"/>
              <a:t> </a:t>
            </a:r>
            <a:r>
              <a:rPr lang="en-US" dirty="0" err="1"/>
              <a:t>mogu</a:t>
            </a:r>
            <a:r>
              <a:rPr lang="en-US" dirty="0"/>
              <a:t> </a:t>
            </a:r>
            <a:r>
              <a:rPr lang="en-US" dirty="0" err="1"/>
              <a:t>prerano</a:t>
            </a:r>
            <a:r>
              <a:rPr lang="en-US" dirty="0"/>
              <a:t> </a:t>
            </a:r>
            <a:r>
              <a:rPr lang="en-US" dirty="0" err="1"/>
              <a:t>odustajati</a:t>
            </a:r>
            <a:r>
              <a:rPr lang="en-US" dirty="0"/>
              <a:t>. Ali </a:t>
            </a:r>
            <a:r>
              <a:rPr lang="en-US" dirty="0" err="1"/>
              <a:t>kako</a:t>
            </a:r>
            <a:r>
              <a:rPr lang="en-US" dirty="0"/>
              <a:t> </a:t>
            </a:r>
            <a:r>
              <a:rPr lang="en-US" dirty="0" err="1"/>
              <a:t>runde</a:t>
            </a:r>
            <a:r>
              <a:rPr lang="en-US" dirty="0"/>
              <a:t> </a:t>
            </a:r>
            <a:r>
              <a:rPr lang="en-US" dirty="0" err="1"/>
              <a:t>prolaze</a:t>
            </a:r>
            <a:r>
              <a:rPr lang="en-US" dirty="0"/>
              <a:t>, timeout-</a:t>
            </a:r>
            <a:r>
              <a:rPr lang="en-US" dirty="0" err="1"/>
              <a:t>i</a:t>
            </a:r>
            <a:r>
              <a:rPr lang="en-US" dirty="0"/>
              <a:t> </a:t>
            </a:r>
            <a:r>
              <a:rPr lang="en-US" dirty="0" err="1"/>
              <a:t>rastu</a:t>
            </a:r>
            <a:r>
              <a:rPr lang="en-US" dirty="0"/>
              <a:t>. Na </a:t>
            </a:r>
            <a:r>
              <a:rPr lang="en-US" dirty="0" err="1"/>
              <a:t>kraju</a:t>
            </a:r>
            <a:r>
              <a:rPr lang="en-US" dirty="0"/>
              <a:t> </a:t>
            </a:r>
            <a:r>
              <a:rPr lang="en-US" dirty="0" err="1"/>
              <a:t>će</a:t>
            </a:r>
            <a:r>
              <a:rPr lang="en-US" dirty="0"/>
              <a:t> </a:t>
            </a:r>
            <a:r>
              <a:rPr lang="en-US" dirty="0" err="1"/>
              <a:t>biti</a:t>
            </a:r>
            <a:r>
              <a:rPr lang="en-US" dirty="0"/>
              <a:t> </a:t>
            </a:r>
            <a:r>
              <a:rPr lang="en-US" dirty="0" err="1"/>
              <a:t>dovoljno</a:t>
            </a:r>
            <a:r>
              <a:rPr lang="en-US" dirty="0"/>
              <a:t> </a:t>
            </a:r>
            <a:r>
              <a:rPr lang="en-US" dirty="0" err="1"/>
              <a:t>dugi</a:t>
            </a:r>
            <a:r>
              <a:rPr lang="en-US" dirty="0"/>
              <a:t> da </a:t>
            </a:r>
            <a:r>
              <a:rPr lang="en-US" dirty="0" err="1"/>
              <a:t>ispravni</a:t>
            </a:r>
            <a:r>
              <a:rPr lang="en-US" dirty="0"/>
              <a:t> proposer </a:t>
            </a:r>
            <a:r>
              <a:rPr lang="en-US" dirty="0" err="1"/>
              <a:t>pošalje</a:t>
            </a:r>
            <a:r>
              <a:rPr lang="en-US" dirty="0"/>
              <a:t> proposal, da </a:t>
            </a:r>
            <a:r>
              <a:rPr lang="en-US" dirty="0" err="1"/>
              <a:t>svi</a:t>
            </a:r>
            <a:r>
              <a:rPr lang="en-US" dirty="0"/>
              <a:t> prime </a:t>
            </a:r>
            <a:r>
              <a:rPr lang="en-US" dirty="0" err="1"/>
              <a:t>poruke</a:t>
            </a:r>
            <a:r>
              <a:rPr lang="en-US" dirty="0"/>
              <a:t> </a:t>
            </a:r>
            <a:r>
              <a:rPr lang="en-US" dirty="0" err="1"/>
              <a:t>i</a:t>
            </a:r>
            <a:r>
              <a:rPr lang="en-US" dirty="0"/>
              <a:t> da se </a:t>
            </a:r>
            <a:r>
              <a:rPr lang="en-US" dirty="0" err="1"/>
              <a:t>odluči</a:t>
            </a:r>
            <a:r>
              <a:rPr lang="en-US" dirty="0"/>
              <a:t> </a:t>
            </a:r>
            <a:r>
              <a:rPr lang="en-US" dirty="0" err="1"/>
              <a:t>vrednost</a:t>
            </a:r>
            <a:r>
              <a:rPr lang="en-US" dirty="0"/>
              <a:t>.
"Pravila C i F su samo OKIDACI: cim prvi put vidim 2f+1 PREVOTE, pokrenem timeoutPrevote; cim prvi put 2f+1 PRECOMMIT, pokrenem timeoutPrecommit. 'Prvi put' je bitno - inace bi se vrtelo zauvek.
Pravilo I kaze sta se desi kad tajmaut ISTEKNE. Tri funkcije: timeoutPropose istekne - PREVOTE nil. timeoutPrevote istekne - PRECOMMIT nil. timeoutPrecommit istekne - sledeca runda. Svaka prvo proveri jesu li visina i runda jos aktuelni, da ignorise zastarele tajmaute."
Zatvori: 'timeoutX od r je init plus r puta delta - tajmauti RASTU sa rundom, pa na kraju premase stvarno kasnjenje delta. To je tehnicki preduslov da algoritam zavrsi - videcemo u osobinama'.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spojimo sve procitano u jednu rundu. Korak jedan, propose: pravilo A - predlagac salje PROPOSAL. Korak dva, prevote: pravila B - glasas PREVOTE; cim sakupis 2f+1, pravilo D te zakljucava i salje PRECOMMIT. Korak tri, precommit: pravilo G - cim sakupis 2f+1 PRECOMMIT za istu vrednost, ODLUKA.
To je srecan put - tri koraka, jedna runda."
"A ako bilo gde nema dovoljno glasova - uskace tajmaut iz pravila I: posalje se nil i prelazi u sledecu rundu, sa novim predlagacem. Zato algoritam nikad ne stane zauvek."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vazi UVEK, liveness tek posle GST. To je i odgovor na FLP.
"Osobine algoritma dele se u dve klase - to je standardna podela u distribuiranim sistemima.
Bezbednost, safety, znaci 'nista lose se nikad ne desi'. Ovde su dva svojstva: saglasnost - da se dva postena nikad ne razidu u odluci, i validnost - da je odluceno uvek nesto ispravno. Kljucno: bezbednost vazi UVEK, cak i pre GST, u potpunom mreznom haosu.
Zivost, liveness, znaci 'nesto dobro se na kraju desi' - kod nas terminacija, da svi na kraju odluce. Ali zivost se garantuje TEK posle GST, kad se mreza smiri. Pre toga algoritam radije ceka nego da napravi gresku."
Naglasi FLP vezu (donja traka): "Bas ova podela je trik kojim se zaobilazi cuvena FLP teorema - da je konsenzus nemoguc u potpuno asinhronoj mrezi. Tendermint NE obecava i jedno i drugo u punoj asinhroniji: safety daje bezuslovno, a liveness vezuje za sinhroni period posle GST. Time legalno zaobilazi FLP."
</a:t>
            </a:r>
            <a:r>
              <a:rPr lang="en-US" dirty="0" err="1"/>
              <a:t>Sledeca</a:t>
            </a:r>
            <a:r>
              <a:rPr lang="en-US" dirty="0"/>
              <a:t> tri </a:t>
            </a:r>
            <a:r>
              <a:rPr lang="en-US" dirty="0" err="1"/>
              <a:t>slajda</a:t>
            </a:r>
            <a:r>
              <a:rPr lang="en-US" dirty="0"/>
              <a:t> </a:t>
            </a:r>
            <a:r>
              <a:rPr lang="en-US" dirty="0" err="1"/>
              <a:t>dokazuju</a:t>
            </a:r>
            <a:r>
              <a:rPr lang="en-US" dirty="0"/>
              <a:t> ova </a:t>
            </a:r>
            <a:r>
              <a:rPr lang="en-US" dirty="0" err="1"/>
              <a:t>svojstva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"Sve osobine bezbednosti pocivaju na jednoj lemi - preseku kvoruma. Tvrdnja: bilo koja dva skupa procesa, svaki sa moci bar 2f+1, dele bar jedan posten proces.
Dokaz je aritmetika. Saberem dva kvoruma: dva puta 2f+1 je 4f+2, sto je 3f+1 plus f+1, a 3f+1 je n. Dakle zbir je n plus f+1. Posto ukupno ima samo n mesta, presek mora imati bar f+1 moci. A posto je zlonamernih najvise f, tih f+1 u preseku sadrzi bar jednog postenog."
Poenta: "Taj posteni cvor u preseku je 'svedok' koji povezuje dva kvoruma. Posto je posten, ne moze glasati za dve razlicite vrednosti - i bas to sprecava da se dve grupe raziđu. Zato nam treba vise od dve trecine postenih, otud 3f+1."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Prva osobina bezbednosti - saglasnost. Daj strukturu (kako se leme sklapaju), ne svaki simbol.
"Prva osobina je saglasnost - da dva postena nikad ne odluce razlicito. Dokaz se sklapa iz dve leme. Lema 1 vec znamo - presek kvoruma. Lema 2 dodaje: kad se posten jednom zakljuca na v, u svim kasnijim rundama glasa samo za v ili nil. Iz toga sledi Lema 3, saglasnost.
Kako? Pretpostavimo da je p odlucio v, a q vrednost v'. Oba su morala videti 2f+1 PRECOMMIT. Po Lemi 1 ta dva skupa dele postenog, a on salje samo jedan PRECOMMIT - dakle v i v' su ista vrednost. Za odluke u razlicitim rundama, Lema 2 garantuje da druga vrednost ne moze ni da skupi glasove ako bi bila u sukobu."
Recenica za pamcenje: 'saglasnost = presek kvoruma plus dosledno zakljucavanje'.
Validnost (donja traka): "Validnost je trivijalna - u kodu se odluka, pravilo G, desava samo unutar provere valid. Dakle sve sto se odluci po definiciji prolazi proveru."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klasa - zivost. Tri leme koje se nadovezuju, kao tri koraka intuicije.
"Druga osobina je terminacija - da svi na kraju odluce. Tri leme.
Lema 5 je 'recept za uspeh': ako su uslovi dobri - prosli smo GST, lider runde je posten, tajmauti dovoljno veliki, veci od dva delta - onda svi odluce u toj rundi, i to brzo.
Lema 6 je tehnicki najteza: ako jedan posten zakljuca v, SVI posteni postave validValue na v pre nego sto napuste rundu. Dokaz poredi vreme - zakljucavanje ide sporo, izlazak iz runde jos sporije, pa svi stignu da uhvate validValue. Tako informacija ne ispadne kroz pukotine.
Lema 7 spaja sve: posle GST se uslovi Leme 5 pre ili kasnije ostvare - ili niko nije zakljucao pa je dobar predlagac slobodan, ili je Lema 6 svima usadila istu validValue. U oba slucaja, dolazi runda u kojoj svi odluce."
Zatvori: 'zivost stoji na tri stuba - validValue se rasiri svima, uvek postoji dobar predlagac, i tajmauti rastu dok ne premase delta'. I podsetnik: zivost zavisi od GST, bezbednost 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Prvo</a:t>
            </a:r>
            <a:r>
              <a:rPr lang="en-US" dirty="0"/>
              <a:t>, broj poruka: posto svaki cvor salje svaki glas svima preko gossipa, imamo n na kvadrat poruka po rundi. To je cena jednostavnosti. Za jako velike mreze je usko grlo, pa novije sheme - recimo SBFT - koriste BLS agregaciju potpisa da to smanje.
Drugo, latencija: u dobrom slucaju odluka pada za tri komunikacione razmene. To je optimalno za ovu klasu algoritama, isto kao PBFT.
Trece, jedan mod rada: promena lidera je obican prelaz u sledecu rundu, nema posebnog komplikovanog recovery moda kao PBFT view-change. Zato je jednostavniji za implementaciju.
Cetvrto, velicina poruka: samo PROPOSAL nosi ceo blok; glasovi nose samo hes. Mnogo manje podataka po mrezi."
Posten kompromis ako pitaju mane: O(n^2) je glavno ogranicenje skalabilnosti; to je svesna razmena za jednostavnost i jak terminacioni mehanizam.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za pitanja. Drzi ga (ili prethodnu tabelu) na ekranu tokom diskusije.
Tri najverovatnija pitanja i gde su odgovori:
- Zasto 3f+1 / FLP -&gt; slajd 17 (i Lema 1, slajd 13).
- Kako se garantuje saglasnost/terminacija -&gt; slajdovi 14 i 15, ili tabela 18.
- Slozenost / zasto O(n^2) -&gt; slajd 16.
Ako zatreba, vrati se na tabelu osobina (slajd 18) - skoro svako pitanje se moze vezati za neki njen red.
Ako padne pitanje van okvira: 'odlicno pitanje, to izlazi iz okvira rada koji sam obradila, ali pretpostavljam da bi se reslo ovako...' i logicki rezonuj. Bolje nego izmisljati.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flipV="1">
            <a:off x="6126480" y="457200"/>
            <a:ext cx="1110996" cy="246888"/>
          </a:xfrm>
          <a:prstGeom prst="line">
            <a:avLst/>
          </a:prstGeom>
          <a:noFill/>
          <a:ln w="12700">
            <a:solidFill>
              <a:srgbClr val="5EEAD4">
                <a:alpha val="52000"/>
              </a:srgbClr>
            </a:solidFill>
            <a:prstDash val="solid"/>
          </a:ln>
        </p:spPr>
      </p:sp>
      <p:sp>
        <p:nvSpPr>
          <p:cNvPr id="3" name="Shape 1"/>
          <p:cNvSpPr/>
          <p:nvPr/>
        </p:nvSpPr>
        <p:spPr>
          <a:xfrm>
            <a:off x="7237476" y="457200"/>
            <a:ext cx="987552" cy="617220"/>
          </a:xfrm>
          <a:prstGeom prst="line">
            <a:avLst/>
          </a:prstGeom>
          <a:noFill/>
          <a:ln w="12700">
            <a:solidFill>
              <a:srgbClr val="5EEAD4">
                <a:alpha val="52000"/>
              </a:srgbClr>
            </a:solidFill>
            <a:prstDash val="solid"/>
          </a:ln>
        </p:spPr>
      </p:sp>
      <p:sp>
        <p:nvSpPr>
          <p:cNvPr id="4" name="Shape 2"/>
          <p:cNvSpPr/>
          <p:nvPr/>
        </p:nvSpPr>
        <p:spPr>
          <a:xfrm>
            <a:off x="6126480" y="704088"/>
            <a:ext cx="370332" cy="987552"/>
          </a:xfrm>
          <a:prstGeom prst="line">
            <a:avLst/>
          </a:prstGeom>
          <a:noFill/>
          <a:ln w="12700">
            <a:solidFill>
              <a:srgbClr val="5EEAD4">
                <a:alpha val="52000"/>
              </a:srgbClr>
            </a:solidFill>
            <a:prstDash val="solid"/>
          </a:ln>
        </p:spPr>
      </p:sp>
      <p:sp>
        <p:nvSpPr>
          <p:cNvPr id="5" name="Shape 3"/>
          <p:cNvSpPr/>
          <p:nvPr/>
        </p:nvSpPr>
        <p:spPr>
          <a:xfrm flipV="1">
            <a:off x="6496812" y="457200"/>
            <a:ext cx="740664" cy="1234440"/>
          </a:xfrm>
          <a:prstGeom prst="line">
            <a:avLst/>
          </a:prstGeom>
          <a:noFill/>
          <a:ln w="12700">
            <a:solidFill>
              <a:srgbClr val="5EEAD4">
                <a:alpha val="52000"/>
              </a:srgbClr>
            </a:solidFill>
            <a:prstDash val="solid"/>
          </a:ln>
        </p:spPr>
      </p:sp>
      <p:sp>
        <p:nvSpPr>
          <p:cNvPr id="6" name="Shape 4"/>
          <p:cNvSpPr/>
          <p:nvPr/>
        </p:nvSpPr>
        <p:spPr>
          <a:xfrm flipV="1">
            <a:off x="7607808" y="1074420"/>
            <a:ext cx="617220" cy="740664"/>
          </a:xfrm>
          <a:prstGeom prst="line">
            <a:avLst/>
          </a:prstGeom>
          <a:noFill/>
          <a:ln w="12700">
            <a:solidFill>
              <a:srgbClr val="5EEAD4">
                <a:alpha val="52000"/>
              </a:srgbClr>
            </a:solidFill>
            <a:prstDash val="solid"/>
          </a:ln>
        </p:spPr>
      </p:sp>
      <p:sp>
        <p:nvSpPr>
          <p:cNvPr id="7" name="Shape 5"/>
          <p:cNvSpPr/>
          <p:nvPr/>
        </p:nvSpPr>
        <p:spPr>
          <a:xfrm>
            <a:off x="6496812" y="1691640"/>
            <a:ext cx="1110996" cy="123444"/>
          </a:xfrm>
          <a:prstGeom prst="line">
            <a:avLst/>
          </a:prstGeom>
          <a:noFill/>
          <a:ln w="12700">
            <a:solidFill>
              <a:srgbClr val="5EEAD4">
                <a:alpha val="52000"/>
              </a:srgbClr>
            </a:solidFill>
            <a:prstDash val="solid"/>
          </a:ln>
        </p:spPr>
      </p:sp>
      <p:sp>
        <p:nvSpPr>
          <p:cNvPr id="8" name="Shape 6"/>
          <p:cNvSpPr/>
          <p:nvPr/>
        </p:nvSpPr>
        <p:spPr>
          <a:xfrm>
            <a:off x="7607808" y="1815084"/>
            <a:ext cx="1110996" cy="185166"/>
          </a:xfrm>
          <a:prstGeom prst="line">
            <a:avLst/>
          </a:prstGeom>
          <a:noFill/>
          <a:ln w="12700">
            <a:solidFill>
              <a:srgbClr val="5EEAD4">
                <a:alpha val="52000"/>
              </a:srgbClr>
            </a:solidFill>
            <a:prstDash val="solid"/>
          </a:ln>
        </p:spPr>
      </p:sp>
      <p:sp>
        <p:nvSpPr>
          <p:cNvPr id="9" name="Shape 7"/>
          <p:cNvSpPr/>
          <p:nvPr/>
        </p:nvSpPr>
        <p:spPr>
          <a:xfrm>
            <a:off x="8225028" y="1074420"/>
            <a:ext cx="493776" cy="925830"/>
          </a:xfrm>
          <a:prstGeom prst="line">
            <a:avLst/>
          </a:prstGeom>
          <a:noFill/>
          <a:ln w="12700">
            <a:solidFill>
              <a:srgbClr val="5EEAD4">
                <a:alpha val="52000"/>
              </a:srgbClr>
            </a:solidFill>
            <a:prstDash val="solid"/>
          </a:ln>
        </p:spPr>
      </p:sp>
      <p:sp>
        <p:nvSpPr>
          <p:cNvPr id="10" name="Shape 8"/>
          <p:cNvSpPr/>
          <p:nvPr/>
        </p:nvSpPr>
        <p:spPr>
          <a:xfrm>
            <a:off x="6067044" y="644652"/>
            <a:ext cx="118872" cy="118872"/>
          </a:xfrm>
          <a:prstGeom prst="ellipse">
            <a:avLst/>
          </a:prstGeom>
          <a:solidFill>
            <a:srgbClr val="5EEAD4">
              <a:alpha val="52000"/>
            </a:srgbClr>
          </a:solidFill>
          <a:ln/>
        </p:spPr>
      </p:sp>
      <p:sp>
        <p:nvSpPr>
          <p:cNvPr id="11" name="Shape 9"/>
          <p:cNvSpPr/>
          <p:nvPr/>
        </p:nvSpPr>
        <p:spPr>
          <a:xfrm>
            <a:off x="7196328" y="416052"/>
            <a:ext cx="82296" cy="82296"/>
          </a:xfrm>
          <a:prstGeom prst="ellipse">
            <a:avLst/>
          </a:prstGeom>
          <a:solidFill>
            <a:srgbClr val="16BFA6">
              <a:alpha val="52000"/>
            </a:srgbClr>
          </a:solidFill>
          <a:ln/>
        </p:spPr>
      </p:sp>
      <p:sp>
        <p:nvSpPr>
          <p:cNvPr id="12" name="Shape 10"/>
          <p:cNvSpPr/>
          <p:nvPr/>
        </p:nvSpPr>
        <p:spPr>
          <a:xfrm>
            <a:off x="8183880" y="1033272"/>
            <a:ext cx="82296" cy="82296"/>
          </a:xfrm>
          <a:prstGeom prst="ellipse">
            <a:avLst/>
          </a:prstGeom>
          <a:solidFill>
            <a:srgbClr val="5EEAD4">
              <a:alpha val="52000"/>
            </a:srgbClr>
          </a:solidFill>
          <a:ln/>
        </p:spPr>
      </p:sp>
      <p:sp>
        <p:nvSpPr>
          <p:cNvPr id="13" name="Shape 11"/>
          <p:cNvSpPr/>
          <p:nvPr/>
        </p:nvSpPr>
        <p:spPr>
          <a:xfrm>
            <a:off x="7548372" y="1755648"/>
            <a:ext cx="118872" cy="118872"/>
          </a:xfrm>
          <a:prstGeom prst="ellipse">
            <a:avLst/>
          </a:prstGeom>
          <a:solidFill>
            <a:srgbClr val="16BFA6">
              <a:alpha val="52000"/>
            </a:srgbClr>
          </a:solidFill>
          <a:ln/>
        </p:spPr>
      </p:sp>
      <p:sp>
        <p:nvSpPr>
          <p:cNvPr id="14" name="Shape 12"/>
          <p:cNvSpPr/>
          <p:nvPr/>
        </p:nvSpPr>
        <p:spPr>
          <a:xfrm>
            <a:off x="6455664" y="1650492"/>
            <a:ext cx="82296" cy="82296"/>
          </a:xfrm>
          <a:prstGeom prst="ellipse">
            <a:avLst/>
          </a:prstGeom>
          <a:solidFill>
            <a:srgbClr val="5EEAD4">
              <a:alpha val="52000"/>
            </a:srgbClr>
          </a:solidFill>
          <a:ln/>
        </p:spPr>
      </p:sp>
      <p:sp>
        <p:nvSpPr>
          <p:cNvPr id="15" name="Shape 13"/>
          <p:cNvSpPr/>
          <p:nvPr/>
        </p:nvSpPr>
        <p:spPr>
          <a:xfrm>
            <a:off x="8677656" y="1959102"/>
            <a:ext cx="82296" cy="82296"/>
          </a:xfrm>
          <a:prstGeom prst="ellipse">
            <a:avLst/>
          </a:prstGeom>
          <a:solidFill>
            <a:srgbClr val="16BFA6">
              <a:alpha val="52000"/>
            </a:srgbClr>
          </a:solidFill>
          <a:ln/>
        </p:spPr>
      </p:sp>
      <p:sp>
        <p:nvSpPr>
          <p:cNvPr id="16" name="Shape 14"/>
          <p:cNvSpPr/>
          <p:nvPr/>
        </p:nvSpPr>
        <p:spPr>
          <a:xfrm flipV="1">
            <a:off x="228600" y="3383280"/>
            <a:ext cx="864108" cy="192024"/>
          </a:xfrm>
          <a:prstGeom prst="line">
            <a:avLst/>
          </a:prstGeom>
          <a:noFill/>
          <a:ln w="12700">
            <a:solidFill>
              <a:srgbClr val="5EEAD4">
                <a:alpha val="30000"/>
              </a:srgbClr>
            </a:solidFill>
            <a:prstDash val="solid"/>
          </a:ln>
        </p:spPr>
      </p:sp>
      <p:sp>
        <p:nvSpPr>
          <p:cNvPr id="17" name="Shape 15"/>
          <p:cNvSpPr/>
          <p:nvPr/>
        </p:nvSpPr>
        <p:spPr>
          <a:xfrm>
            <a:off x="1092708" y="3383280"/>
            <a:ext cx="768096" cy="480060"/>
          </a:xfrm>
          <a:prstGeom prst="line">
            <a:avLst/>
          </a:prstGeom>
          <a:noFill/>
          <a:ln w="12700">
            <a:solidFill>
              <a:srgbClr val="5EEAD4">
                <a:alpha val="30000"/>
              </a:srgbClr>
            </a:solidFill>
            <a:prstDash val="solid"/>
          </a:ln>
        </p:spPr>
      </p:sp>
      <p:sp>
        <p:nvSpPr>
          <p:cNvPr id="18" name="Shape 16"/>
          <p:cNvSpPr/>
          <p:nvPr/>
        </p:nvSpPr>
        <p:spPr>
          <a:xfrm>
            <a:off x="228600" y="3575304"/>
            <a:ext cx="288036" cy="768096"/>
          </a:xfrm>
          <a:prstGeom prst="line">
            <a:avLst/>
          </a:prstGeom>
          <a:noFill/>
          <a:ln w="12700">
            <a:solidFill>
              <a:srgbClr val="5EEAD4">
                <a:alpha val="30000"/>
              </a:srgbClr>
            </a:solidFill>
            <a:prstDash val="solid"/>
          </a:ln>
        </p:spPr>
      </p:sp>
      <p:sp>
        <p:nvSpPr>
          <p:cNvPr id="19" name="Shape 17"/>
          <p:cNvSpPr/>
          <p:nvPr/>
        </p:nvSpPr>
        <p:spPr>
          <a:xfrm flipV="1">
            <a:off x="516636" y="3383280"/>
            <a:ext cx="576072" cy="960120"/>
          </a:xfrm>
          <a:prstGeom prst="line">
            <a:avLst/>
          </a:prstGeom>
          <a:noFill/>
          <a:ln w="12700">
            <a:solidFill>
              <a:srgbClr val="5EEAD4">
                <a:alpha val="30000"/>
              </a:srgbClr>
            </a:solidFill>
            <a:prstDash val="solid"/>
          </a:ln>
        </p:spPr>
      </p:sp>
      <p:sp>
        <p:nvSpPr>
          <p:cNvPr id="20" name="Shape 18"/>
          <p:cNvSpPr/>
          <p:nvPr/>
        </p:nvSpPr>
        <p:spPr>
          <a:xfrm flipV="1">
            <a:off x="1380744" y="3863340"/>
            <a:ext cx="480060" cy="576072"/>
          </a:xfrm>
          <a:prstGeom prst="line">
            <a:avLst/>
          </a:prstGeom>
          <a:noFill/>
          <a:ln w="12700">
            <a:solidFill>
              <a:srgbClr val="5EEAD4">
                <a:alpha val="30000"/>
              </a:srgbClr>
            </a:solidFill>
            <a:prstDash val="solid"/>
          </a:ln>
        </p:spPr>
      </p:sp>
      <p:sp>
        <p:nvSpPr>
          <p:cNvPr id="21" name="Shape 19"/>
          <p:cNvSpPr/>
          <p:nvPr/>
        </p:nvSpPr>
        <p:spPr>
          <a:xfrm>
            <a:off x="516636" y="4343400"/>
            <a:ext cx="864108" cy="96012"/>
          </a:xfrm>
          <a:prstGeom prst="line">
            <a:avLst/>
          </a:prstGeom>
          <a:noFill/>
          <a:ln w="12700">
            <a:solidFill>
              <a:srgbClr val="5EEAD4">
                <a:alpha val="30000"/>
              </a:srgbClr>
            </a:solidFill>
            <a:prstDash val="solid"/>
          </a:ln>
        </p:spPr>
      </p:sp>
      <p:sp>
        <p:nvSpPr>
          <p:cNvPr id="22" name="Shape 20"/>
          <p:cNvSpPr/>
          <p:nvPr/>
        </p:nvSpPr>
        <p:spPr>
          <a:xfrm>
            <a:off x="1380744" y="4439412"/>
            <a:ext cx="864108" cy="144018"/>
          </a:xfrm>
          <a:prstGeom prst="line">
            <a:avLst/>
          </a:prstGeom>
          <a:noFill/>
          <a:ln w="12700">
            <a:solidFill>
              <a:srgbClr val="5EEAD4">
                <a:alpha val="30000"/>
              </a:srgbClr>
            </a:solidFill>
            <a:prstDash val="solid"/>
          </a:ln>
        </p:spPr>
      </p:sp>
      <p:sp>
        <p:nvSpPr>
          <p:cNvPr id="23" name="Shape 21"/>
          <p:cNvSpPr/>
          <p:nvPr/>
        </p:nvSpPr>
        <p:spPr>
          <a:xfrm>
            <a:off x="1860804" y="3863340"/>
            <a:ext cx="384048" cy="720090"/>
          </a:xfrm>
          <a:prstGeom prst="line">
            <a:avLst/>
          </a:prstGeom>
          <a:noFill/>
          <a:ln w="12700">
            <a:solidFill>
              <a:srgbClr val="5EEAD4">
                <a:alpha val="30000"/>
              </a:srgbClr>
            </a:solidFill>
            <a:prstDash val="solid"/>
          </a:ln>
        </p:spPr>
      </p:sp>
      <p:sp>
        <p:nvSpPr>
          <p:cNvPr id="24" name="Shape 22"/>
          <p:cNvSpPr/>
          <p:nvPr/>
        </p:nvSpPr>
        <p:spPr>
          <a:xfrm>
            <a:off x="169164" y="3515868"/>
            <a:ext cx="118872" cy="118872"/>
          </a:xfrm>
          <a:prstGeom prst="ellipse">
            <a:avLst/>
          </a:prstGeom>
          <a:solidFill>
            <a:srgbClr val="5EEAD4">
              <a:alpha val="30000"/>
            </a:srgbClr>
          </a:solidFill>
          <a:ln/>
        </p:spPr>
      </p:sp>
      <p:sp>
        <p:nvSpPr>
          <p:cNvPr id="25" name="Shape 23"/>
          <p:cNvSpPr/>
          <p:nvPr/>
        </p:nvSpPr>
        <p:spPr>
          <a:xfrm>
            <a:off x="1051560" y="3342132"/>
            <a:ext cx="82296" cy="82296"/>
          </a:xfrm>
          <a:prstGeom prst="ellipse">
            <a:avLst/>
          </a:prstGeom>
          <a:solidFill>
            <a:srgbClr val="16BFA6">
              <a:alpha val="30000"/>
            </a:srgbClr>
          </a:solidFill>
          <a:ln/>
        </p:spPr>
      </p:sp>
      <p:sp>
        <p:nvSpPr>
          <p:cNvPr id="26" name="Shape 24"/>
          <p:cNvSpPr/>
          <p:nvPr/>
        </p:nvSpPr>
        <p:spPr>
          <a:xfrm>
            <a:off x="1819656" y="3822192"/>
            <a:ext cx="82296" cy="82296"/>
          </a:xfrm>
          <a:prstGeom prst="ellipse">
            <a:avLst/>
          </a:prstGeom>
          <a:solidFill>
            <a:srgbClr val="5EEAD4">
              <a:alpha val="30000"/>
            </a:srgbClr>
          </a:solidFill>
          <a:ln/>
        </p:spPr>
      </p:sp>
      <p:sp>
        <p:nvSpPr>
          <p:cNvPr id="27" name="Shape 25"/>
          <p:cNvSpPr/>
          <p:nvPr/>
        </p:nvSpPr>
        <p:spPr>
          <a:xfrm>
            <a:off x="1321308" y="4379976"/>
            <a:ext cx="118872" cy="118872"/>
          </a:xfrm>
          <a:prstGeom prst="ellipse">
            <a:avLst/>
          </a:prstGeom>
          <a:solidFill>
            <a:srgbClr val="16BFA6">
              <a:alpha val="30000"/>
            </a:srgbClr>
          </a:solidFill>
          <a:ln/>
        </p:spPr>
      </p:sp>
      <p:sp>
        <p:nvSpPr>
          <p:cNvPr id="28" name="Shape 26"/>
          <p:cNvSpPr/>
          <p:nvPr/>
        </p:nvSpPr>
        <p:spPr>
          <a:xfrm>
            <a:off x="475488" y="4302252"/>
            <a:ext cx="82296" cy="82296"/>
          </a:xfrm>
          <a:prstGeom prst="ellipse">
            <a:avLst/>
          </a:prstGeom>
          <a:solidFill>
            <a:srgbClr val="5EEAD4">
              <a:alpha val="30000"/>
            </a:srgbClr>
          </a:solidFill>
          <a:ln/>
        </p:spPr>
      </p:sp>
      <p:sp>
        <p:nvSpPr>
          <p:cNvPr id="29" name="Shape 27"/>
          <p:cNvSpPr/>
          <p:nvPr/>
        </p:nvSpPr>
        <p:spPr>
          <a:xfrm>
            <a:off x="2203704" y="4542282"/>
            <a:ext cx="82296" cy="82296"/>
          </a:xfrm>
          <a:prstGeom prst="ellipse">
            <a:avLst/>
          </a:prstGeom>
          <a:solidFill>
            <a:srgbClr val="16BFA6">
              <a:alpha val="30000"/>
            </a:srgbClr>
          </a:solidFill>
          <a:ln/>
        </p:spPr>
      </p:sp>
      <p:sp>
        <p:nvSpPr>
          <p:cNvPr id="30" name="Text 28"/>
          <p:cNvSpPr/>
          <p:nvPr/>
        </p:nvSpPr>
        <p:spPr>
          <a:xfrm>
            <a:off x="640080" y="960120"/>
            <a:ext cx="7863840" cy="320040"/>
          </a:xfrm>
          <a:prstGeom prst="rect">
            <a:avLst/>
          </a:prstGeom>
          <a:noFill/>
          <a:ln/>
        </p:spPr>
        <p:txBody>
          <a:bodyPr wrap="square" lIns="0" tIns="0" rIns="0" bIns="0" rtlCol="0" anchor="ctr"/>
          <a:lstStyle/>
          <a:p>
            <a:pPr marL="0" indent="0">
              <a:buNone/>
            </a:pPr>
            <a:r>
              <a:rPr lang="en-US" sz="1300" b="1" kern="0" spc="300" dirty="0">
                <a:solidFill>
                  <a:srgbClr val="5EEAD4"/>
                </a:solidFill>
                <a:latin typeface="Calibri" pitchFamily="34" charset="0"/>
                <a:ea typeface="Calibri" pitchFamily="34" charset="-122"/>
                <a:cs typeface="Calibri" pitchFamily="34" charset="-120"/>
              </a:rPr>
              <a:t>ANALIZA ALGORITMA</a:t>
            </a:r>
            <a:endParaRPr lang="en-US" sz="1300" dirty="0"/>
          </a:p>
        </p:txBody>
      </p:sp>
      <p:sp>
        <p:nvSpPr>
          <p:cNvPr id="31" name="Text 29"/>
          <p:cNvSpPr/>
          <p:nvPr/>
        </p:nvSpPr>
        <p:spPr>
          <a:xfrm>
            <a:off x="603504" y="1325880"/>
            <a:ext cx="795528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Tendermint BFT</a:t>
            </a:r>
            <a:endParaRPr lang="en-US" sz="5400" dirty="0"/>
          </a:p>
        </p:txBody>
      </p:sp>
      <p:sp>
        <p:nvSpPr>
          <p:cNvPr id="32" name="Text 30"/>
          <p:cNvSpPr/>
          <p:nvPr/>
        </p:nvSpPr>
        <p:spPr>
          <a:xfrm>
            <a:off x="640080" y="2286000"/>
            <a:ext cx="7863840" cy="548640"/>
          </a:xfrm>
          <a:prstGeom prst="rect">
            <a:avLst/>
          </a:prstGeom>
          <a:noFill/>
          <a:ln/>
        </p:spPr>
        <p:txBody>
          <a:bodyPr wrap="square" lIns="0" tIns="0" rIns="0" bIns="0" rtlCol="0" anchor="ctr"/>
          <a:lstStyle/>
          <a:p>
            <a:pPr marL="0" indent="0">
              <a:buNone/>
            </a:pPr>
            <a:r>
              <a:rPr lang="sr-Latn-RS" sz="2400" i="1" dirty="0">
                <a:solidFill>
                  <a:srgbClr val="5EEAD4"/>
                </a:solidFill>
                <a:latin typeface="Cambria" pitchFamily="34" charset="0"/>
                <a:ea typeface="Cambria" pitchFamily="34" charset="-122"/>
                <a:cs typeface="Cambria" pitchFamily="34" charset="-120"/>
              </a:rPr>
              <a:t>Primenjeni algoritmi u upravljačkim sistemima</a:t>
            </a:r>
            <a:endParaRPr lang="en-US" sz="2400" dirty="0"/>
          </a:p>
        </p:txBody>
      </p:sp>
      <p:sp>
        <p:nvSpPr>
          <p:cNvPr id="33" name="Text 31"/>
          <p:cNvSpPr/>
          <p:nvPr/>
        </p:nvSpPr>
        <p:spPr>
          <a:xfrm>
            <a:off x="640080" y="3223260"/>
            <a:ext cx="7863840" cy="64008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Calibri" pitchFamily="34" charset="0"/>
                <a:ea typeface="Calibri" pitchFamily="34" charset="-122"/>
                <a:cs typeface="Calibri" pitchFamily="34" charset="-120"/>
              </a:rPr>
              <a:t>Tamara </a:t>
            </a:r>
            <a:r>
              <a:rPr lang="en-US" sz="1600" b="1" dirty="0" err="1">
                <a:solidFill>
                  <a:srgbClr val="FFFFFF"/>
                </a:solidFill>
                <a:latin typeface="Calibri" pitchFamily="34" charset="0"/>
                <a:ea typeface="Calibri" pitchFamily="34" charset="-122"/>
                <a:cs typeface="Calibri" pitchFamily="34" charset="-120"/>
              </a:rPr>
              <a:t>Stankovi</a:t>
            </a:r>
            <a:r>
              <a:rPr lang="sr-Latn-RS" sz="1600" b="1" dirty="0">
                <a:solidFill>
                  <a:srgbClr val="FFFFFF"/>
                </a:solidFill>
                <a:latin typeface="Calibri" pitchFamily="34" charset="0"/>
                <a:ea typeface="Calibri" pitchFamily="34" charset="-122"/>
                <a:cs typeface="Calibri" pitchFamily="34" charset="-120"/>
              </a:rPr>
              <a:t>ć e2 6/2025</a:t>
            </a:r>
            <a:endParaRPr lang="en-US" sz="1600" dirty="0"/>
          </a:p>
        </p:txBody>
      </p:sp>
      <p:sp>
        <p:nvSpPr>
          <p:cNvPr id="35" name="Text 32"/>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OKRUZENJE I MOTIVACIJA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Gde Tendermint zivi: blockchain</a:t>
            </a:r>
            <a:endParaRPr lang="en-US" sz="30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r>
              <a:rPr lang="en-US" sz="1050" i="1" dirty="0">
                <a:solidFill>
                  <a:srgbClr val="44556A"/>
                </a:solidFill>
                <a:latin typeface="Calibri" pitchFamily="34" charset="0"/>
                <a:ea typeface="Calibri" pitchFamily="34" charset="-122"/>
                <a:cs typeface="Calibri" pitchFamily="34" charset="-120"/>
              </a:rPr>
              <a:t>Da bismo razumeli algoritam, prvo moramo razumeti okruzenje u kom </a:t>
            </a:r>
            <a:r>
              <a:rPr lang="en-US" sz="1050" i="1" dirty="0" err="1">
                <a:solidFill>
                  <a:srgbClr val="44556A"/>
                </a:solidFill>
                <a:latin typeface="Calibri" pitchFamily="34" charset="0"/>
                <a:ea typeface="Calibri" pitchFamily="34" charset="-122"/>
                <a:cs typeface="Calibri" pitchFamily="34" charset="-120"/>
              </a:rPr>
              <a:t>radi</a:t>
            </a:r>
            <a:r>
              <a:rPr lang="en-US" sz="1050" i="1" dirty="0">
                <a:solidFill>
                  <a:srgbClr val="44556A"/>
                </a:solidFill>
                <a:latin typeface="Calibri" pitchFamily="34" charset="0"/>
                <a:ea typeface="Calibri" pitchFamily="34" charset="-122"/>
                <a:cs typeface="Calibri" pitchFamily="34" charset="-120"/>
              </a:rPr>
              <a:t>.-</a:t>
            </a:r>
            <a:r>
              <a:rPr lang="en-US" sz="1050" dirty="0" err="1"/>
              <a:t>motivisan</a:t>
            </a:r>
            <a:r>
              <a:rPr lang="en-US" sz="1050" dirty="0"/>
              <a:t> </a:t>
            </a:r>
            <a:r>
              <a:rPr lang="en-US" sz="1050" dirty="0" err="1"/>
              <a:t>širokim</a:t>
            </a:r>
            <a:r>
              <a:rPr lang="en-US" sz="1050" dirty="0"/>
              <a:t> peer-to-peer blockchain </a:t>
            </a:r>
            <a:r>
              <a:rPr lang="en-US" sz="1050" dirty="0" err="1"/>
              <a:t>mrežama</a:t>
            </a:r>
            <a:r>
              <a:rPr lang="en-US" sz="1050" dirty="0"/>
              <a:t> </a:t>
            </a:r>
            <a:r>
              <a:rPr lang="en-US" sz="1050" dirty="0" err="1"/>
              <a:t>sa</a:t>
            </a:r>
            <a:r>
              <a:rPr lang="en-US" sz="1050" dirty="0"/>
              <a:t> </a:t>
            </a:r>
            <a:r>
              <a:rPr lang="en-US" sz="1050" dirty="0" err="1"/>
              <a:t>velikim</a:t>
            </a:r>
            <a:r>
              <a:rPr lang="en-US" sz="1050" dirty="0"/>
              <a:t> </a:t>
            </a:r>
            <a:r>
              <a:rPr lang="en-US" sz="1050" dirty="0" err="1"/>
              <a:t>brojem</a:t>
            </a:r>
            <a:r>
              <a:rPr lang="en-US" sz="1050" dirty="0"/>
              <a:t> </a:t>
            </a:r>
            <a:r>
              <a:rPr lang="en-US" sz="1050" dirty="0" err="1"/>
              <a:t>čvorova</a:t>
            </a:r>
            <a:r>
              <a:rPr lang="en-US" sz="1050" dirty="0"/>
              <a:t> </a:t>
            </a:r>
            <a:r>
              <a:rPr lang="en-US" sz="1050" dirty="0" err="1"/>
              <a:t>i</a:t>
            </a:r>
            <a:r>
              <a:rPr lang="en-US" sz="1050" dirty="0"/>
              <a:t> gossip </a:t>
            </a:r>
            <a:r>
              <a:rPr lang="en-US" sz="1050" dirty="0" err="1"/>
              <a:t>širenjem</a:t>
            </a:r>
            <a:r>
              <a:rPr lang="en-US" sz="1050" dirty="0"/>
              <a:t> </a:t>
            </a:r>
            <a:r>
              <a:rPr lang="en-US" sz="1050" dirty="0" err="1"/>
              <a:t>poruka</a:t>
            </a:r>
            <a:endParaRPr lang="en-US" sz="1050" dirty="0"/>
          </a:p>
        </p:txBody>
      </p:sp>
      <p:sp>
        <p:nvSpPr>
          <p:cNvPr id="5" name="Shape 3"/>
          <p:cNvSpPr/>
          <p:nvPr/>
        </p:nvSpPr>
        <p:spPr>
          <a:xfrm>
            <a:off x="502920" y="1874520"/>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6" name="Shape 4"/>
          <p:cNvSpPr/>
          <p:nvPr/>
        </p:nvSpPr>
        <p:spPr>
          <a:xfrm>
            <a:off x="704088" y="2093976"/>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7" name="Image 0" descr="preencoded.png"/>
          <p:cNvPicPr>
            <a:picLocks noChangeAspect="1"/>
          </p:cNvPicPr>
          <p:nvPr/>
        </p:nvPicPr>
        <p:blipFill>
          <a:blip r:embed="rId3"/>
          <a:stretch>
            <a:fillRect/>
          </a:stretch>
        </p:blipFill>
        <p:spPr>
          <a:xfrm>
            <a:off x="836676" y="2226564"/>
            <a:ext cx="265176" cy="265176"/>
          </a:xfrm>
          <a:prstGeom prst="rect">
            <a:avLst/>
          </a:prstGeom>
        </p:spPr>
      </p:pic>
      <p:sp>
        <p:nvSpPr>
          <p:cNvPr id="8" name="Text 5"/>
          <p:cNvSpPr/>
          <p:nvPr/>
        </p:nvSpPr>
        <p:spPr>
          <a:xfrm>
            <a:off x="1371600" y="2093976"/>
            <a:ext cx="2990088" cy="411480"/>
          </a:xfrm>
          <a:prstGeom prst="rect">
            <a:avLst/>
          </a:prstGeom>
          <a:noFill/>
          <a:ln/>
        </p:spPr>
        <p:txBody>
          <a:bodyPr wrap="square" lIns="0" tIns="0" rIns="0" bIns="0" rtlCol="0" anchor="ctr"/>
          <a:lstStyle/>
          <a:p>
            <a:pPr marL="0" indent="0">
              <a:lnSpc>
                <a:spcPct val="95000"/>
              </a:lnSpc>
              <a:buNone/>
            </a:pPr>
            <a:r>
              <a:rPr lang="en-US" sz="1450" b="1" dirty="0">
                <a:solidFill>
                  <a:srgbClr val="0E2138"/>
                </a:solidFill>
                <a:latin typeface="Cambria" pitchFamily="34" charset="0"/>
                <a:ea typeface="Cambria" pitchFamily="34" charset="-122"/>
                <a:cs typeface="Cambria" pitchFamily="34" charset="-120"/>
              </a:rPr>
              <a:t>Blockchain = replicirani lanac</a:t>
            </a:r>
            <a:endParaRPr lang="en-US" sz="1450" dirty="0"/>
          </a:p>
        </p:txBody>
      </p:sp>
      <p:sp>
        <p:nvSpPr>
          <p:cNvPr id="9" name="Text 6"/>
          <p:cNvSpPr/>
          <p:nvPr/>
        </p:nvSpPr>
        <p:spPr>
          <a:xfrm>
            <a:off x="704088" y="2624328"/>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Svaki cvor cuva istu kopiju lanca blokova. Posao algoritma: sloziti se oko SLEDECEG bloka.</a:t>
            </a:r>
            <a:endParaRPr lang="en-US" sz="1100" dirty="0"/>
          </a:p>
        </p:txBody>
      </p:sp>
      <p:sp>
        <p:nvSpPr>
          <p:cNvPr id="10" name="Shape 7"/>
          <p:cNvSpPr/>
          <p:nvPr/>
        </p:nvSpPr>
        <p:spPr>
          <a:xfrm>
            <a:off x="4645152" y="1874520"/>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1" name="Shape 8"/>
          <p:cNvSpPr/>
          <p:nvPr/>
        </p:nvSpPr>
        <p:spPr>
          <a:xfrm>
            <a:off x="4846320" y="2093976"/>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12" name="Image 1" descr="preencoded.png"/>
          <p:cNvPicPr>
            <a:picLocks noChangeAspect="1"/>
          </p:cNvPicPr>
          <p:nvPr/>
        </p:nvPicPr>
        <p:blipFill>
          <a:blip r:embed="rId4"/>
          <a:stretch>
            <a:fillRect/>
          </a:stretch>
        </p:blipFill>
        <p:spPr>
          <a:xfrm>
            <a:off x="4978908" y="2226564"/>
            <a:ext cx="265176" cy="265176"/>
          </a:xfrm>
          <a:prstGeom prst="rect">
            <a:avLst/>
          </a:prstGeom>
        </p:spPr>
      </p:pic>
      <p:sp>
        <p:nvSpPr>
          <p:cNvPr id="13" name="Text 9"/>
          <p:cNvSpPr/>
          <p:nvPr/>
        </p:nvSpPr>
        <p:spPr>
          <a:xfrm>
            <a:off x="5513832" y="2093976"/>
            <a:ext cx="2990088" cy="411480"/>
          </a:xfrm>
          <a:prstGeom prst="rect">
            <a:avLst/>
          </a:prstGeom>
          <a:noFill/>
          <a:ln/>
        </p:spPr>
        <p:txBody>
          <a:bodyPr wrap="square" lIns="0" tIns="0" rIns="0" bIns="0" rtlCol="0" anchor="ctr"/>
          <a:lstStyle/>
          <a:p>
            <a:pPr marL="0" indent="0">
              <a:lnSpc>
                <a:spcPct val="95000"/>
              </a:lnSpc>
              <a:buNone/>
            </a:pPr>
            <a:r>
              <a:rPr lang="en-US" sz="1450" b="1" dirty="0">
                <a:solidFill>
                  <a:srgbClr val="0E2138"/>
                </a:solidFill>
                <a:latin typeface="Cambria" pitchFamily="34" charset="0"/>
                <a:ea typeface="Cambria" pitchFamily="34" charset="-122"/>
                <a:cs typeface="Cambria" pitchFamily="34" charset="-120"/>
              </a:rPr>
              <a:t>Jako puno cvorova</a:t>
            </a:r>
            <a:endParaRPr lang="en-US" sz="1450" dirty="0"/>
          </a:p>
        </p:txBody>
      </p:sp>
      <p:sp>
        <p:nvSpPr>
          <p:cNvPr id="14" name="Text 10"/>
          <p:cNvSpPr/>
          <p:nvPr/>
        </p:nvSpPr>
        <p:spPr>
          <a:xfrm>
            <a:off x="4846320" y="2624328"/>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Stotine ili hiljade cvorova, rasutih po celom internetu (WAN) — ne nekoliko servera u jednom data-centru.</a:t>
            </a:r>
            <a:endParaRPr lang="en-US" sz="1100" dirty="0"/>
          </a:p>
        </p:txBody>
      </p:sp>
      <p:sp>
        <p:nvSpPr>
          <p:cNvPr id="15" name="Shape 11"/>
          <p:cNvSpPr/>
          <p:nvPr/>
        </p:nvSpPr>
        <p:spPr>
          <a:xfrm>
            <a:off x="502920" y="3392424"/>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6" name="Shape 12"/>
          <p:cNvSpPr/>
          <p:nvPr/>
        </p:nvSpPr>
        <p:spPr>
          <a:xfrm>
            <a:off x="704088" y="3611880"/>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17" name="Image 2" descr="preencoded.png"/>
          <p:cNvPicPr>
            <a:picLocks noChangeAspect="1"/>
          </p:cNvPicPr>
          <p:nvPr/>
        </p:nvPicPr>
        <p:blipFill>
          <a:blip r:embed="rId5"/>
          <a:stretch>
            <a:fillRect/>
          </a:stretch>
        </p:blipFill>
        <p:spPr>
          <a:xfrm>
            <a:off x="836676" y="3744468"/>
            <a:ext cx="265176" cy="265176"/>
          </a:xfrm>
          <a:prstGeom prst="rect">
            <a:avLst/>
          </a:prstGeom>
        </p:spPr>
      </p:pic>
      <p:sp>
        <p:nvSpPr>
          <p:cNvPr id="18" name="Text 13"/>
          <p:cNvSpPr/>
          <p:nvPr/>
        </p:nvSpPr>
        <p:spPr>
          <a:xfrm>
            <a:off x="1371600" y="3611880"/>
            <a:ext cx="2990088" cy="411480"/>
          </a:xfrm>
          <a:prstGeom prst="rect">
            <a:avLst/>
          </a:prstGeom>
          <a:noFill/>
          <a:ln/>
        </p:spPr>
        <p:txBody>
          <a:bodyPr wrap="square" lIns="0" tIns="0" rIns="0" bIns="0" rtlCol="0" anchor="ctr"/>
          <a:lstStyle/>
          <a:p>
            <a:pPr marL="0" indent="0">
              <a:lnSpc>
                <a:spcPct val="95000"/>
              </a:lnSpc>
              <a:buNone/>
            </a:pPr>
            <a:r>
              <a:rPr lang="en-US" sz="1450" b="1" dirty="0">
                <a:solidFill>
                  <a:srgbClr val="0E2138"/>
                </a:solidFill>
                <a:latin typeface="Cambria" pitchFamily="34" charset="0"/>
                <a:ea typeface="Cambria" pitchFamily="34" charset="-122"/>
                <a:cs typeface="Cambria" pitchFamily="34" charset="-120"/>
              </a:rPr>
              <a:t>Razni vlasnici, bez poverenja</a:t>
            </a:r>
            <a:endParaRPr lang="en-US" sz="1450" dirty="0"/>
          </a:p>
        </p:txBody>
      </p:sp>
      <p:sp>
        <p:nvSpPr>
          <p:cNvPr id="19" name="Text 14"/>
          <p:cNvSpPr/>
          <p:nvPr/>
        </p:nvSpPr>
        <p:spPr>
          <a:xfrm>
            <a:off x="704088" y="4142232"/>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Cvorove drze nezavisni, medjusobno NEPOVERLJIVI vlasnici. Niko nikom ne veruje unapred.</a:t>
            </a:r>
            <a:endParaRPr lang="en-US" sz="1100" dirty="0"/>
          </a:p>
        </p:txBody>
      </p:sp>
      <p:sp>
        <p:nvSpPr>
          <p:cNvPr id="20" name="Shape 15"/>
          <p:cNvSpPr/>
          <p:nvPr/>
        </p:nvSpPr>
        <p:spPr>
          <a:xfrm>
            <a:off x="4645152" y="3392424"/>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21" name="Shape 16"/>
          <p:cNvSpPr/>
          <p:nvPr/>
        </p:nvSpPr>
        <p:spPr>
          <a:xfrm>
            <a:off x="4846320" y="3611880"/>
            <a:ext cx="530352" cy="530352"/>
          </a:xfrm>
          <a:prstGeom prst="ellipse">
            <a:avLst/>
          </a:prstGeom>
          <a:solidFill>
            <a:srgbClr val="0D9488"/>
          </a:solidFill>
          <a:ln/>
          <a:effectLst>
            <a:outerShdw blurRad="88900" dist="25400" dir="5400000" algn="bl" rotWithShape="0">
              <a:srgbClr val="0B1A2E">
                <a:alpha val="16000"/>
              </a:srgbClr>
            </a:outerShdw>
          </a:effectLst>
        </p:spPr>
      </p:sp>
      <p:pic>
        <p:nvPicPr>
          <p:cNvPr id="22" name="Image 3" descr="preencoded.png"/>
          <p:cNvPicPr>
            <a:picLocks noChangeAspect="1"/>
          </p:cNvPicPr>
          <p:nvPr/>
        </p:nvPicPr>
        <p:blipFill>
          <a:blip r:embed="rId6"/>
          <a:stretch>
            <a:fillRect/>
          </a:stretch>
        </p:blipFill>
        <p:spPr>
          <a:xfrm>
            <a:off x="4978908" y="3744468"/>
            <a:ext cx="265176" cy="265176"/>
          </a:xfrm>
          <a:prstGeom prst="rect">
            <a:avLst/>
          </a:prstGeom>
        </p:spPr>
      </p:pic>
      <p:sp>
        <p:nvSpPr>
          <p:cNvPr id="23" name="Text 17"/>
          <p:cNvSpPr/>
          <p:nvPr/>
        </p:nvSpPr>
        <p:spPr>
          <a:xfrm>
            <a:off x="5513832" y="3611880"/>
            <a:ext cx="2990088" cy="411480"/>
          </a:xfrm>
          <a:prstGeom prst="rect">
            <a:avLst/>
          </a:prstGeom>
          <a:noFill/>
          <a:ln/>
        </p:spPr>
        <p:txBody>
          <a:bodyPr wrap="square" lIns="0" tIns="0" rIns="0" bIns="0" rtlCol="0" anchor="ctr"/>
          <a:lstStyle/>
          <a:p>
            <a:pPr marL="0" indent="0">
              <a:lnSpc>
                <a:spcPct val="95000"/>
              </a:lnSpc>
              <a:buNone/>
            </a:pPr>
            <a:r>
              <a:rPr lang="en-US" sz="1450" b="1" dirty="0">
                <a:solidFill>
                  <a:srgbClr val="0E2138"/>
                </a:solidFill>
                <a:latin typeface="Cambria" pitchFamily="34" charset="0"/>
                <a:ea typeface="Cambria" pitchFamily="34" charset="-122"/>
                <a:cs typeface="Cambria" pitchFamily="34" charset="-120"/>
              </a:rPr>
              <a:t>Zato: bizantijsko okruzenje</a:t>
            </a:r>
            <a:endParaRPr lang="en-US" sz="1450" dirty="0"/>
          </a:p>
        </p:txBody>
      </p:sp>
      <p:sp>
        <p:nvSpPr>
          <p:cNvPr id="24" name="Text 18"/>
          <p:cNvSpPr/>
          <p:nvPr/>
        </p:nvSpPr>
        <p:spPr>
          <a:xfrm>
            <a:off x="4846320" y="4142232"/>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Posto se ne veruju, deo cvorova moze biti i zlonameran. Algoritam MORA da izdrzi i takve.</a:t>
            </a:r>
            <a:endParaRPr lang="en-US" sz="1100" dirty="0"/>
          </a:p>
        </p:txBody>
      </p:sp>
      <p:sp>
        <p:nvSpPr>
          <p:cNvPr id="26" name="Text 19"/>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a:t>
            </a:r>
            <a:endParaRPr lang="en-US" sz="900" dirty="0"/>
          </a:p>
        </p:txBody>
      </p:sp>
      <p:sp>
        <p:nvSpPr>
          <p:cNvPr id="27" name="Text 20"/>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Okruzenje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SVET U KOME ZIVI</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Gossip mreza: kako se poruke sire</a:t>
            </a:r>
            <a:endParaRPr lang="en-US" sz="3000" dirty="0"/>
          </a:p>
        </p:txBody>
      </p:sp>
      <p:sp>
        <p:nvSpPr>
          <p:cNvPr id="4" name="Shape 2"/>
          <p:cNvSpPr/>
          <p:nvPr/>
        </p:nvSpPr>
        <p:spPr>
          <a:xfrm flipV="1">
            <a:off x="1554480" y="1874520"/>
            <a:ext cx="1188720" cy="502920"/>
          </a:xfrm>
          <a:prstGeom prst="line">
            <a:avLst/>
          </a:prstGeom>
          <a:noFill/>
          <a:ln w="15875">
            <a:solidFill>
              <a:srgbClr val="C4D2DF"/>
            </a:solidFill>
            <a:prstDash val="solid"/>
          </a:ln>
        </p:spPr>
      </p:sp>
      <p:sp>
        <p:nvSpPr>
          <p:cNvPr id="5" name="Shape 3"/>
          <p:cNvSpPr/>
          <p:nvPr/>
        </p:nvSpPr>
        <p:spPr>
          <a:xfrm>
            <a:off x="1554480" y="2377440"/>
            <a:ext cx="1554480" cy="777240"/>
          </a:xfrm>
          <a:prstGeom prst="line">
            <a:avLst/>
          </a:prstGeom>
          <a:noFill/>
          <a:ln w="15875">
            <a:solidFill>
              <a:srgbClr val="C4D2DF"/>
            </a:solidFill>
            <a:prstDash val="solid"/>
          </a:ln>
        </p:spPr>
      </p:sp>
      <p:sp>
        <p:nvSpPr>
          <p:cNvPr id="6" name="Shape 4"/>
          <p:cNvSpPr/>
          <p:nvPr/>
        </p:nvSpPr>
        <p:spPr>
          <a:xfrm>
            <a:off x="1554480" y="2377440"/>
            <a:ext cx="228600" cy="1554480"/>
          </a:xfrm>
          <a:prstGeom prst="line">
            <a:avLst/>
          </a:prstGeom>
          <a:noFill/>
          <a:ln w="15875">
            <a:solidFill>
              <a:srgbClr val="C4D2DF"/>
            </a:solidFill>
            <a:prstDash val="solid"/>
          </a:ln>
        </p:spPr>
      </p:sp>
      <p:sp>
        <p:nvSpPr>
          <p:cNvPr id="7" name="Shape 5"/>
          <p:cNvSpPr/>
          <p:nvPr/>
        </p:nvSpPr>
        <p:spPr>
          <a:xfrm>
            <a:off x="2743200" y="1874520"/>
            <a:ext cx="1371600" cy="731520"/>
          </a:xfrm>
          <a:prstGeom prst="line">
            <a:avLst/>
          </a:prstGeom>
          <a:noFill/>
          <a:ln w="15875">
            <a:solidFill>
              <a:srgbClr val="C4D2DF"/>
            </a:solidFill>
            <a:prstDash val="solid"/>
          </a:ln>
        </p:spPr>
      </p:sp>
      <p:sp>
        <p:nvSpPr>
          <p:cNvPr id="8" name="Shape 6"/>
          <p:cNvSpPr/>
          <p:nvPr/>
        </p:nvSpPr>
        <p:spPr>
          <a:xfrm flipV="1">
            <a:off x="3108960" y="2606040"/>
            <a:ext cx="1005840" cy="548640"/>
          </a:xfrm>
          <a:prstGeom prst="line">
            <a:avLst/>
          </a:prstGeom>
          <a:noFill/>
          <a:ln w="15875">
            <a:solidFill>
              <a:srgbClr val="C4D2DF"/>
            </a:solidFill>
            <a:prstDash val="solid"/>
          </a:ln>
        </p:spPr>
      </p:sp>
      <p:sp>
        <p:nvSpPr>
          <p:cNvPr id="9" name="Shape 7"/>
          <p:cNvSpPr/>
          <p:nvPr/>
        </p:nvSpPr>
        <p:spPr>
          <a:xfrm>
            <a:off x="3108960" y="3154680"/>
            <a:ext cx="1097280" cy="777240"/>
          </a:xfrm>
          <a:prstGeom prst="line">
            <a:avLst/>
          </a:prstGeom>
          <a:noFill/>
          <a:ln w="15875">
            <a:solidFill>
              <a:srgbClr val="C4D2DF"/>
            </a:solidFill>
            <a:prstDash val="solid"/>
          </a:ln>
        </p:spPr>
      </p:sp>
      <p:sp>
        <p:nvSpPr>
          <p:cNvPr id="10" name="Shape 8"/>
          <p:cNvSpPr/>
          <p:nvPr/>
        </p:nvSpPr>
        <p:spPr>
          <a:xfrm>
            <a:off x="1783080" y="3931920"/>
            <a:ext cx="2423160" cy="0"/>
          </a:xfrm>
          <a:prstGeom prst="line">
            <a:avLst/>
          </a:prstGeom>
          <a:noFill/>
          <a:ln w="15875">
            <a:solidFill>
              <a:srgbClr val="C4D2DF"/>
            </a:solidFill>
            <a:prstDash val="solid"/>
          </a:ln>
        </p:spPr>
      </p:sp>
      <p:sp>
        <p:nvSpPr>
          <p:cNvPr id="11" name="Shape 9"/>
          <p:cNvSpPr/>
          <p:nvPr/>
        </p:nvSpPr>
        <p:spPr>
          <a:xfrm>
            <a:off x="4114800" y="2606040"/>
            <a:ext cx="91440" cy="1325880"/>
          </a:xfrm>
          <a:prstGeom prst="line">
            <a:avLst/>
          </a:prstGeom>
          <a:noFill/>
          <a:ln w="15875">
            <a:solidFill>
              <a:srgbClr val="C4D2DF"/>
            </a:solidFill>
            <a:prstDash val="solid"/>
          </a:ln>
        </p:spPr>
      </p:sp>
      <p:sp>
        <p:nvSpPr>
          <p:cNvPr id="12" name="Shape 10"/>
          <p:cNvSpPr/>
          <p:nvPr/>
        </p:nvSpPr>
        <p:spPr>
          <a:xfrm>
            <a:off x="1280160" y="2103120"/>
            <a:ext cx="548640" cy="548640"/>
          </a:xfrm>
          <a:prstGeom prst="ellipse">
            <a:avLst/>
          </a:prstGeom>
          <a:solidFill>
            <a:srgbClr val="0E2A47"/>
          </a:solidFill>
          <a:ln/>
          <a:effectLst>
            <a:outerShdw blurRad="76200" dist="25400" dir="5400000" algn="bl" rotWithShape="0">
              <a:srgbClr val="0B1A2E">
                <a:alpha val="14000"/>
              </a:srgbClr>
            </a:outerShdw>
          </a:effectLst>
        </p:spPr>
      </p:sp>
      <p:sp>
        <p:nvSpPr>
          <p:cNvPr id="13" name="Text 11"/>
          <p:cNvSpPr/>
          <p:nvPr/>
        </p:nvSpPr>
        <p:spPr>
          <a:xfrm>
            <a:off x="1280160" y="2103120"/>
            <a:ext cx="548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p1</a:t>
            </a:r>
            <a:endParaRPr lang="en-US" sz="1050" dirty="0"/>
          </a:p>
        </p:txBody>
      </p:sp>
      <p:sp>
        <p:nvSpPr>
          <p:cNvPr id="14" name="Shape 12"/>
          <p:cNvSpPr/>
          <p:nvPr/>
        </p:nvSpPr>
        <p:spPr>
          <a:xfrm>
            <a:off x="2468880" y="1600200"/>
            <a:ext cx="548640" cy="548640"/>
          </a:xfrm>
          <a:prstGeom prst="ellipse">
            <a:avLst/>
          </a:prstGeom>
          <a:solidFill>
            <a:srgbClr val="0D9488"/>
          </a:solidFill>
          <a:ln/>
          <a:effectLst>
            <a:outerShdw blurRad="76200" dist="25400" dir="5400000" algn="bl" rotWithShape="0">
              <a:srgbClr val="0B1A2E">
                <a:alpha val="14000"/>
              </a:srgbClr>
            </a:outerShdw>
          </a:effectLst>
        </p:spPr>
      </p:sp>
      <p:sp>
        <p:nvSpPr>
          <p:cNvPr id="15" name="Text 13"/>
          <p:cNvSpPr/>
          <p:nvPr/>
        </p:nvSpPr>
        <p:spPr>
          <a:xfrm>
            <a:off x="2468880" y="1600200"/>
            <a:ext cx="548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p2</a:t>
            </a:r>
            <a:endParaRPr lang="en-US" sz="1050" dirty="0"/>
          </a:p>
        </p:txBody>
      </p:sp>
      <p:sp>
        <p:nvSpPr>
          <p:cNvPr id="16" name="Shape 14"/>
          <p:cNvSpPr/>
          <p:nvPr/>
        </p:nvSpPr>
        <p:spPr>
          <a:xfrm>
            <a:off x="2834640" y="2880360"/>
            <a:ext cx="548640" cy="548640"/>
          </a:xfrm>
          <a:prstGeom prst="ellipse">
            <a:avLst/>
          </a:prstGeom>
          <a:solidFill>
            <a:srgbClr val="0D9488"/>
          </a:solidFill>
          <a:ln/>
          <a:effectLst>
            <a:outerShdw blurRad="76200" dist="25400" dir="5400000" algn="bl" rotWithShape="0">
              <a:srgbClr val="0B1A2E">
                <a:alpha val="14000"/>
              </a:srgbClr>
            </a:outerShdw>
          </a:effectLst>
        </p:spPr>
      </p:sp>
      <p:sp>
        <p:nvSpPr>
          <p:cNvPr id="17" name="Text 15"/>
          <p:cNvSpPr/>
          <p:nvPr/>
        </p:nvSpPr>
        <p:spPr>
          <a:xfrm>
            <a:off x="2834640" y="2880360"/>
            <a:ext cx="548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p3</a:t>
            </a:r>
            <a:endParaRPr lang="en-US" sz="1050" dirty="0"/>
          </a:p>
        </p:txBody>
      </p:sp>
      <p:sp>
        <p:nvSpPr>
          <p:cNvPr id="18" name="Shape 16"/>
          <p:cNvSpPr/>
          <p:nvPr/>
        </p:nvSpPr>
        <p:spPr>
          <a:xfrm>
            <a:off x="1508760" y="3657600"/>
            <a:ext cx="548640" cy="548640"/>
          </a:xfrm>
          <a:prstGeom prst="ellipse">
            <a:avLst/>
          </a:prstGeom>
          <a:solidFill>
            <a:srgbClr val="0D9488"/>
          </a:solidFill>
          <a:ln/>
          <a:effectLst>
            <a:outerShdw blurRad="76200" dist="25400" dir="5400000" algn="bl" rotWithShape="0">
              <a:srgbClr val="0B1A2E">
                <a:alpha val="14000"/>
              </a:srgbClr>
            </a:outerShdw>
          </a:effectLst>
        </p:spPr>
      </p:sp>
      <p:sp>
        <p:nvSpPr>
          <p:cNvPr id="19" name="Text 17"/>
          <p:cNvSpPr/>
          <p:nvPr/>
        </p:nvSpPr>
        <p:spPr>
          <a:xfrm>
            <a:off x="1508760" y="3657600"/>
            <a:ext cx="548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p4</a:t>
            </a:r>
            <a:endParaRPr lang="en-US" sz="1050" dirty="0"/>
          </a:p>
        </p:txBody>
      </p:sp>
      <p:sp>
        <p:nvSpPr>
          <p:cNvPr id="20" name="Shape 18"/>
          <p:cNvSpPr/>
          <p:nvPr/>
        </p:nvSpPr>
        <p:spPr>
          <a:xfrm>
            <a:off x="3840480" y="2331720"/>
            <a:ext cx="548640" cy="548640"/>
          </a:xfrm>
          <a:prstGeom prst="ellipse">
            <a:avLst/>
          </a:prstGeom>
          <a:solidFill>
            <a:srgbClr val="5EEAD4"/>
          </a:solidFill>
          <a:ln/>
          <a:effectLst>
            <a:outerShdw blurRad="76200" dist="25400" dir="5400000" algn="bl" rotWithShape="0">
              <a:srgbClr val="0B1A2E">
                <a:alpha val="14000"/>
              </a:srgbClr>
            </a:outerShdw>
          </a:effectLst>
        </p:spPr>
      </p:sp>
      <p:sp>
        <p:nvSpPr>
          <p:cNvPr id="21" name="Text 19"/>
          <p:cNvSpPr/>
          <p:nvPr/>
        </p:nvSpPr>
        <p:spPr>
          <a:xfrm>
            <a:off x="3840480" y="2331720"/>
            <a:ext cx="548640" cy="548640"/>
          </a:xfrm>
          <a:prstGeom prst="rect">
            <a:avLst/>
          </a:prstGeom>
          <a:noFill/>
          <a:ln/>
        </p:spPr>
        <p:txBody>
          <a:bodyPr wrap="square" lIns="0" tIns="0" rIns="0" bIns="0" rtlCol="0" anchor="ctr"/>
          <a:lstStyle/>
          <a:p>
            <a:pPr marL="0" indent="0" algn="ctr">
              <a:buNone/>
            </a:pPr>
            <a:r>
              <a:rPr lang="en-US" sz="1050" b="1" dirty="0">
                <a:solidFill>
                  <a:srgbClr val="0E2138"/>
                </a:solidFill>
                <a:latin typeface="Cambria" pitchFamily="34" charset="0"/>
                <a:ea typeface="Cambria" pitchFamily="34" charset="-122"/>
                <a:cs typeface="Cambria" pitchFamily="34" charset="-120"/>
              </a:rPr>
              <a:t>p5</a:t>
            </a:r>
            <a:endParaRPr lang="en-US" sz="1050" dirty="0"/>
          </a:p>
        </p:txBody>
      </p:sp>
      <p:sp>
        <p:nvSpPr>
          <p:cNvPr id="22" name="Shape 20"/>
          <p:cNvSpPr/>
          <p:nvPr/>
        </p:nvSpPr>
        <p:spPr>
          <a:xfrm>
            <a:off x="3931920" y="3657600"/>
            <a:ext cx="548640" cy="548640"/>
          </a:xfrm>
          <a:prstGeom prst="ellipse">
            <a:avLst/>
          </a:prstGeom>
          <a:solidFill>
            <a:srgbClr val="5EEAD4"/>
          </a:solidFill>
          <a:ln/>
          <a:effectLst>
            <a:outerShdw blurRad="76200" dist="25400" dir="5400000" algn="bl" rotWithShape="0">
              <a:srgbClr val="0B1A2E">
                <a:alpha val="14000"/>
              </a:srgbClr>
            </a:outerShdw>
          </a:effectLst>
        </p:spPr>
      </p:sp>
      <p:sp>
        <p:nvSpPr>
          <p:cNvPr id="23" name="Text 21"/>
          <p:cNvSpPr/>
          <p:nvPr/>
        </p:nvSpPr>
        <p:spPr>
          <a:xfrm>
            <a:off x="3931920" y="3657600"/>
            <a:ext cx="548640" cy="548640"/>
          </a:xfrm>
          <a:prstGeom prst="rect">
            <a:avLst/>
          </a:prstGeom>
          <a:noFill/>
          <a:ln/>
        </p:spPr>
        <p:txBody>
          <a:bodyPr wrap="square" lIns="0" tIns="0" rIns="0" bIns="0" rtlCol="0" anchor="ctr"/>
          <a:lstStyle/>
          <a:p>
            <a:pPr marL="0" indent="0" algn="ctr">
              <a:buNone/>
            </a:pPr>
            <a:r>
              <a:rPr lang="en-US" sz="1050" b="1" dirty="0">
                <a:solidFill>
                  <a:srgbClr val="0E2138"/>
                </a:solidFill>
                <a:latin typeface="Cambria" pitchFamily="34" charset="0"/>
                <a:ea typeface="Cambria" pitchFamily="34" charset="-122"/>
                <a:cs typeface="Cambria" pitchFamily="34" charset="-120"/>
              </a:rPr>
              <a:t>p6</a:t>
            </a:r>
            <a:endParaRPr lang="en-US" sz="1050" dirty="0"/>
          </a:p>
        </p:txBody>
      </p:sp>
      <p:sp>
        <p:nvSpPr>
          <p:cNvPr id="24" name="Shape 22"/>
          <p:cNvSpPr/>
          <p:nvPr/>
        </p:nvSpPr>
        <p:spPr>
          <a:xfrm>
            <a:off x="640080" y="4498848"/>
            <a:ext cx="146304" cy="146304"/>
          </a:xfrm>
          <a:prstGeom prst="ellipse">
            <a:avLst/>
          </a:prstGeom>
          <a:solidFill>
            <a:srgbClr val="0E2A47"/>
          </a:solidFill>
          <a:ln/>
        </p:spPr>
      </p:sp>
      <p:sp>
        <p:nvSpPr>
          <p:cNvPr id="25" name="Text 23"/>
          <p:cNvSpPr/>
          <p:nvPr/>
        </p:nvSpPr>
        <p:spPr>
          <a:xfrm>
            <a:off x="841248" y="4443984"/>
            <a:ext cx="731520" cy="256032"/>
          </a:xfrm>
          <a:prstGeom prst="rect">
            <a:avLst/>
          </a:prstGeom>
          <a:noFill/>
          <a:ln/>
        </p:spPr>
        <p:txBody>
          <a:bodyPr wrap="square" lIns="0" tIns="0" rIns="0" bIns="0" rtlCol="0" anchor="ctr"/>
          <a:lstStyle/>
          <a:p>
            <a:pPr marL="0" indent="0">
              <a:buNone/>
            </a:pPr>
            <a:r>
              <a:rPr lang="en-US" sz="1000" dirty="0">
                <a:solidFill>
                  <a:srgbClr val="44556A"/>
                </a:solidFill>
                <a:latin typeface="Calibri" pitchFamily="34" charset="0"/>
                <a:ea typeface="Calibri" pitchFamily="34" charset="-122"/>
                <a:cs typeface="Calibri" pitchFamily="34" charset="-120"/>
              </a:rPr>
              <a:t>izvor</a:t>
            </a:r>
            <a:endParaRPr lang="en-US" sz="1000" dirty="0"/>
          </a:p>
        </p:txBody>
      </p:sp>
      <p:sp>
        <p:nvSpPr>
          <p:cNvPr id="26" name="Shape 24"/>
          <p:cNvSpPr/>
          <p:nvPr/>
        </p:nvSpPr>
        <p:spPr>
          <a:xfrm>
            <a:off x="1600200" y="4498848"/>
            <a:ext cx="146304" cy="146304"/>
          </a:xfrm>
          <a:prstGeom prst="ellipse">
            <a:avLst/>
          </a:prstGeom>
          <a:solidFill>
            <a:srgbClr val="0D9488"/>
          </a:solidFill>
          <a:ln/>
        </p:spPr>
      </p:sp>
      <p:sp>
        <p:nvSpPr>
          <p:cNvPr id="27" name="Text 25"/>
          <p:cNvSpPr/>
          <p:nvPr/>
        </p:nvSpPr>
        <p:spPr>
          <a:xfrm>
            <a:off x="1801368" y="4443984"/>
            <a:ext cx="822960" cy="256032"/>
          </a:xfrm>
          <a:prstGeom prst="rect">
            <a:avLst/>
          </a:prstGeom>
          <a:noFill/>
          <a:ln/>
        </p:spPr>
        <p:txBody>
          <a:bodyPr wrap="square" lIns="0" tIns="0" rIns="0" bIns="0" rtlCol="0" anchor="ctr"/>
          <a:lstStyle/>
          <a:p>
            <a:pPr marL="0" indent="0">
              <a:buNone/>
            </a:pPr>
            <a:r>
              <a:rPr lang="en-US" sz="1000" dirty="0">
                <a:solidFill>
                  <a:srgbClr val="44556A"/>
                </a:solidFill>
                <a:latin typeface="Calibri" pitchFamily="34" charset="0"/>
                <a:ea typeface="Calibri" pitchFamily="34" charset="-122"/>
                <a:cs typeface="Calibri" pitchFamily="34" charset="-120"/>
              </a:rPr>
              <a:t>1 skok</a:t>
            </a:r>
            <a:endParaRPr lang="en-US" sz="1000" dirty="0"/>
          </a:p>
        </p:txBody>
      </p:sp>
      <p:sp>
        <p:nvSpPr>
          <p:cNvPr id="28" name="Shape 26"/>
          <p:cNvSpPr/>
          <p:nvPr/>
        </p:nvSpPr>
        <p:spPr>
          <a:xfrm>
            <a:off x="2697480" y="4498848"/>
            <a:ext cx="146304" cy="146304"/>
          </a:xfrm>
          <a:prstGeom prst="ellipse">
            <a:avLst/>
          </a:prstGeom>
          <a:solidFill>
            <a:srgbClr val="5EEAD4"/>
          </a:solidFill>
          <a:ln/>
        </p:spPr>
      </p:sp>
      <p:sp>
        <p:nvSpPr>
          <p:cNvPr id="29" name="Text 27"/>
          <p:cNvSpPr/>
          <p:nvPr/>
        </p:nvSpPr>
        <p:spPr>
          <a:xfrm>
            <a:off x="2898648" y="4443984"/>
            <a:ext cx="822960" cy="256032"/>
          </a:xfrm>
          <a:prstGeom prst="rect">
            <a:avLst/>
          </a:prstGeom>
          <a:noFill/>
          <a:ln/>
        </p:spPr>
        <p:txBody>
          <a:bodyPr wrap="square" lIns="0" tIns="0" rIns="0" bIns="0" rtlCol="0" anchor="ctr"/>
          <a:lstStyle/>
          <a:p>
            <a:pPr marL="0" indent="0">
              <a:buNone/>
            </a:pPr>
            <a:r>
              <a:rPr lang="en-US" sz="1000" dirty="0">
                <a:solidFill>
                  <a:srgbClr val="44556A"/>
                </a:solidFill>
                <a:latin typeface="Calibri" pitchFamily="34" charset="0"/>
                <a:ea typeface="Calibri" pitchFamily="34" charset="-122"/>
                <a:cs typeface="Calibri" pitchFamily="34" charset="-120"/>
              </a:rPr>
              <a:t>2 skoka</a:t>
            </a:r>
            <a:endParaRPr lang="en-US" sz="1000" dirty="0"/>
          </a:p>
        </p:txBody>
      </p:sp>
      <p:sp>
        <p:nvSpPr>
          <p:cNvPr id="30" name="Text 28"/>
          <p:cNvSpPr/>
          <p:nvPr/>
        </p:nvSpPr>
        <p:spPr>
          <a:xfrm>
            <a:off x="548640" y="1297385"/>
            <a:ext cx="4297680" cy="274320"/>
          </a:xfrm>
          <a:prstGeom prst="rect">
            <a:avLst/>
          </a:prstGeom>
          <a:noFill/>
          <a:ln/>
        </p:spPr>
        <p:txBody>
          <a:bodyPr wrap="square" lIns="0" tIns="0" rIns="0" bIns="0" rtlCol="0" anchor="ctr"/>
          <a:lstStyle/>
          <a:p>
            <a:pPr marL="0" indent="0">
              <a:buNone/>
            </a:pPr>
            <a:r>
              <a:rPr lang="en-US" sz="1050" i="1" dirty="0">
                <a:solidFill>
                  <a:srgbClr val="6B7C93"/>
                </a:solidFill>
                <a:latin typeface="Calibri" pitchFamily="34" charset="0"/>
                <a:ea typeface="Calibri" pitchFamily="34" charset="-122"/>
                <a:cs typeface="Calibri" pitchFamily="34" charset="-120"/>
              </a:rPr>
              <a:t>Posto ima puno cvorova — nema veze svako-sa-svakim, samo komsije (peers).</a:t>
            </a:r>
            <a:endParaRPr lang="en-US" sz="1050" dirty="0"/>
          </a:p>
        </p:txBody>
      </p:sp>
      <p:sp>
        <p:nvSpPr>
          <p:cNvPr id="31" name="Shape 29"/>
          <p:cNvSpPr/>
          <p:nvPr/>
        </p:nvSpPr>
        <p:spPr>
          <a:xfrm>
            <a:off x="4846320" y="1554480"/>
            <a:ext cx="3794760" cy="3127248"/>
          </a:xfrm>
          <a:prstGeom prst="roundRect">
            <a:avLst>
              <a:gd name="adj" fmla="val 2924"/>
            </a:avLst>
          </a:prstGeom>
          <a:solidFill>
            <a:srgbClr val="FFFFFF"/>
          </a:solidFill>
          <a:ln/>
          <a:effectLst>
            <a:outerShdw blurRad="114300" dist="38100" dir="5400000" algn="bl" rotWithShape="0">
              <a:srgbClr val="0B1A2E">
                <a:alpha val="13000"/>
              </a:srgbClr>
            </a:outerShdw>
          </a:effectLst>
        </p:spPr>
      </p:sp>
      <p:sp>
        <p:nvSpPr>
          <p:cNvPr id="32" name="Shape 30"/>
          <p:cNvSpPr/>
          <p:nvPr/>
        </p:nvSpPr>
        <p:spPr>
          <a:xfrm>
            <a:off x="5074920" y="1755648"/>
            <a:ext cx="512064" cy="512064"/>
          </a:xfrm>
          <a:prstGeom prst="ellipse">
            <a:avLst/>
          </a:prstGeom>
          <a:solidFill>
            <a:srgbClr val="0D9488"/>
          </a:solidFill>
          <a:ln/>
          <a:effectLst>
            <a:outerShdw blurRad="88900" dist="25400" dir="5400000" algn="bl" rotWithShape="0">
              <a:srgbClr val="0B1A2E">
                <a:alpha val="16000"/>
              </a:srgbClr>
            </a:outerShdw>
          </a:effectLst>
        </p:spPr>
      </p:sp>
      <p:pic>
        <p:nvPicPr>
          <p:cNvPr id="33" name="Image 0" descr="preencoded.png"/>
          <p:cNvPicPr>
            <a:picLocks noChangeAspect="1"/>
          </p:cNvPicPr>
          <p:nvPr/>
        </p:nvPicPr>
        <p:blipFill>
          <a:blip r:embed="rId3"/>
          <a:stretch>
            <a:fillRect/>
          </a:stretch>
        </p:blipFill>
        <p:spPr>
          <a:xfrm>
            <a:off x="5202936" y="1883664"/>
            <a:ext cx="256032" cy="256032"/>
          </a:xfrm>
          <a:prstGeom prst="rect">
            <a:avLst/>
          </a:prstGeom>
        </p:spPr>
      </p:pic>
      <p:sp>
        <p:nvSpPr>
          <p:cNvPr id="34" name="Text 31"/>
          <p:cNvSpPr/>
          <p:nvPr/>
        </p:nvSpPr>
        <p:spPr>
          <a:xfrm>
            <a:off x="5715000" y="1783080"/>
            <a:ext cx="2743200" cy="457200"/>
          </a:xfrm>
          <a:prstGeom prst="rect">
            <a:avLst/>
          </a:prstGeom>
          <a:noFill/>
          <a:ln/>
        </p:spPr>
        <p:txBody>
          <a:bodyPr wrap="square" lIns="0" tIns="0" rIns="0" bIns="0" rtlCol="0" anchor="ctr"/>
          <a:lstStyle/>
          <a:p>
            <a:pPr marL="0" indent="0">
              <a:buNone/>
            </a:pPr>
            <a:r>
              <a:rPr lang="en-US" sz="1500" b="1" dirty="0">
                <a:solidFill>
                  <a:srgbClr val="0E2138"/>
                </a:solidFill>
                <a:latin typeface="Cambria" pitchFamily="34" charset="0"/>
                <a:ea typeface="Cambria" pitchFamily="34" charset="-122"/>
                <a:cs typeface="Cambria" pitchFamily="34" charset="-120"/>
              </a:rPr>
              <a:t>Gossip svojstvo</a:t>
            </a:r>
            <a:endParaRPr lang="en-US" sz="1500" dirty="0"/>
          </a:p>
        </p:txBody>
      </p:sp>
      <p:sp>
        <p:nvSpPr>
          <p:cNvPr id="35" name="Text 32"/>
          <p:cNvSpPr/>
          <p:nvPr/>
        </p:nvSpPr>
        <p:spPr>
          <a:xfrm>
            <a:off x="5074920" y="2331720"/>
            <a:ext cx="3383280" cy="960120"/>
          </a:xfrm>
          <a:prstGeom prst="rect">
            <a:avLst/>
          </a:prstGeom>
          <a:noFill/>
          <a:ln/>
        </p:spPr>
        <p:txBody>
          <a:bodyPr wrap="square" lIns="0" tIns="0" rIns="0" bIns="0" rtlCol="0" anchor="ctr"/>
          <a:lstStyle/>
          <a:p>
            <a:pPr marL="0" indent="0">
              <a:lnSpc>
                <a:spcPct val="105000"/>
              </a:lnSpc>
              <a:spcAft>
                <a:spcPts val="500"/>
              </a:spcAft>
              <a:buNone/>
            </a:pPr>
            <a:r>
              <a:rPr lang="en-US" sz="1130" dirty="0">
                <a:solidFill>
                  <a:srgbClr val="44556A"/>
                </a:solidFill>
                <a:latin typeface="Calibri" pitchFamily="34" charset="0"/>
                <a:ea typeface="Calibri" pitchFamily="34" charset="-122"/>
                <a:cs typeface="Calibri" pitchFamily="34" charset="-120"/>
              </a:rPr>
              <a:t>Poruku koju jedan posten PRIMI — svako preprosledjuje komsijama, pa stigne do SVIH postenih.
</a:t>
            </a:r>
            <a:endParaRPr lang="en-US" sz="1130" dirty="0"/>
          </a:p>
          <a:p>
            <a:pPr marL="0" indent="0">
              <a:lnSpc>
                <a:spcPct val="105000"/>
              </a:lnSpc>
              <a:buNone/>
            </a:pPr>
            <a:r>
              <a:rPr lang="en-US" sz="1130" b="1" dirty="0">
                <a:solidFill>
                  <a:srgbClr val="0D9488"/>
                </a:solidFill>
                <a:latin typeface="Calibri" pitchFamily="34" charset="0"/>
                <a:ea typeface="Calibri" pitchFamily="34" charset="-122"/>
                <a:cs typeface="Calibri" pitchFamily="34" charset="-120"/>
              </a:rPr>
              <a:t>Omogucava: terminaciju BEZ dodatnih poruka.</a:t>
            </a:r>
            <a:endParaRPr lang="en-US" sz="1130" dirty="0"/>
          </a:p>
        </p:txBody>
      </p:sp>
      <p:sp>
        <p:nvSpPr>
          <p:cNvPr id="36" name="Shape 33"/>
          <p:cNvSpPr/>
          <p:nvPr/>
        </p:nvSpPr>
        <p:spPr>
          <a:xfrm>
            <a:off x="5074920" y="3337560"/>
            <a:ext cx="3337560" cy="0"/>
          </a:xfrm>
          <a:prstGeom prst="line">
            <a:avLst/>
          </a:prstGeom>
          <a:noFill/>
          <a:ln w="12700">
            <a:solidFill>
              <a:srgbClr val="E4ECF4"/>
            </a:solidFill>
            <a:prstDash val="solid"/>
          </a:ln>
        </p:spPr>
      </p:sp>
      <p:sp>
        <p:nvSpPr>
          <p:cNvPr id="37" name="Text 34"/>
          <p:cNvSpPr/>
          <p:nvPr/>
        </p:nvSpPr>
        <p:spPr>
          <a:xfrm>
            <a:off x="5074920" y="3419856"/>
            <a:ext cx="3291840" cy="274320"/>
          </a:xfrm>
          <a:prstGeom prst="rect">
            <a:avLst/>
          </a:prstGeom>
          <a:noFill/>
          <a:ln/>
        </p:spPr>
        <p:txBody>
          <a:bodyPr wrap="square" lIns="0" tIns="0" rIns="0" bIns="0" rtlCol="0" anchor="ctr"/>
          <a:lstStyle/>
          <a:p>
            <a:pPr marL="0" indent="0">
              <a:buNone/>
            </a:pPr>
            <a:r>
              <a:rPr lang="en-US" sz="1200" b="1" dirty="0">
                <a:solidFill>
                  <a:srgbClr val="C9772A"/>
                </a:solidFill>
                <a:latin typeface="Cambria" pitchFamily="34" charset="0"/>
                <a:ea typeface="Cambria" pitchFamily="34" charset="-122"/>
                <a:cs typeface="Cambria" pitchFamily="34" charset="-120"/>
              </a:rPr>
              <a:t>Sta uzima (cena):</a:t>
            </a:r>
            <a:endParaRPr lang="en-US" sz="1200" dirty="0"/>
          </a:p>
        </p:txBody>
      </p:sp>
      <p:sp>
        <p:nvSpPr>
          <p:cNvPr id="38" name="Text 35"/>
          <p:cNvSpPr/>
          <p:nvPr/>
        </p:nvSpPr>
        <p:spPr>
          <a:xfrm>
            <a:off x="5074920" y="3712464"/>
            <a:ext cx="3383280" cy="640080"/>
          </a:xfrm>
          <a:prstGeom prst="rect">
            <a:avLst/>
          </a:prstGeom>
          <a:noFill/>
          <a:ln/>
        </p:spPr>
        <p:txBody>
          <a:bodyPr wrap="square" lIns="0" tIns="0" rIns="0" bIns="0" rtlCol="0" anchor="ctr"/>
          <a:lstStyle/>
          <a:p>
            <a:pPr marL="0" indent="0">
              <a:lnSpc>
                <a:spcPct val="100000"/>
              </a:lnSpc>
              <a:spcAft>
                <a:spcPts val="300"/>
              </a:spcAft>
              <a:buNone/>
            </a:pPr>
            <a:r>
              <a:rPr lang="en-US" sz="1050" dirty="0">
                <a:solidFill>
                  <a:srgbClr val="44556A"/>
                </a:solidFill>
                <a:latin typeface="Calibri" pitchFamily="34" charset="0"/>
                <a:ea typeface="Calibri" pitchFamily="34" charset="-122"/>
                <a:cs typeface="Calibri" pitchFamily="34" charset="-120"/>
              </a:rPr>
              <a:t>•  svako salje svima preko komsija → O(n²) poruka
</a:t>
            </a:r>
            <a:endParaRPr lang="en-US" sz="1050" dirty="0"/>
          </a:p>
          <a:p>
            <a:pPr marL="0" indent="0">
              <a:lnSpc>
                <a:spcPct val="100000"/>
              </a:lnSpc>
              <a:buNone/>
            </a:pPr>
            <a:r>
              <a:rPr lang="en-US" sz="1050" dirty="0">
                <a:solidFill>
                  <a:srgbClr val="44556A"/>
                </a:solidFill>
                <a:latin typeface="Calibri" pitchFamily="34" charset="0"/>
                <a:ea typeface="Calibri" pitchFamily="34" charset="-122"/>
                <a:cs typeface="Calibri" pitchFamily="34" charset="-120"/>
              </a:rPr>
              <a:t>•  vise skokova = veca latencija (ali ogranicena Δ)</a:t>
            </a:r>
            <a:endParaRPr lang="en-US" sz="1050" dirty="0"/>
          </a:p>
        </p:txBody>
      </p:sp>
      <p:sp>
        <p:nvSpPr>
          <p:cNvPr id="40" name="Text 36"/>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3</a:t>
            </a:r>
            <a:endParaRPr lang="en-US" sz="900" dirty="0"/>
          </a:p>
        </p:txBody>
      </p:sp>
      <p:sp>
        <p:nvSpPr>
          <p:cNvPr id="41" name="Text 37"/>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Okruzenje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SVET U KOME ZIVI</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Pojam: glasacka moc</a:t>
            </a:r>
            <a:endParaRPr lang="en-US" sz="30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marL="0" indent="0">
              <a:buNone/>
            </a:pPr>
            <a:r>
              <a:rPr lang="en-US" sz="1300" i="1" dirty="0">
                <a:solidFill>
                  <a:srgbClr val="44556A"/>
                </a:solidFill>
                <a:latin typeface="Calibri" pitchFamily="34" charset="0"/>
                <a:ea typeface="Calibri" pitchFamily="34" charset="-122"/>
                <a:cs typeface="Calibri" pitchFamily="34" charset="-120"/>
              </a:rPr>
              <a:t>Posto vlasnici nisu jednaki, ni cvorovi nisu jednaki — svaki ima TEZINU.</a:t>
            </a:r>
            <a:endParaRPr lang="en-US" sz="1300" dirty="0"/>
          </a:p>
        </p:txBody>
      </p:sp>
      <p:sp>
        <p:nvSpPr>
          <p:cNvPr id="5" name="Shape 3"/>
          <p:cNvSpPr/>
          <p:nvPr/>
        </p:nvSpPr>
        <p:spPr>
          <a:xfrm>
            <a:off x="795528" y="2487168"/>
            <a:ext cx="1060704" cy="1060704"/>
          </a:xfrm>
          <a:prstGeom prst="ellipse">
            <a:avLst/>
          </a:prstGeom>
          <a:solidFill>
            <a:srgbClr val="0E2A47"/>
          </a:solidFill>
          <a:ln/>
          <a:effectLst>
            <a:outerShdw blurRad="88900" dist="25400" dir="5400000" algn="bl" rotWithShape="0">
              <a:srgbClr val="0B1A2E">
                <a:alpha val="16000"/>
              </a:srgbClr>
            </a:outerShdw>
          </a:effectLst>
        </p:spPr>
      </p:sp>
      <p:sp>
        <p:nvSpPr>
          <p:cNvPr id="6" name="Text 4"/>
          <p:cNvSpPr/>
          <p:nvPr/>
        </p:nvSpPr>
        <p:spPr>
          <a:xfrm>
            <a:off x="795528" y="2487168"/>
            <a:ext cx="1060704" cy="106070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Shape 5"/>
          <p:cNvSpPr/>
          <p:nvPr/>
        </p:nvSpPr>
        <p:spPr>
          <a:xfrm>
            <a:off x="2167128" y="2578608"/>
            <a:ext cx="877824" cy="877824"/>
          </a:xfrm>
          <a:prstGeom prst="ellipse">
            <a:avLst/>
          </a:prstGeom>
          <a:solidFill>
            <a:srgbClr val="1E466E"/>
          </a:solidFill>
          <a:ln/>
          <a:effectLst>
            <a:outerShdw blurRad="88900" dist="25400" dir="5400000" algn="bl" rotWithShape="0">
              <a:srgbClr val="0B1A2E">
                <a:alpha val="16000"/>
              </a:srgbClr>
            </a:outerShdw>
          </a:effectLst>
        </p:spPr>
      </p:sp>
      <p:sp>
        <p:nvSpPr>
          <p:cNvPr id="8" name="Text 6"/>
          <p:cNvSpPr/>
          <p:nvPr/>
        </p:nvSpPr>
        <p:spPr>
          <a:xfrm>
            <a:off x="2167128" y="2578608"/>
            <a:ext cx="877824" cy="8778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9" name="Shape 7"/>
          <p:cNvSpPr/>
          <p:nvPr/>
        </p:nvSpPr>
        <p:spPr>
          <a:xfrm>
            <a:off x="3310128" y="2670048"/>
            <a:ext cx="694944" cy="694944"/>
          </a:xfrm>
          <a:prstGeom prst="ellipse">
            <a:avLst/>
          </a:prstGeom>
          <a:solidFill>
            <a:srgbClr val="0D9488"/>
          </a:solidFill>
          <a:ln/>
          <a:effectLst>
            <a:outerShdw blurRad="88900" dist="25400" dir="5400000" algn="bl" rotWithShape="0">
              <a:srgbClr val="0B1A2E">
                <a:alpha val="16000"/>
              </a:srgbClr>
            </a:outerShdw>
          </a:effectLst>
        </p:spPr>
      </p:sp>
      <p:sp>
        <p:nvSpPr>
          <p:cNvPr id="10" name="Text 8"/>
          <p:cNvSpPr/>
          <p:nvPr/>
        </p:nvSpPr>
        <p:spPr>
          <a:xfrm>
            <a:off x="3310128" y="2670048"/>
            <a:ext cx="694944" cy="69494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1" name="Shape 9"/>
          <p:cNvSpPr/>
          <p:nvPr/>
        </p:nvSpPr>
        <p:spPr>
          <a:xfrm>
            <a:off x="4178808" y="2761488"/>
            <a:ext cx="512064" cy="512064"/>
          </a:xfrm>
          <a:prstGeom prst="ellipse">
            <a:avLst/>
          </a:prstGeom>
          <a:solidFill>
            <a:srgbClr val="5EEAD4"/>
          </a:solidFill>
          <a:ln/>
          <a:effectLst>
            <a:outerShdw blurRad="88900" dist="25400" dir="5400000" algn="bl" rotWithShape="0">
              <a:srgbClr val="0B1A2E">
                <a:alpha val="16000"/>
              </a:srgbClr>
            </a:outerShdw>
          </a:effectLst>
        </p:spPr>
      </p:sp>
      <p:sp>
        <p:nvSpPr>
          <p:cNvPr id="12" name="Text 10"/>
          <p:cNvSpPr/>
          <p:nvPr/>
        </p:nvSpPr>
        <p:spPr>
          <a:xfrm>
            <a:off x="4178808" y="2761488"/>
            <a:ext cx="512064" cy="512064"/>
          </a:xfrm>
          <a:prstGeom prst="rect">
            <a:avLst/>
          </a:prstGeom>
          <a:noFill/>
          <a:ln/>
        </p:spPr>
        <p:txBody>
          <a:bodyPr wrap="square" lIns="0" tIns="0" rIns="0" bIns="0" rtlCol="0" anchor="ctr"/>
          <a:lstStyle/>
          <a:p>
            <a:pPr marL="0" indent="0" algn="ctr">
              <a:buNone/>
            </a:pPr>
            <a:r>
              <a:rPr lang="en-US" sz="1400" b="1" dirty="0">
                <a:solidFill>
                  <a:srgbClr val="0E2138"/>
                </a:solidFill>
                <a:latin typeface="Cambria" pitchFamily="34" charset="0"/>
                <a:ea typeface="Cambria" pitchFamily="34" charset="-122"/>
                <a:cs typeface="Cambria" pitchFamily="34" charset="-120"/>
              </a:rPr>
              <a:t>D</a:t>
            </a:r>
            <a:endParaRPr lang="en-US" sz="1400" dirty="0"/>
          </a:p>
        </p:txBody>
      </p:sp>
      <p:sp>
        <p:nvSpPr>
          <p:cNvPr id="13" name="Text 11"/>
          <p:cNvSpPr/>
          <p:nvPr/>
        </p:nvSpPr>
        <p:spPr>
          <a:xfrm>
            <a:off x="548640" y="3886200"/>
            <a:ext cx="4114800" cy="292608"/>
          </a:xfrm>
          <a:prstGeom prst="rect">
            <a:avLst/>
          </a:prstGeom>
          <a:noFill/>
          <a:ln/>
        </p:spPr>
        <p:txBody>
          <a:bodyPr wrap="square" lIns="0" tIns="0" rIns="0" bIns="0" rtlCol="0" anchor="ctr"/>
          <a:lstStyle/>
          <a:p>
            <a:pPr marL="0" indent="0" algn="ctr">
              <a:buNone/>
            </a:pPr>
            <a:r>
              <a:rPr lang="en-US" sz="1150" b="1" dirty="0">
                <a:solidFill>
                  <a:srgbClr val="0E2138"/>
                </a:solidFill>
                <a:latin typeface="Calibri" pitchFamily="34" charset="0"/>
                <a:ea typeface="Calibri" pitchFamily="34" charset="-122"/>
                <a:cs typeface="Calibri" pitchFamily="34" charset="-120"/>
              </a:rPr>
              <a:t>moc:   A = 4    B = 3    C = 2    D = 1</a:t>
            </a:r>
            <a:endParaRPr lang="en-US" sz="1150" dirty="0"/>
          </a:p>
        </p:txBody>
      </p:sp>
      <p:sp>
        <p:nvSpPr>
          <p:cNvPr id="14" name="Text 12"/>
          <p:cNvSpPr/>
          <p:nvPr/>
        </p:nvSpPr>
        <p:spPr>
          <a:xfrm>
            <a:off x="548640" y="4206240"/>
            <a:ext cx="4114800" cy="274320"/>
          </a:xfrm>
          <a:prstGeom prst="rect">
            <a:avLst/>
          </a:prstGeom>
          <a:noFill/>
          <a:ln/>
        </p:spPr>
        <p:txBody>
          <a:bodyPr wrap="square" lIns="0" tIns="0" rIns="0" bIns="0" rtlCol="0" anchor="ctr"/>
          <a:lstStyle/>
          <a:p>
            <a:pPr marL="0" indent="0" algn="ctr">
              <a:buNone/>
            </a:pPr>
            <a:r>
              <a:rPr lang="en-US" sz="1100" i="1" dirty="0">
                <a:solidFill>
                  <a:srgbClr val="0D9488"/>
                </a:solidFill>
                <a:latin typeface="Calibri" pitchFamily="34" charset="0"/>
                <a:ea typeface="Calibri" pitchFamily="34" charset="-122"/>
                <a:cs typeface="Calibri" pitchFamily="34" charset="-120"/>
              </a:rPr>
              <a:t>ukupna moc  n = 10</a:t>
            </a:r>
            <a:endParaRPr lang="en-US" sz="1100" dirty="0"/>
          </a:p>
        </p:txBody>
      </p:sp>
      <p:sp>
        <p:nvSpPr>
          <p:cNvPr id="15" name="Shape 13"/>
          <p:cNvSpPr/>
          <p:nvPr/>
        </p:nvSpPr>
        <p:spPr>
          <a:xfrm>
            <a:off x="4892040" y="1783080"/>
            <a:ext cx="3749040" cy="2880360"/>
          </a:xfrm>
          <a:prstGeom prst="roundRect">
            <a:avLst>
              <a:gd name="adj" fmla="val 3175"/>
            </a:avLst>
          </a:prstGeom>
          <a:solidFill>
            <a:srgbClr val="FFFFFF"/>
          </a:solidFill>
          <a:ln/>
          <a:effectLst>
            <a:outerShdw blurRad="114300" dist="38100" dir="5400000" algn="bl" rotWithShape="0">
              <a:srgbClr val="0B1A2E">
                <a:alpha val="13000"/>
              </a:srgbClr>
            </a:outerShdw>
          </a:effectLst>
        </p:spPr>
      </p:sp>
      <p:sp>
        <p:nvSpPr>
          <p:cNvPr id="16" name="Text 14"/>
          <p:cNvSpPr/>
          <p:nvPr/>
        </p:nvSpPr>
        <p:spPr>
          <a:xfrm>
            <a:off x="5120640" y="1965960"/>
            <a:ext cx="3337560" cy="2606040"/>
          </a:xfrm>
          <a:prstGeom prst="rect">
            <a:avLst/>
          </a:prstGeom>
          <a:noFill/>
          <a:ln/>
        </p:spPr>
        <p:txBody>
          <a:bodyPr wrap="square" lIns="0" tIns="0" rIns="0" bIns="0" rtlCol="0" anchor="ctr"/>
          <a:lstStyle/>
          <a:p>
            <a:pPr marL="0" indent="0">
              <a:lnSpc>
                <a:spcPct val="104000"/>
              </a:lnSpc>
              <a:spcAft>
                <a:spcPts val="700"/>
              </a:spcAft>
              <a:buNone/>
            </a:pPr>
            <a:r>
              <a:rPr lang="en-US" sz="1130" b="1" dirty="0">
                <a:solidFill>
                  <a:srgbClr val="0E2138"/>
                </a:solidFill>
                <a:latin typeface="Calibri" pitchFamily="34" charset="0"/>
                <a:ea typeface="Calibri" pitchFamily="34" charset="-122"/>
                <a:cs typeface="Calibri" pitchFamily="34" charset="-120"/>
              </a:rPr>
              <a:t>Pricamo o MOCI, ne o broju cvorova.
</a:t>
            </a:r>
            <a:endParaRPr lang="en-US" sz="1130" dirty="0"/>
          </a:p>
          <a:p>
            <a:pPr marL="0" indent="0">
              <a:lnSpc>
                <a:spcPct val="104000"/>
              </a:lnSpc>
              <a:spcAft>
                <a:spcPts val="700"/>
              </a:spcAft>
              <a:buNone/>
            </a:pPr>
            <a:r>
              <a:rPr lang="en-US" sz="1130" dirty="0">
                <a:solidFill>
                  <a:srgbClr val="44556A"/>
                </a:solidFill>
                <a:latin typeface="Calibri" pitchFamily="34" charset="0"/>
                <a:ea typeface="Calibri" pitchFamily="34" charset="-122"/>
                <a:cs typeface="Calibri" pitchFamily="34" charset="-120"/>
              </a:rPr>
              <a:t>Svi pragovi se racunaju od UKUPNE moci: f je granica moci zlonamernih, a za odluku treba 2f+1 od ukupne moci.
</a:t>
            </a:r>
            <a:endParaRPr lang="en-US" sz="1130" dirty="0"/>
          </a:p>
          <a:p>
            <a:pPr marL="0" indent="0">
              <a:lnSpc>
                <a:spcPct val="104000"/>
              </a:lnSpc>
              <a:buNone/>
            </a:pPr>
            <a:r>
              <a:rPr lang="en-US" sz="1130" b="1" dirty="0">
                <a:solidFill>
                  <a:srgbClr val="0D9488"/>
                </a:solidFill>
                <a:latin typeface="Calibri" pitchFamily="34" charset="0"/>
                <a:ea typeface="Calibri" pitchFamily="34" charset="-122"/>
                <a:cs typeface="Calibri" pitchFamily="34" charset="-120"/>
              </a:rPr>
              <a:t>Analogija — akcionari:  </a:t>
            </a:r>
            <a:r>
              <a:rPr lang="en-US" sz="1130" dirty="0">
                <a:solidFill>
                  <a:srgbClr val="44556A"/>
                </a:solidFill>
                <a:latin typeface="Calibri" pitchFamily="34" charset="0"/>
                <a:ea typeface="Calibri" pitchFamily="34" charset="-122"/>
                <a:cs typeface="Calibri" pitchFamily="34" charset="-120"/>
              </a:rPr>
              <a:t>vise akcija = tezi glas. Za odluku treba 2/3 svih GLASOVA, ne 2/3 glava.
</a:t>
            </a:r>
            <a:endParaRPr lang="en-US" sz="1130" dirty="0"/>
          </a:p>
          <a:p>
            <a:pPr marL="0" indent="0">
              <a:lnSpc>
                <a:spcPct val="104000"/>
              </a:lnSpc>
              <a:buNone/>
            </a:pPr>
            <a:r>
              <a:rPr lang="en-US" sz="1130" b="1" dirty="0">
                <a:solidFill>
                  <a:srgbClr val="0D9488"/>
                </a:solidFill>
                <a:latin typeface="Calibri" pitchFamily="34" charset="0"/>
                <a:ea typeface="Calibri" pitchFamily="34" charset="-122"/>
                <a:cs typeface="Calibri" pitchFamily="34" charset="-120"/>
              </a:rPr>
              <a:t>Proof-of-stake:  </a:t>
            </a:r>
            <a:r>
              <a:rPr lang="en-US" sz="1130" dirty="0">
                <a:solidFill>
                  <a:srgbClr val="44556A"/>
                </a:solidFill>
                <a:latin typeface="Calibri" pitchFamily="34" charset="0"/>
                <a:ea typeface="Calibri" pitchFamily="34" charset="-122"/>
                <a:cs typeface="Calibri" pitchFamily="34" charset="-120"/>
              </a:rPr>
              <a:t>f je udeo ULOGA, ne broj cvorova → anti-Sybil (pravljenje laznih cvorova ne pomaze).</a:t>
            </a:r>
            <a:endParaRPr lang="en-US" sz="1130" dirty="0"/>
          </a:p>
        </p:txBody>
      </p:sp>
      <p:sp>
        <p:nvSpPr>
          <p:cNvPr id="18" name="Text 15"/>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4</a:t>
            </a:r>
            <a:endParaRPr lang="en-US" sz="900" dirty="0"/>
          </a:p>
        </p:txBody>
      </p:sp>
      <p:sp>
        <p:nvSpPr>
          <p:cNvPr id="19" name="Text 16"/>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Okruzenje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SVET U KOME ZIVI</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Parcijalna sinhronija: GST i Δ</a:t>
            </a:r>
            <a:endParaRPr lang="en-US" sz="3000" dirty="0"/>
          </a:p>
        </p:txBody>
      </p:sp>
      <p:sp>
        <p:nvSpPr>
          <p:cNvPr id="4" name="Shape 2"/>
          <p:cNvSpPr/>
          <p:nvPr/>
        </p:nvSpPr>
        <p:spPr>
          <a:xfrm>
            <a:off x="868680" y="1737360"/>
            <a:ext cx="3703320" cy="2240280"/>
          </a:xfrm>
          <a:prstGeom prst="roundRect">
            <a:avLst>
              <a:gd name="adj" fmla="val 3265"/>
            </a:avLst>
          </a:prstGeom>
          <a:solidFill>
            <a:srgbClr val="FBEEDD"/>
          </a:solidFill>
          <a:ln/>
        </p:spPr>
      </p:sp>
      <p:sp>
        <p:nvSpPr>
          <p:cNvPr id="5" name="Shape 3"/>
          <p:cNvSpPr/>
          <p:nvPr/>
        </p:nvSpPr>
        <p:spPr>
          <a:xfrm>
            <a:off x="4572000" y="1737360"/>
            <a:ext cx="4069080" cy="2240280"/>
          </a:xfrm>
          <a:prstGeom prst="roundRect">
            <a:avLst>
              <a:gd name="adj" fmla="val 3265"/>
            </a:avLst>
          </a:prstGeom>
          <a:solidFill>
            <a:srgbClr val="EFFAF8"/>
          </a:solidFill>
          <a:ln/>
        </p:spPr>
      </p:sp>
      <p:sp>
        <p:nvSpPr>
          <p:cNvPr id="6" name="Text 4"/>
          <p:cNvSpPr/>
          <p:nvPr/>
        </p:nvSpPr>
        <p:spPr>
          <a:xfrm>
            <a:off x="1024128" y="1828800"/>
            <a:ext cx="3429000" cy="274320"/>
          </a:xfrm>
          <a:prstGeom prst="rect">
            <a:avLst/>
          </a:prstGeom>
          <a:noFill/>
          <a:ln/>
        </p:spPr>
        <p:txBody>
          <a:bodyPr wrap="square" lIns="0" tIns="0" rIns="0" bIns="0" rtlCol="0" anchor="ctr"/>
          <a:lstStyle/>
          <a:p>
            <a:pPr marL="0" indent="0">
              <a:buNone/>
            </a:pPr>
            <a:r>
              <a:rPr lang="en-US" sz="1200" b="1" dirty="0">
                <a:solidFill>
                  <a:srgbClr val="C9772A"/>
                </a:solidFill>
                <a:latin typeface="Cambria" pitchFamily="34" charset="0"/>
                <a:ea typeface="Cambria" pitchFamily="34" charset="-122"/>
                <a:cs typeface="Cambria" pitchFamily="34" charset="-120"/>
              </a:rPr>
              <a:t>PRE GST  ·  asinhrono / haoticno</a:t>
            </a:r>
            <a:endParaRPr lang="en-US" sz="1200" dirty="0"/>
          </a:p>
        </p:txBody>
      </p:sp>
      <p:sp>
        <p:nvSpPr>
          <p:cNvPr id="7" name="Text 5"/>
          <p:cNvSpPr/>
          <p:nvPr/>
        </p:nvSpPr>
        <p:spPr>
          <a:xfrm>
            <a:off x="1024128" y="2103120"/>
            <a:ext cx="3429000" cy="256032"/>
          </a:xfrm>
          <a:prstGeom prst="rect">
            <a:avLst/>
          </a:prstGeom>
          <a:noFill/>
          <a:ln/>
        </p:spPr>
        <p:txBody>
          <a:bodyPr wrap="square" lIns="0" tIns="0" rIns="0" bIns="0" rtlCol="0" anchor="ctr"/>
          <a:lstStyle/>
          <a:p>
            <a:pPr marL="0" indent="0">
              <a:buNone/>
            </a:pPr>
            <a:r>
              <a:rPr lang="en-US" sz="950" i="1" dirty="0">
                <a:solidFill>
                  <a:srgbClr val="44556A"/>
                </a:solidFill>
                <a:latin typeface="Calibri" pitchFamily="34" charset="0"/>
                <a:ea typeface="Calibri" pitchFamily="34" charset="-122"/>
                <a:cs typeface="Calibri" pitchFamily="34" charset="-120"/>
              </a:rPr>
              <a:t>poruke kasne nepredvidivo, mogu se i gubiti</a:t>
            </a:r>
            <a:endParaRPr lang="en-US" sz="950" dirty="0"/>
          </a:p>
        </p:txBody>
      </p:sp>
      <p:sp>
        <p:nvSpPr>
          <p:cNvPr id="8" name="Text 6"/>
          <p:cNvSpPr/>
          <p:nvPr/>
        </p:nvSpPr>
        <p:spPr>
          <a:xfrm>
            <a:off x="4727448" y="1828800"/>
            <a:ext cx="3749040" cy="274320"/>
          </a:xfrm>
          <a:prstGeom prst="rect">
            <a:avLst/>
          </a:prstGeom>
          <a:noFill/>
          <a:ln/>
        </p:spPr>
        <p:txBody>
          <a:bodyPr wrap="square" lIns="0" tIns="0" rIns="0" bIns="0" rtlCol="0" anchor="ctr"/>
          <a:lstStyle/>
          <a:p>
            <a:pPr marL="0" indent="0">
              <a:buNone/>
            </a:pPr>
            <a:r>
              <a:rPr lang="en-US" sz="1200" b="1" dirty="0">
                <a:solidFill>
                  <a:srgbClr val="0D9488"/>
                </a:solidFill>
                <a:latin typeface="Cambria" pitchFamily="34" charset="0"/>
                <a:ea typeface="Cambria" pitchFamily="34" charset="-122"/>
                <a:cs typeface="Cambria" pitchFamily="34" charset="-120"/>
              </a:rPr>
              <a:t>POSLE GST  ·  Δ-blagovremeno</a:t>
            </a:r>
            <a:endParaRPr lang="en-US" sz="1200" dirty="0"/>
          </a:p>
        </p:txBody>
      </p:sp>
      <p:sp>
        <p:nvSpPr>
          <p:cNvPr id="9" name="Text 7"/>
          <p:cNvSpPr/>
          <p:nvPr/>
        </p:nvSpPr>
        <p:spPr>
          <a:xfrm>
            <a:off x="4727448" y="2103120"/>
            <a:ext cx="3749040" cy="256032"/>
          </a:xfrm>
          <a:prstGeom prst="rect">
            <a:avLst/>
          </a:prstGeom>
          <a:noFill/>
          <a:ln/>
        </p:spPr>
        <p:txBody>
          <a:bodyPr wrap="square" lIns="0" tIns="0" rIns="0" bIns="0" rtlCol="0" anchor="ctr"/>
          <a:lstStyle/>
          <a:p>
            <a:pPr marL="0" indent="0">
              <a:buNone/>
            </a:pPr>
            <a:r>
              <a:rPr lang="en-US" sz="950" i="1" dirty="0">
                <a:solidFill>
                  <a:srgbClr val="44556A"/>
                </a:solidFill>
                <a:latin typeface="Calibri" pitchFamily="34" charset="0"/>
                <a:ea typeface="Calibri" pitchFamily="34" charset="-122"/>
                <a:cs typeface="Calibri" pitchFamily="34" charset="-120"/>
              </a:rPr>
              <a:t>sve poruke medju postenima stizu u roku Δ</a:t>
            </a:r>
            <a:endParaRPr lang="en-US" sz="950" dirty="0"/>
          </a:p>
        </p:txBody>
      </p:sp>
      <p:sp>
        <p:nvSpPr>
          <p:cNvPr id="10" name="Shape 8"/>
          <p:cNvSpPr/>
          <p:nvPr/>
        </p:nvSpPr>
        <p:spPr>
          <a:xfrm>
            <a:off x="4572000" y="1591056"/>
            <a:ext cx="0" cy="2505456"/>
          </a:xfrm>
          <a:prstGeom prst="line">
            <a:avLst/>
          </a:prstGeom>
          <a:noFill/>
          <a:ln w="31750">
            <a:solidFill>
              <a:srgbClr val="0E2138"/>
            </a:solidFill>
            <a:prstDash val="solid"/>
          </a:ln>
        </p:spPr>
      </p:sp>
      <p:sp>
        <p:nvSpPr>
          <p:cNvPr id="11" name="Shape 9"/>
          <p:cNvSpPr/>
          <p:nvPr/>
        </p:nvSpPr>
        <p:spPr>
          <a:xfrm>
            <a:off x="4224528" y="1335024"/>
            <a:ext cx="694944" cy="310896"/>
          </a:xfrm>
          <a:prstGeom prst="roundRect">
            <a:avLst>
              <a:gd name="adj" fmla="val 50000"/>
            </a:avLst>
          </a:prstGeom>
          <a:solidFill>
            <a:srgbClr val="0E2A47"/>
          </a:solidFill>
          <a:ln/>
        </p:spPr>
      </p:sp>
      <p:sp>
        <p:nvSpPr>
          <p:cNvPr id="12" name="Text 10"/>
          <p:cNvSpPr/>
          <p:nvPr/>
        </p:nvSpPr>
        <p:spPr>
          <a:xfrm>
            <a:off x="4224528" y="1325880"/>
            <a:ext cx="69494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GST</a:t>
            </a:r>
            <a:endParaRPr lang="en-US" sz="1100" dirty="0"/>
          </a:p>
        </p:txBody>
      </p:sp>
      <p:sp>
        <p:nvSpPr>
          <p:cNvPr id="13" name="Text 11"/>
          <p:cNvSpPr/>
          <p:nvPr/>
        </p:nvSpPr>
        <p:spPr>
          <a:xfrm>
            <a:off x="548640" y="2651760"/>
            <a:ext cx="274320" cy="274320"/>
          </a:xfrm>
          <a:prstGeom prst="rect">
            <a:avLst/>
          </a:prstGeom>
          <a:noFill/>
          <a:ln/>
        </p:spPr>
        <p:txBody>
          <a:bodyPr wrap="square" lIns="0" tIns="0" rIns="0" bIns="0" rtlCol="0" anchor="ctr"/>
          <a:lstStyle/>
          <a:p>
            <a:pPr marL="0" indent="0" algn="ctr">
              <a:buNone/>
            </a:pPr>
            <a:r>
              <a:rPr lang="en-US" sz="1200" b="1" dirty="0">
                <a:solidFill>
                  <a:srgbClr val="1E466E"/>
                </a:solidFill>
                <a:latin typeface="Cambria" pitchFamily="34" charset="0"/>
                <a:ea typeface="Cambria" pitchFamily="34" charset="-122"/>
                <a:cs typeface="Cambria" pitchFamily="34" charset="-120"/>
              </a:rPr>
              <a:t>A</a:t>
            </a:r>
            <a:endParaRPr lang="en-US" sz="1200" dirty="0"/>
          </a:p>
        </p:txBody>
      </p:sp>
      <p:sp>
        <p:nvSpPr>
          <p:cNvPr id="14" name="Text 12"/>
          <p:cNvSpPr/>
          <p:nvPr/>
        </p:nvSpPr>
        <p:spPr>
          <a:xfrm>
            <a:off x="548640" y="3611880"/>
            <a:ext cx="274320" cy="274320"/>
          </a:xfrm>
          <a:prstGeom prst="rect">
            <a:avLst/>
          </a:prstGeom>
          <a:noFill/>
          <a:ln/>
        </p:spPr>
        <p:txBody>
          <a:bodyPr wrap="square" lIns="0" tIns="0" rIns="0" bIns="0" rtlCol="0" anchor="ctr"/>
          <a:lstStyle/>
          <a:p>
            <a:pPr marL="0" indent="0" algn="ctr">
              <a:buNone/>
            </a:pPr>
            <a:r>
              <a:rPr lang="en-US" sz="1200" b="1" dirty="0">
                <a:solidFill>
                  <a:srgbClr val="1E466E"/>
                </a:solidFill>
                <a:latin typeface="Cambria" pitchFamily="34" charset="0"/>
                <a:ea typeface="Cambria" pitchFamily="34" charset="-122"/>
                <a:cs typeface="Cambria" pitchFamily="34" charset="-120"/>
              </a:rPr>
              <a:t>B</a:t>
            </a:r>
            <a:endParaRPr lang="en-US" sz="1200" dirty="0"/>
          </a:p>
        </p:txBody>
      </p:sp>
      <p:sp>
        <p:nvSpPr>
          <p:cNvPr id="15" name="Shape 13"/>
          <p:cNvSpPr/>
          <p:nvPr/>
        </p:nvSpPr>
        <p:spPr>
          <a:xfrm>
            <a:off x="960120" y="2788920"/>
            <a:ext cx="7635240" cy="0"/>
          </a:xfrm>
          <a:prstGeom prst="line">
            <a:avLst/>
          </a:prstGeom>
          <a:noFill/>
          <a:ln w="12700">
            <a:solidFill>
              <a:srgbClr val="6B7C93"/>
            </a:solidFill>
            <a:prstDash val="dash"/>
          </a:ln>
        </p:spPr>
      </p:sp>
      <p:sp>
        <p:nvSpPr>
          <p:cNvPr id="16" name="Shape 14"/>
          <p:cNvSpPr/>
          <p:nvPr/>
        </p:nvSpPr>
        <p:spPr>
          <a:xfrm>
            <a:off x="960120" y="3749040"/>
            <a:ext cx="7635240" cy="0"/>
          </a:xfrm>
          <a:prstGeom prst="line">
            <a:avLst/>
          </a:prstGeom>
          <a:noFill/>
          <a:ln w="12700">
            <a:solidFill>
              <a:srgbClr val="6B7C93"/>
            </a:solidFill>
            <a:prstDash val="dash"/>
          </a:ln>
        </p:spPr>
      </p:sp>
      <p:sp>
        <p:nvSpPr>
          <p:cNvPr id="17" name="Shape 15"/>
          <p:cNvSpPr/>
          <p:nvPr/>
        </p:nvSpPr>
        <p:spPr>
          <a:xfrm>
            <a:off x="1325880" y="2788920"/>
            <a:ext cx="1325880" cy="960120"/>
          </a:xfrm>
          <a:prstGeom prst="line">
            <a:avLst/>
          </a:prstGeom>
          <a:noFill/>
          <a:ln w="22225">
            <a:solidFill>
              <a:srgbClr val="C9772A"/>
            </a:solidFill>
            <a:prstDash val="solid"/>
            <a:tailEnd type="triangle"/>
          </a:ln>
        </p:spPr>
      </p:sp>
      <p:sp>
        <p:nvSpPr>
          <p:cNvPr id="18" name="Shape 16"/>
          <p:cNvSpPr/>
          <p:nvPr/>
        </p:nvSpPr>
        <p:spPr>
          <a:xfrm>
            <a:off x="1874520" y="2788920"/>
            <a:ext cx="2103120" cy="960120"/>
          </a:xfrm>
          <a:prstGeom prst="line">
            <a:avLst/>
          </a:prstGeom>
          <a:noFill/>
          <a:ln w="22225">
            <a:solidFill>
              <a:srgbClr val="C9772A"/>
            </a:solidFill>
            <a:prstDash val="solid"/>
            <a:tailEnd type="triangle"/>
          </a:ln>
        </p:spPr>
      </p:sp>
      <p:sp>
        <p:nvSpPr>
          <p:cNvPr id="19" name="Shape 17"/>
          <p:cNvSpPr/>
          <p:nvPr/>
        </p:nvSpPr>
        <p:spPr>
          <a:xfrm>
            <a:off x="2926080" y="2788920"/>
            <a:ext cx="1389888" cy="960120"/>
          </a:xfrm>
          <a:prstGeom prst="line">
            <a:avLst/>
          </a:prstGeom>
          <a:noFill/>
          <a:ln w="22225">
            <a:solidFill>
              <a:srgbClr val="C9772A"/>
            </a:solidFill>
            <a:prstDash val="solid"/>
            <a:tailEnd type="triangle"/>
          </a:ln>
        </p:spPr>
      </p:sp>
      <p:sp>
        <p:nvSpPr>
          <p:cNvPr id="20" name="Shape 18"/>
          <p:cNvSpPr/>
          <p:nvPr/>
        </p:nvSpPr>
        <p:spPr>
          <a:xfrm>
            <a:off x="4937760" y="2788920"/>
            <a:ext cx="548640" cy="960120"/>
          </a:xfrm>
          <a:prstGeom prst="line">
            <a:avLst/>
          </a:prstGeom>
          <a:noFill/>
          <a:ln w="22225">
            <a:solidFill>
              <a:srgbClr val="0D9488"/>
            </a:solidFill>
            <a:prstDash val="solid"/>
            <a:tailEnd type="triangle"/>
          </a:ln>
        </p:spPr>
      </p:sp>
      <p:sp>
        <p:nvSpPr>
          <p:cNvPr id="21" name="Shape 19"/>
          <p:cNvSpPr/>
          <p:nvPr/>
        </p:nvSpPr>
        <p:spPr>
          <a:xfrm>
            <a:off x="5852160" y="2788920"/>
            <a:ext cx="548640" cy="960120"/>
          </a:xfrm>
          <a:prstGeom prst="line">
            <a:avLst/>
          </a:prstGeom>
          <a:noFill/>
          <a:ln w="22225">
            <a:solidFill>
              <a:srgbClr val="0D9488"/>
            </a:solidFill>
            <a:prstDash val="solid"/>
            <a:tailEnd type="triangle"/>
          </a:ln>
        </p:spPr>
      </p:sp>
      <p:sp>
        <p:nvSpPr>
          <p:cNvPr id="22" name="Shape 20"/>
          <p:cNvSpPr/>
          <p:nvPr/>
        </p:nvSpPr>
        <p:spPr>
          <a:xfrm>
            <a:off x="6858000" y="2788920"/>
            <a:ext cx="548640" cy="960120"/>
          </a:xfrm>
          <a:prstGeom prst="line">
            <a:avLst/>
          </a:prstGeom>
          <a:noFill/>
          <a:ln w="22225">
            <a:solidFill>
              <a:srgbClr val="0D9488"/>
            </a:solidFill>
            <a:prstDash val="solid"/>
            <a:tailEnd type="triangle"/>
          </a:ln>
        </p:spPr>
      </p:sp>
      <p:sp>
        <p:nvSpPr>
          <p:cNvPr id="23" name="Shape 21"/>
          <p:cNvSpPr/>
          <p:nvPr/>
        </p:nvSpPr>
        <p:spPr>
          <a:xfrm>
            <a:off x="7726680" y="2788920"/>
            <a:ext cx="548640" cy="960120"/>
          </a:xfrm>
          <a:prstGeom prst="line">
            <a:avLst/>
          </a:prstGeom>
          <a:noFill/>
          <a:ln w="22225">
            <a:solidFill>
              <a:srgbClr val="0D9488"/>
            </a:solidFill>
            <a:prstDash val="solid"/>
            <a:tailEnd type="triangle"/>
          </a:ln>
        </p:spPr>
      </p:sp>
      <p:sp>
        <p:nvSpPr>
          <p:cNvPr id="24" name="Shape 22"/>
          <p:cNvSpPr/>
          <p:nvPr/>
        </p:nvSpPr>
        <p:spPr>
          <a:xfrm>
            <a:off x="4937760" y="2596896"/>
            <a:ext cx="548640" cy="0"/>
          </a:xfrm>
          <a:prstGeom prst="line">
            <a:avLst/>
          </a:prstGeom>
          <a:noFill/>
          <a:ln w="15875">
            <a:solidFill>
              <a:srgbClr val="0D9488"/>
            </a:solidFill>
            <a:prstDash val="solid"/>
          </a:ln>
        </p:spPr>
      </p:sp>
      <p:sp>
        <p:nvSpPr>
          <p:cNvPr id="25" name="Text 23"/>
          <p:cNvSpPr/>
          <p:nvPr/>
        </p:nvSpPr>
        <p:spPr>
          <a:xfrm>
            <a:off x="4983480" y="2322576"/>
            <a:ext cx="457200" cy="256032"/>
          </a:xfrm>
          <a:prstGeom prst="rect">
            <a:avLst/>
          </a:prstGeom>
          <a:noFill/>
          <a:ln/>
        </p:spPr>
        <p:txBody>
          <a:bodyPr wrap="square" lIns="0" tIns="0" rIns="0" bIns="0" rtlCol="0" anchor="ctr"/>
          <a:lstStyle/>
          <a:p>
            <a:pPr marL="0" indent="0" algn="ctr">
              <a:buNone/>
            </a:pPr>
            <a:r>
              <a:rPr lang="en-US" sz="1200" b="1" dirty="0">
                <a:solidFill>
                  <a:srgbClr val="0D9488"/>
                </a:solidFill>
                <a:latin typeface="Cambria" pitchFamily="34" charset="0"/>
                <a:ea typeface="Cambria" pitchFamily="34" charset="-122"/>
                <a:cs typeface="Cambria" pitchFamily="34" charset="-120"/>
              </a:rPr>
              <a:t>Δ</a:t>
            </a:r>
            <a:endParaRPr lang="en-US" sz="1200" dirty="0"/>
          </a:p>
        </p:txBody>
      </p:sp>
      <p:sp>
        <p:nvSpPr>
          <p:cNvPr id="26" name="Shape 24"/>
          <p:cNvSpPr/>
          <p:nvPr/>
        </p:nvSpPr>
        <p:spPr>
          <a:xfrm>
            <a:off x="502920" y="4114800"/>
            <a:ext cx="8138160" cy="566928"/>
          </a:xfrm>
          <a:prstGeom prst="roundRect">
            <a:avLst>
              <a:gd name="adj" fmla="val 9677"/>
            </a:avLst>
          </a:prstGeom>
          <a:solidFill>
            <a:srgbClr val="EAF1F8"/>
          </a:solidFill>
          <a:ln/>
        </p:spPr>
      </p:sp>
      <p:sp>
        <p:nvSpPr>
          <p:cNvPr id="27" name="Text 25"/>
          <p:cNvSpPr/>
          <p:nvPr/>
        </p:nvSpPr>
        <p:spPr>
          <a:xfrm>
            <a:off x="731520" y="4133088"/>
            <a:ext cx="7680960" cy="530352"/>
          </a:xfrm>
          <a:prstGeom prst="rect">
            <a:avLst/>
          </a:prstGeom>
          <a:noFill/>
          <a:ln/>
        </p:spPr>
        <p:txBody>
          <a:bodyPr wrap="square" lIns="0" tIns="0" rIns="0" bIns="0" rtlCol="0" anchor="ctr"/>
          <a:lstStyle/>
          <a:p>
            <a:pPr marL="0" indent="0" algn="ctr">
              <a:buNone/>
            </a:pPr>
            <a:r>
              <a:rPr lang="en-US" sz="1100" b="1" dirty="0">
                <a:solidFill>
                  <a:srgbClr val="1E466E"/>
                </a:solidFill>
                <a:latin typeface="Calibri" pitchFamily="34" charset="0"/>
                <a:ea typeface="Calibri" pitchFamily="34" charset="-122"/>
                <a:cs typeface="Calibri" pitchFamily="34" charset="-120"/>
              </a:rPr>
              <a:t>Δ i GST POSTOJE, ali se ne znaju unapred.  </a:t>
            </a:r>
            <a:r>
              <a:rPr lang="en-US" sz="1100" dirty="0">
                <a:solidFill>
                  <a:srgbClr val="44556A"/>
                </a:solidFill>
                <a:latin typeface="Calibri" pitchFamily="34" charset="0"/>
                <a:ea typeface="Calibri" pitchFamily="34" charset="-122"/>
                <a:cs typeface="Calibri" pitchFamily="34" charset="-120"/>
              </a:rPr>
              <a:t>Bezbednost vazi i levo i desno; zivost tek DESNO, posle GST.</a:t>
            </a:r>
            <a:endParaRPr lang="en-US" sz="1100" dirty="0"/>
          </a:p>
        </p:txBody>
      </p:sp>
      <p:sp>
        <p:nvSpPr>
          <p:cNvPr id="29" name="Text 26"/>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5</a:t>
            </a:r>
            <a:endParaRPr lang="en-US" sz="900" dirty="0"/>
          </a:p>
        </p:txBody>
      </p:sp>
      <p:sp>
        <p:nvSpPr>
          <p:cNvPr id="30" name="Text 27"/>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Okruzenje</a:t>
            </a:r>
            <a:endParaRPr lang="en-US" sz="900" dirty="0"/>
          </a:p>
        </p:txBody>
      </p:sp>
      <p:pic>
        <p:nvPicPr>
          <p:cNvPr id="31" name="Picture 30">
            <a:extLst>
              <a:ext uri="{FF2B5EF4-FFF2-40B4-BE49-F238E27FC236}">
                <a16:creationId xmlns:a16="http://schemas.microsoft.com/office/drawing/2014/main" id="{D5524FA7-164E-417D-38B0-D5004ADFB9B2}"/>
              </a:ext>
            </a:extLst>
          </p:cNvPr>
          <p:cNvPicPr>
            <a:picLocks noChangeAspect="1"/>
          </p:cNvPicPr>
          <p:nvPr/>
        </p:nvPicPr>
        <p:blipFill>
          <a:blip r:embed="rId3"/>
          <a:stretch>
            <a:fillRect/>
          </a:stretch>
        </p:blipFill>
        <p:spPr>
          <a:xfrm>
            <a:off x="807962" y="1277229"/>
            <a:ext cx="3416566" cy="544858"/>
          </a:xfrm>
          <a:prstGeom prst="rect">
            <a:avLst/>
          </a:prstGeom>
        </p:spPr>
      </p:pic>
      <p:pic>
        <p:nvPicPr>
          <p:cNvPr id="33" name="Picture 32">
            <a:extLst>
              <a:ext uri="{FF2B5EF4-FFF2-40B4-BE49-F238E27FC236}">
                <a16:creationId xmlns:a16="http://schemas.microsoft.com/office/drawing/2014/main" id="{8F84922B-6083-7B9A-0EC3-42F65D5CB4E8}"/>
              </a:ext>
            </a:extLst>
          </p:cNvPr>
          <p:cNvPicPr>
            <a:picLocks noChangeAspect="1"/>
          </p:cNvPicPr>
          <p:nvPr/>
        </p:nvPicPr>
        <p:blipFill>
          <a:blip r:embed="rId4"/>
          <a:stretch>
            <a:fillRect/>
          </a:stretch>
        </p:blipFill>
        <p:spPr>
          <a:xfrm>
            <a:off x="4971126" y="1275607"/>
            <a:ext cx="3737172" cy="591363"/>
          </a:xfrm>
          <a:prstGeom prst="rect">
            <a:avLst/>
          </a:prstGeom>
        </p:spPr>
      </p:pic>
      <p:sp>
        <p:nvSpPr>
          <p:cNvPr id="32" name="TextBox 31">
            <a:extLst>
              <a:ext uri="{FF2B5EF4-FFF2-40B4-BE49-F238E27FC236}">
                <a16:creationId xmlns:a16="http://schemas.microsoft.com/office/drawing/2014/main" id="{E55AA27F-7CE5-D63E-1876-A6C89CAB4104}"/>
              </a:ext>
            </a:extLst>
          </p:cNvPr>
          <p:cNvSpPr txBox="1"/>
          <p:nvPr/>
        </p:nvSpPr>
        <p:spPr>
          <a:xfrm>
            <a:off x="1371600" y="3857428"/>
            <a:ext cx="4178808" cy="276999"/>
          </a:xfrm>
          <a:prstGeom prst="rect">
            <a:avLst/>
          </a:prstGeom>
          <a:noFill/>
        </p:spPr>
        <p:txBody>
          <a:bodyPr wrap="square">
            <a:spAutoFit/>
          </a:bodyPr>
          <a:lstStyle/>
          <a:p>
            <a:r>
              <a:rPr lang="en-US" sz="1200" dirty="0" err="1"/>
              <a:t>Algoritam</a:t>
            </a:r>
            <a:r>
              <a:rPr lang="en-US" sz="1200" dirty="0"/>
              <a:t> </a:t>
            </a:r>
            <a:r>
              <a:rPr lang="en-US" sz="1200" dirty="0" err="1"/>
              <a:t>radije</a:t>
            </a:r>
            <a:r>
              <a:rPr lang="en-US" sz="1200" dirty="0"/>
              <a:t> </a:t>
            </a:r>
            <a:r>
              <a:rPr lang="en-US" sz="1200" dirty="0" err="1"/>
              <a:t>ceka</a:t>
            </a:r>
            <a:r>
              <a:rPr lang="en-US" sz="1200" dirty="0"/>
              <a:t> </a:t>
            </a:r>
            <a:r>
              <a:rPr lang="en-US" sz="1200" dirty="0" err="1"/>
              <a:t>nego</a:t>
            </a:r>
            <a:r>
              <a:rPr lang="en-US" sz="1200" dirty="0"/>
              <a:t> </a:t>
            </a:r>
            <a:r>
              <a:rPr lang="en-US" sz="1200" dirty="0" err="1"/>
              <a:t>sto</a:t>
            </a:r>
            <a:r>
              <a:rPr lang="en-US" sz="1200" dirty="0"/>
              <a:t> </a:t>
            </a:r>
            <a:r>
              <a:rPr lang="en-US" sz="1200" dirty="0" err="1"/>
              <a:t>pravi</a:t>
            </a:r>
            <a:r>
              <a:rPr lang="en-US" sz="1200" dirty="0"/>
              <a:t> </a:t>
            </a:r>
            <a:r>
              <a:rPr lang="en-US" sz="1200" dirty="0" err="1"/>
              <a:t>gresku</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STA RESAVA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Konsenzus, SMR i BFT</a:t>
            </a:r>
            <a:endParaRPr lang="en-US" sz="3000" dirty="0"/>
          </a:p>
        </p:txBody>
      </p:sp>
      <p:sp>
        <p:nvSpPr>
          <p:cNvPr id="4" name="Text 2"/>
          <p:cNvSpPr/>
          <p:nvPr/>
        </p:nvSpPr>
        <p:spPr>
          <a:xfrm>
            <a:off x="502920" y="1417320"/>
            <a:ext cx="8229600" cy="365760"/>
          </a:xfrm>
          <a:prstGeom prst="rect">
            <a:avLst/>
          </a:prstGeom>
          <a:noFill/>
          <a:ln/>
        </p:spPr>
        <p:txBody>
          <a:bodyPr wrap="square" lIns="0" tIns="0" rIns="0" bIns="0" rtlCol="0" anchor="ctr"/>
          <a:lstStyle/>
          <a:p>
            <a:pPr marL="0" indent="0">
              <a:buNone/>
            </a:pPr>
            <a:r>
              <a:rPr lang="en-US" sz="1300" i="1" dirty="0">
                <a:solidFill>
                  <a:srgbClr val="44556A"/>
                </a:solidFill>
                <a:latin typeface="Calibri" pitchFamily="34" charset="0"/>
                <a:ea typeface="Calibri" pitchFamily="34" charset="-122"/>
                <a:cs typeface="Calibri" pitchFamily="34" charset="-120"/>
              </a:rPr>
              <a:t>U TAKVOM okruzenju, Tendermint resava jedan problem — konsenzus.</a:t>
            </a:r>
            <a:endParaRPr lang="en-US" sz="1300" dirty="0"/>
          </a:p>
        </p:txBody>
      </p:sp>
      <p:sp>
        <p:nvSpPr>
          <p:cNvPr id="5" name="Shape 3"/>
          <p:cNvSpPr/>
          <p:nvPr/>
        </p:nvSpPr>
        <p:spPr>
          <a:xfrm>
            <a:off x="502920" y="1874520"/>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6" name="Shape 4"/>
          <p:cNvSpPr/>
          <p:nvPr/>
        </p:nvSpPr>
        <p:spPr>
          <a:xfrm>
            <a:off x="704088" y="2093976"/>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7" name="Image 0" descr="preencoded.png"/>
          <p:cNvPicPr>
            <a:picLocks noChangeAspect="1"/>
          </p:cNvPicPr>
          <p:nvPr/>
        </p:nvPicPr>
        <p:blipFill>
          <a:blip r:embed="rId3"/>
          <a:stretch>
            <a:fillRect/>
          </a:stretch>
        </p:blipFill>
        <p:spPr>
          <a:xfrm>
            <a:off x="836676" y="2226564"/>
            <a:ext cx="265176" cy="265176"/>
          </a:xfrm>
          <a:prstGeom prst="rect">
            <a:avLst/>
          </a:prstGeom>
        </p:spPr>
      </p:pic>
      <p:sp>
        <p:nvSpPr>
          <p:cNvPr id="8" name="Text 5"/>
          <p:cNvSpPr/>
          <p:nvPr/>
        </p:nvSpPr>
        <p:spPr>
          <a:xfrm>
            <a:off x="1371600" y="2093976"/>
            <a:ext cx="2990088" cy="411480"/>
          </a:xfrm>
          <a:prstGeom prst="rect">
            <a:avLst/>
          </a:prstGeom>
          <a:noFill/>
          <a:ln/>
        </p:spPr>
        <p:txBody>
          <a:bodyPr wrap="square" lIns="0" tIns="0" rIns="0" bIns="0" rtlCol="0" anchor="ctr"/>
          <a:lstStyle/>
          <a:p>
            <a:pPr marL="0" indent="0">
              <a:buNone/>
            </a:pPr>
            <a:r>
              <a:rPr lang="en-US" sz="1450" b="1" dirty="0">
                <a:solidFill>
                  <a:srgbClr val="0E2138"/>
                </a:solidFill>
                <a:latin typeface="Cambria" pitchFamily="34" charset="0"/>
                <a:ea typeface="Cambria" pitchFamily="34" charset="-122"/>
                <a:cs typeface="Cambria" pitchFamily="34" charset="-120"/>
              </a:rPr>
              <a:t>Konsenzus</a:t>
            </a:r>
            <a:endParaRPr lang="en-US" sz="1450" dirty="0"/>
          </a:p>
        </p:txBody>
      </p:sp>
      <p:sp>
        <p:nvSpPr>
          <p:cNvPr id="9" name="Text 6"/>
          <p:cNvSpPr/>
          <p:nvPr/>
        </p:nvSpPr>
        <p:spPr>
          <a:xfrm>
            <a:off x="704088" y="2624328"/>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Svi posteni cvorovi se sloze oko JEDNE vrednosti — sledeceg bloka.</a:t>
            </a:r>
            <a:endParaRPr lang="en-US" sz="1100" dirty="0"/>
          </a:p>
        </p:txBody>
      </p:sp>
      <p:sp>
        <p:nvSpPr>
          <p:cNvPr id="10" name="Shape 7"/>
          <p:cNvSpPr/>
          <p:nvPr/>
        </p:nvSpPr>
        <p:spPr>
          <a:xfrm>
            <a:off x="4645152" y="1874520"/>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1" name="Shape 8"/>
          <p:cNvSpPr/>
          <p:nvPr/>
        </p:nvSpPr>
        <p:spPr>
          <a:xfrm>
            <a:off x="4846320" y="2093976"/>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12" name="Image 1" descr="preencoded.png"/>
          <p:cNvPicPr>
            <a:picLocks noChangeAspect="1"/>
          </p:cNvPicPr>
          <p:nvPr/>
        </p:nvPicPr>
        <p:blipFill>
          <a:blip r:embed="rId4"/>
          <a:stretch>
            <a:fillRect/>
          </a:stretch>
        </p:blipFill>
        <p:spPr>
          <a:xfrm>
            <a:off x="4978908" y="2226564"/>
            <a:ext cx="265176" cy="265176"/>
          </a:xfrm>
          <a:prstGeom prst="rect">
            <a:avLst/>
          </a:prstGeom>
        </p:spPr>
      </p:pic>
      <p:sp>
        <p:nvSpPr>
          <p:cNvPr id="13" name="Text 9"/>
          <p:cNvSpPr/>
          <p:nvPr/>
        </p:nvSpPr>
        <p:spPr>
          <a:xfrm>
            <a:off x="5513832" y="2093976"/>
            <a:ext cx="2990088" cy="411480"/>
          </a:xfrm>
          <a:prstGeom prst="rect">
            <a:avLst/>
          </a:prstGeom>
          <a:noFill/>
          <a:ln/>
        </p:spPr>
        <p:txBody>
          <a:bodyPr wrap="square" lIns="0" tIns="0" rIns="0" bIns="0" rtlCol="0" anchor="ctr"/>
          <a:lstStyle/>
          <a:p>
            <a:pPr marL="0" indent="0">
              <a:buNone/>
            </a:pPr>
            <a:r>
              <a:rPr lang="en-US" sz="1450" b="1" dirty="0">
                <a:solidFill>
                  <a:srgbClr val="0E2138"/>
                </a:solidFill>
                <a:latin typeface="Cambria" pitchFamily="34" charset="0"/>
                <a:ea typeface="Cambria" pitchFamily="34" charset="-122"/>
                <a:cs typeface="Cambria" pitchFamily="34" charset="-120"/>
              </a:rPr>
              <a:t>SMR (replikacija)</a:t>
            </a:r>
            <a:endParaRPr lang="en-US" sz="1450" dirty="0"/>
          </a:p>
        </p:txBody>
      </p:sp>
      <p:sp>
        <p:nvSpPr>
          <p:cNvPr id="14" name="Text 10"/>
          <p:cNvSpPr/>
          <p:nvPr/>
        </p:nvSpPr>
        <p:spPr>
          <a:xfrm>
            <a:off x="4846320" y="2624328"/>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Replike izvrse iste komande istim redom → isto stanje; padne li jedna, ostale rade.</a:t>
            </a:r>
            <a:endParaRPr lang="en-US" sz="1100" dirty="0"/>
          </a:p>
        </p:txBody>
      </p:sp>
      <p:sp>
        <p:nvSpPr>
          <p:cNvPr id="15" name="Shape 11"/>
          <p:cNvSpPr/>
          <p:nvPr/>
        </p:nvSpPr>
        <p:spPr>
          <a:xfrm>
            <a:off x="502920" y="3392424"/>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6" name="Shape 12"/>
          <p:cNvSpPr/>
          <p:nvPr/>
        </p:nvSpPr>
        <p:spPr>
          <a:xfrm>
            <a:off x="704088" y="3611880"/>
            <a:ext cx="530352" cy="530352"/>
          </a:xfrm>
          <a:prstGeom prst="ellipse">
            <a:avLst/>
          </a:prstGeom>
          <a:solidFill>
            <a:srgbClr val="0D9488"/>
          </a:solidFill>
          <a:ln/>
          <a:effectLst>
            <a:outerShdw blurRad="88900" dist="25400" dir="5400000" algn="bl" rotWithShape="0">
              <a:srgbClr val="0B1A2E">
                <a:alpha val="16000"/>
              </a:srgbClr>
            </a:outerShdw>
          </a:effectLst>
        </p:spPr>
      </p:sp>
      <p:pic>
        <p:nvPicPr>
          <p:cNvPr id="17" name="Image 2" descr="preencoded.png"/>
          <p:cNvPicPr>
            <a:picLocks noChangeAspect="1"/>
          </p:cNvPicPr>
          <p:nvPr/>
        </p:nvPicPr>
        <p:blipFill>
          <a:blip r:embed="rId5"/>
          <a:stretch>
            <a:fillRect/>
          </a:stretch>
        </p:blipFill>
        <p:spPr>
          <a:xfrm>
            <a:off x="836676" y="3744468"/>
            <a:ext cx="265176" cy="265176"/>
          </a:xfrm>
          <a:prstGeom prst="rect">
            <a:avLst/>
          </a:prstGeom>
        </p:spPr>
      </p:pic>
      <p:sp>
        <p:nvSpPr>
          <p:cNvPr id="18" name="Text 13"/>
          <p:cNvSpPr/>
          <p:nvPr/>
        </p:nvSpPr>
        <p:spPr>
          <a:xfrm>
            <a:off x="1371600" y="3611880"/>
            <a:ext cx="2990088" cy="411480"/>
          </a:xfrm>
          <a:prstGeom prst="rect">
            <a:avLst/>
          </a:prstGeom>
          <a:noFill/>
          <a:ln/>
        </p:spPr>
        <p:txBody>
          <a:bodyPr wrap="square" lIns="0" tIns="0" rIns="0" bIns="0" rtlCol="0" anchor="ctr"/>
          <a:lstStyle/>
          <a:p>
            <a:pPr marL="0" indent="0">
              <a:buNone/>
            </a:pPr>
            <a:r>
              <a:rPr lang="en-US" sz="1450" b="1" dirty="0">
                <a:solidFill>
                  <a:srgbClr val="0D9488"/>
                </a:solidFill>
                <a:latin typeface="Cambria" pitchFamily="34" charset="0"/>
                <a:ea typeface="Cambria" pitchFamily="34" charset="-122"/>
                <a:cs typeface="Cambria" pitchFamily="34" charset="-120"/>
              </a:rPr>
              <a:t>BFT:  n = 3f + 1</a:t>
            </a:r>
            <a:endParaRPr lang="en-US" sz="1450" dirty="0"/>
          </a:p>
        </p:txBody>
      </p:sp>
      <p:sp>
        <p:nvSpPr>
          <p:cNvPr id="19" name="Text 14"/>
          <p:cNvSpPr/>
          <p:nvPr/>
        </p:nvSpPr>
        <p:spPr>
          <a:xfrm>
            <a:off x="704088" y="4142232"/>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Tolerise zlonamerne dok je njihova moc &lt; 1/3 ukupne. Uzima se n = 3f+1.</a:t>
            </a:r>
            <a:endParaRPr lang="en-US" sz="1100" dirty="0"/>
          </a:p>
        </p:txBody>
      </p:sp>
      <p:sp>
        <p:nvSpPr>
          <p:cNvPr id="20" name="Shape 15"/>
          <p:cNvSpPr/>
          <p:nvPr/>
        </p:nvSpPr>
        <p:spPr>
          <a:xfrm>
            <a:off x="4645152" y="3392424"/>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21" name="Shape 16"/>
          <p:cNvSpPr/>
          <p:nvPr/>
        </p:nvSpPr>
        <p:spPr>
          <a:xfrm>
            <a:off x="4846320" y="3611880"/>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22" name="Image 3" descr="preencoded.png"/>
          <p:cNvPicPr>
            <a:picLocks noChangeAspect="1"/>
          </p:cNvPicPr>
          <p:nvPr/>
        </p:nvPicPr>
        <p:blipFill>
          <a:blip r:embed="rId6"/>
          <a:stretch>
            <a:fillRect/>
          </a:stretch>
        </p:blipFill>
        <p:spPr>
          <a:xfrm>
            <a:off x="4978908" y="3744468"/>
            <a:ext cx="265176" cy="265176"/>
          </a:xfrm>
          <a:prstGeom prst="rect">
            <a:avLst/>
          </a:prstGeom>
        </p:spPr>
      </p:pic>
      <p:sp>
        <p:nvSpPr>
          <p:cNvPr id="23" name="Text 17"/>
          <p:cNvSpPr/>
          <p:nvPr/>
        </p:nvSpPr>
        <p:spPr>
          <a:xfrm>
            <a:off x="5513832" y="3611880"/>
            <a:ext cx="2990088" cy="411480"/>
          </a:xfrm>
          <a:prstGeom prst="rect">
            <a:avLst/>
          </a:prstGeom>
          <a:noFill/>
          <a:ln/>
        </p:spPr>
        <p:txBody>
          <a:bodyPr wrap="square" lIns="0" tIns="0" rIns="0" bIns="0" rtlCol="0" anchor="ctr"/>
          <a:lstStyle/>
          <a:p>
            <a:pPr marL="0" indent="0">
              <a:buNone/>
            </a:pPr>
            <a:r>
              <a:rPr lang="en-US" sz="1450" b="1" dirty="0">
                <a:solidFill>
                  <a:srgbClr val="0E2138"/>
                </a:solidFill>
                <a:latin typeface="Cambria" pitchFamily="34" charset="0"/>
                <a:ea typeface="Cambria" pitchFamily="34" charset="-122"/>
                <a:cs typeface="Cambria" pitchFamily="34" charset="-120"/>
              </a:rPr>
              <a:t>Potpisane poruke</a:t>
            </a:r>
            <a:endParaRPr lang="en-US" sz="1450" dirty="0"/>
          </a:p>
        </p:txBody>
      </p:sp>
      <p:sp>
        <p:nvSpPr>
          <p:cNvPr id="24" name="Text 18"/>
          <p:cNvSpPr/>
          <p:nvPr/>
        </p:nvSpPr>
        <p:spPr>
          <a:xfrm>
            <a:off x="4846320" y="4142232"/>
            <a:ext cx="3593592" cy="566928"/>
          </a:xfrm>
          <a:prstGeom prst="rect">
            <a:avLst/>
          </a:prstGeom>
          <a:noFill/>
          <a:ln/>
        </p:spPr>
        <p:txBody>
          <a:bodyPr wrap="square" lIns="0" tIns="0" rIns="0" bIns="0" rtlCol="0" anchor="ctr"/>
          <a:lstStyle/>
          <a:p>
            <a:pPr marL="0" indent="0">
              <a:lnSpc>
                <a:spcPct val="98000"/>
              </a:lnSpc>
              <a:buNone/>
            </a:pPr>
            <a:r>
              <a:rPr lang="en-US" sz="1100" dirty="0">
                <a:solidFill>
                  <a:srgbClr val="44556A"/>
                </a:solidFill>
                <a:latin typeface="Calibri" pitchFamily="34" charset="0"/>
                <a:ea typeface="Calibri" pitchFamily="34" charset="-122"/>
                <a:cs typeface="Calibri" pitchFamily="34" charset="-120"/>
              </a:rPr>
              <a:t>Sve poruke su digitalno potpisane → lazno predstavljanje je nemoguce.</a:t>
            </a:r>
            <a:endParaRPr lang="en-US" sz="1100" dirty="0"/>
          </a:p>
        </p:txBody>
      </p:sp>
      <p:sp>
        <p:nvSpPr>
          <p:cNvPr id="26" name="Text 19"/>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6</a:t>
            </a:r>
            <a:endParaRPr lang="en-US" sz="900" dirty="0"/>
          </a:p>
        </p:txBody>
      </p:sp>
      <p:sp>
        <p:nvSpPr>
          <p:cNvPr id="27" name="Text 20"/>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Sta resava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ellipse">
            <a:avLst/>
          </a:prstGeom>
          <a:solidFill>
            <a:srgbClr val="22A39F"/>
          </a:solidFill>
          <a:ln/>
        </p:spPr>
      </p:sp>
      <p:sp>
        <p:nvSpPr>
          <p:cNvPr id="3" name="Text 1"/>
          <p:cNvSpPr/>
          <p:nvPr/>
        </p:nvSpPr>
        <p:spPr>
          <a:xfrm>
            <a:off x="676656" y="329184"/>
            <a:ext cx="7955280" cy="256032"/>
          </a:xfrm>
          <a:prstGeom prst="rect">
            <a:avLst/>
          </a:prstGeom>
          <a:noFill/>
          <a:ln/>
        </p:spPr>
        <p:txBody>
          <a:bodyPr wrap="square" lIns="0" tIns="0" rIns="0" bIns="0" rtlCol="0" anchor="ctr"/>
          <a:lstStyle/>
          <a:p>
            <a:pPr marL="0" indent="0">
              <a:buNone/>
            </a:pPr>
            <a:r>
              <a:rPr lang="en-US" sz="1150" b="1" kern="0" spc="200" dirty="0">
                <a:solidFill>
                  <a:srgbClr val="0C5E5A"/>
                </a:solidFill>
                <a:latin typeface="Calibri" pitchFamily="34" charset="0"/>
                <a:ea typeface="Calibri" pitchFamily="34" charset="-122"/>
                <a:cs typeface="Calibri" pitchFamily="34" charset="-120"/>
              </a:rPr>
              <a:t>DEFINICIJA PROBLEMA</a:t>
            </a:r>
            <a:endParaRPr lang="en-US" sz="115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Sta algoritam mora da garantuje</a:t>
            </a:r>
            <a:endParaRPr lang="en-US" sz="2700" dirty="0"/>
          </a:p>
        </p:txBody>
      </p:sp>
      <p:sp>
        <p:nvSpPr>
          <p:cNvPr id="5" name="Text 3"/>
          <p:cNvSpPr/>
          <p:nvPr/>
        </p:nvSpPr>
        <p:spPr>
          <a:xfrm>
            <a:off x="457200" y="1371600"/>
            <a:ext cx="8229600" cy="411480"/>
          </a:xfrm>
          <a:prstGeom prst="rect">
            <a:avLst/>
          </a:prstGeom>
          <a:noFill/>
          <a:ln/>
        </p:spPr>
        <p:txBody>
          <a:bodyPr wrap="square" lIns="0" tIns="0" rIns="0" bIns="0" rtlCol="0" anchor="ctr"/>
          <a:lstStyle/>
          <a:p>
            <a:pPr marL="0" indent="0">
              <a:buNone/>
            </a:pPr>
            <a:r>
              <a:rPr lang="en-US" sz="1450" dirty="0">
                <a:solidFill>
                  <a:srgbClr val="1E293B"/>
                </a:solidFill>
                <a:latin typeface="Calibri" pitchFamily="34" charset="0"/>
                <a:ea typeface="Calibri" pitchFamily="34" charset="-122"/>
                <a:cs typeface="Calibri" pitchFamily="34" charset="-120"/>
              </a:rPr>
              <a:t>Tendermint resava vizantijski konsenzus zasnovan na predikatu validnosti, definisan kroz tri svojstva:</a:t>
            </a:r>
            <a:endParaRPr lang="en-US" sz="1450" dirty="0"/>
          </a:p>
        </p:txBody>
      </p:sp>
      <p:sp>
        <p:nvSpPr>
          <p:cNvPr id="6" name="Shape 4"/>
          <p:cNvSpPr/>
          <p:nvPr/>
        </p:nvSpPr>
        <p:spPr>
          <a:xfrm>
            <a:off x="457200" y="2057400"/>
            <a:ext cx="2596896" cy="2286000"/>
          </a:xfrm>
          <a:prstGeom prst="roundRect">
            <a:avLst>
              <a:gd name="adj" fmla="val 2800"/>
            </a:avLst>
          </a:prstGeom>
          <a:solidFill>
            <a:srgbClr val="F2F7F8"/>
          </a:solidFill>
          <a:ln w="9525">
            <a:solidFill>
              <a:srgbClr val="E4EBF1"/>
            </a:solidFill>
            <a:prstDash val="solid"/>
          </a:ln>
          <a:effectLst>
            <a:outerShdw blurRad="101600" dist="38100" dir="5400000" algn="bl" rotWithShape="0">
              <a:srgbClr val="94A3B8">
                <a:alpha val="28000"/>
              </a:srgbClr>
            </a:outerShdw>
          </a:effectLst>
        </p:spPr>
      </p:sp>
      <p:sp>
        <p:nvSpPr>
          <p:cNvPr id="7" name="Text 5"/>
          <p:cNvSpPr/>
          <p:nvPr/>
        </p:nvSpPr>
        <p:spPr>
          <a:xfrm>
            <a:off x="694944" y="2313432"/>
            <a:ext cx="2139696" cy="365760"/>
          </a:xfrm>
          <a:prstGeom prst="rect">
            <a:avLst/>
          </a:prstGeom>
          <a:noFill/>
          <a:ln/>
        </p:spPr>
        <p:txBody>
          <a:bodyPr wrap="square" lIns="0" tIns="0" rIns="0" bIns="0" rtlCol="0" anchor="ctr"/>
          <a:lstStyle/>
          <a:p>
            <a:pPr marL="0" indent="0">
              <a:buNone/>
            </a:pPr>
            <a:r>
              <a:rPr lang="en-US" sz="1800" b="1" dirty="0">
                <a:solidFill>
                  <a:srgbClr val="0C5E5A"/>
                </a:solidFill>
                <a:latin typeface="Calibri" pitchFamily="34" charset="0"/>
                <a:ea typeface="Calibri" pitchFamily="34" charset="-122"/>
                <a:cs typeface="Calibri" pitchFamily="34" charset="-120"/>
              </a:rPr>
              <a:t>Saglasnost</a:t>
            </a:r>
            <a:endParaRPr lang="en-US" sz="1800" dirty="0"/>
          </a:p>
        </p:txBody>
      </p:sp>
      <p:sp>
        <p:nvSpPr>
          <p:cNvPr id="8" name="Text 6"/>
          <p:cNvSpPr/>
          <p:nvPr/>
        </p:nvSpPr>
        <p:spPr>
          <a:xfrm>
            <a:off x="694944" y="2715768"/>
            <a:ext cx="2139696" cy="274320"/>
          </a:xfrm>
          <a:prstGeom prst="rect">
            <a:avLst/>
          </a:prstGeom>
          <a:noFill/>
          <a:ln/>
        </p:spPr>
        <p:txBody>
          <a:bodyPr wrap="square" lIns="0" tIns="0" rIns="0" bIns="0" rtlCol="0" anchor="ctr"/>
          <a:lstStyle/>
          <a:p>
            <a:pPr marL="0" indent="0">
              <a:buNone/>
            </a:pPr>
            <a:r>
              <a:rPr lang="en-US" sz="1200" i="1" dirty="0">
                <a:solidFill>
                  <a:srgbClr val="5B6B7E"/>
                </a:solidFill>
                <a:latin typeface="Calibri" pitchFamily="34" charset="0"/>
                <a:ea typeface="Calibri" pitchFamily="34" charset="-122"/>
                <a:cs typeface="Calibri" pitchFamily="34" charset="-120"/>
              </a:rPr>
              <a:t>Agreement</a:t>
            </a:r>
            <a:endParaRPr lang="en-US" sz="1200" dirty="0"/>
          </a:p>
        </p:txBody>
      </p:sp>
      <p:sp>
        <p:nvSpPr>
          <p:cNvPr id="9" name="Text 7"/>
          <p:cNvSpPr/>
          <p:nvPr/>
        </p:nvSpPr>
        <p:spPr>
          <a:xfrm>
            <a:off x="694944" y="3081528"/>
            <a:ext cx="2139696" cy="777240"/>
          </a:xfrm>
          <a:prstGeom prst="rect">
            <a:avLst/>
          </a:prstGeom>
          <a:noFill/>
          <a:ln/>
        </p:spPr>
        <p:txBody>
          <a:bodyPr wrap="square" lIns="0" tIns="0" rIns="0" bIns="0" rtlCol="0" anchor="ctr"/>
          <a:lstStyle/>
          <a:p>
            <a:pPr marL="0" indent="0">
              <a:lnSpc>
                <a:spcPct val="110000"/>
              </a:lnSpc>
              <a:buNone/>
            </a:pPr>
            <a:r>
              <a:rPr lang="en-US" sz="1300" dirty="0">
                <a:solidFill>
                  <a:srgbClr val="1E293B"/>
                </a:solidFill>
                <a:latin typeface="Calibri" pitchFamily="34" charset="0"/>
                <a:ea typeface="Calibri" pitchFamily="34" charset="-122"/>
                <a:cs typeface="Calibri" pitchFamily="34" charset="-120"/>
              </a:rPr>
              <a:t>Nikad dva ispravna cvora ne odluce razlicito.</a:t>
            </a:r>
            <a:endParaRPr lang="en-US" sz="1300" dirty="0"/>
          </a:p>
        </p:txBody>
      </p:sp>
      <p:sp>
        <p:nvSpPr>
          <p:cNvPr id="10" name="Text 8"/>
          <p:cNvSpPr/>
          <p:nvPr/>
        </p:nvSpPr>
        <p:spPr>
          <a:xfrm>
            <a:off x="694944" y="3886200"/>
            <a:ext cx="2139696" cy="320040"/>
          </a:xfrm>
          <a:prstGeom prst="rect">
            <a:avLst/>
          </a:prstGeom>
          <a:noFill/>
          <a:ln/>
        </p:spPr>
        <p:txBody>
          <a:bodyPr wrap="square" lIns="0" tIns="0" rIns="0" bIns="0" rtlCol="0" anchor="ctr"/>
          <a:lstStyle/>
          <a:p>
            <a:pPr marL="0" indent="0">
              <a:buNone/>
            </a:pPr>
            <a:r>
              <a:rPr lang="en-US" sz="1150" b="1" dirty="0">
                <a:solidFill>
                  <a:srgbClr val="22A39F"/>
                </a:solidFill>
                <a:latin typeface="Calibri" pitchFamily="34" charset="0"/>
                <a:ea typeface="Calibri" pitchFamily="34" charset="-122"/>
                <a:cs typeface="Calibri" pitchFamily="34" charset="-120"/>
              </a:rPr>
              <a:t>to je BEZBEDNOST</a:t>
            </a:r>
            <a:endParaRPr lang="en-US" sz="1150" dirty="0"/>
          </a:p>
        </p:txBody>
      </p:sp>
      <p:sp>
        <p:nvSpPr>
          <p:cNvPr id="11" name="Shape 9"/>
          <p:cNvSpPr/>
          <p:nvPr/>
        </p:nvSpPr>
        <p:spPr>
          <a:xfrm>
            <a:off x="3273552" y="2057400"/>
            <a:ext cx="2596896" cy="2286000"/>
          </a:xfrm>
          <a:prstGeom prst="roundRect">
            <a:avLst>
              <a:gd name="adj" fmla="val 2800"/>
            </a:avLst>
          </a:prstGeom>
          <a:solidFill>
            <a:srgbClr val="F2F7F8"/>
          </a:solidFill>
          <a:ln w="9525">
            <a:solidFill>
              <a:srgbClr val="E4EBF1"/>
            </a:solidFill>
            <a:prstDash val="solid"/>
          </a:ln>
          <a:effectLst>
            <a:outerShdw blurRad="101600" dist="38100" dir="5400000" algn="bl" rotWithShape="0">
              <a:srgbClr val="94A3B8">
                <a:alpha val="28000"/>
              </a:srgbClr>
            </a:outerShdw>
          </a:effectLst>
        </p:spPr>
      </p:sp>
      <p:sp>
        <p:nvSpPr>
          <p:cNvPr id="12" name="Text 10"/>
          <p:cNvSpPr/>
          <p:nvPr/>
        </p:nvSpPr>
        <p:spPr>
          <a:xfrm>
            <a:off x="3511296" y="2313432"/>
            <a:ext cx="2139696" cy="365760"/>
          </a:xfrm>
          <a:prstGeom prst="rect">
            <a:avLst/>
          </a:prstGeom>
          <a:noFill/>
          <a:ln/>
        </p:spPr>
        <p:txBody>
          <a:bodyPr wrap="square" lIns="0" tIns="0" rIns="0" bIns="0" rtlCol="0" anchor="ctr"/>
          <a:lstStyle/>
          <a:p>
            <a:pPr marL="0" indent="0">
              <a:buNone/>
            </a:pPr>
            <a:r>
              <a:rPr lang="en-US" sz="1800" b="1" dirty="0">
                <a:solidFill>
                  <a:srgbClr val="0C5E5A"/>
                </a:solidFill>
                <a:latin typeface="Calibri" pitchFamily="34" charset="0"/>
                <a:ea typeface="Calibri" pitchFamily="34" charset="-122"/>
                <a:cs typeface="Calibri" pitchFamily="34" charset="-120"/>
              </a:rPr>
              <a:t>Terminacija</a:t>
            </a:r>
            <a:endParaRPr lang="en-US" sz="1800" dirty="0"/>
          </a:p>
        </p:txBody>
      </p:sp>
      <p:sp>
        <p:nvSpPr>
          <p:cNvPr id="13" name="Text 11"/>
          <p:cNvSpPr/>
          <p:nvPr/>
        </p:nvSpPr>
        <p:spPr>
          <a:xfrm>
            <a:off x="3511296" y="2715768"/>
            <a:ext cx="2139696" cy="274320"/>
          </a:xfrm>
          <a:prstGeom prst="rect">
            <a:avLst/>
          </a:prstGeom>
          <a:noFill/>
          <a:ln/>
        </p:spPr>
        <p:txBody>
          <a:bodyPr wrap="square" lIns="0" tIns="0" rIns="0" bIns="0" rtlCol="0" anchor="ctr"/>
          <a:lstStyle/>
          <a:p>
            <a:pPr marL="0" indent="0">
              <a:buNone/>
            </a:pPr>
            <a:r>
              <a:rPr lang="en-US" sz="1200" i="1" dirty="0">
                <a:solidFill>
                  <a:srgbClr val="5B6B7E"/>
                </a:solidFill>
                <a:latin typeface="Calibri" pitchFamily="34" charset="0"/>
                <a:ea typeface="Calibri" pitchFamily="34" charset="-122"/>
                <a:cs typeface="Calibri" pitchFamily="34" charset="-120"/>
              </a:rPr>
              <a:t>Termination</a:t>
            </a:r>
            <a:endParaRPr lang="en-US" sz="1200" dirty="0"/>
          </a:p>
        </p:txBody>
      </p:sp>
      <p:sp>
        <p:nvSpPr>
          <p:cNvPr id="14" name="Text 12"/>
          <p:cNvSpPr/>
          <p:nvPr/>
        </p:nvSpPr>
        <p:spPr>
          <a:xfrm>
            <a:off x="3511296" y="3081528"/>
            <a:ext cx="2139696" cy="777240"/>
          </a:xfrm>
          <a:prstGeom prst="rect">
            <a:avLst/>
          </a:prstGeom>
          <a:noFill/>
          <a:ln/>
        </p:spPr>
        <p:txBody>
          <a:bodyPr wrap="square" lIns="0" tIns="0" rIns="0" bIns="0" rtlCol="0" anchor="ctr"/>
          <a:lstStyle/>
          <a:p>
            <a:pPr marL="0" indent="0">
              <a:lnSpc>
                <a:spcPct val="110000"/>
              </a:lnSpc>
              <a:buNone/>
            </a:pPr>
            <a:r>
              <a:rPr lang="en-US" sz="1300" dirty="0">
                <a:solidFill>
                  <a:srgbClr val="1E293B"/>
                </a:solidFill>
                <a:latin typeface="Calibri" pitchFamily="34" charset="0"/>
                <a:ea typeface="Calibri" pitchFamily="34" charset="-122"/>
                <a:cs typeface="Calibri" pitchFamily="34" charset="-120"/>
              </a:rPr>
              <a:t>Svaki ispravan cvor na kraju donese odluku.</a:t>
            </a:r>
            <a:endParaRPr lang="en-US" sz="1300" dirty="0"/>
          </a:p>
        </p:txBody>
      </p:sp>
      <p:sp>
        <p:nvSpPr>
          <p:cNvPr id="15" name="Text 13"/>
          <p:cNvSpPr/>
          <p:nvPr/>
        </p:nvSpPr>
        <p:spPr>
          <a:xfrm>
            <a:off x="3511296" y="3886200"/>
            <a:ext cx="2139696" cy="320040"/>
          </a:xfrm>
          <a:prstGeom prst="rect">
            <a:avLst/>
          </a:prstGeom>
          <a:noFill/>
          <a:ln/>
        </p:spPr>
        <p:txBody>
          <a:bodyPr wrap="square" lIns="0" tIns="0" rIns="0" bIns="0" rtlCol="0" anchor="ctr"/>
          <a:lstStyle/>
          <a:p>
            <a:pPr marL="0" indent="0">
              <a:buNone/>
            </a:pPr>
            <a:r>
              <a:rPr lang="en-US" sz="1150" b="1" dirty="0">
                <a:solidFill>
                  <a:srgbClr val="22A39F"/>
                </a:solidFill>
                <a:latin typeface="Calibri" pitchFamily="34" charset="0"/>
                <a:ea typeface="Calibri" pitchFamily="34" charset="-122"/>
                <a:cs typeface="Calibri" pitchFamily="34" charset="-120"/>
              </a:rPr>
              <a:t>to je ZIVOST</a:t>
            </a:r>
            <a:endParaRPr lang="en-US" sz="1150" dirty="0"/>
          </a:p>
        </p:txBody>
      </p:sp>
      <p:sp>
        <p:nvSpPr>
          <p:cNvPr id="16" name="Shape 14"/>
          <p:cNvSpPr/>
          <p:nvPr/>
        </p:nvSpPr>
        <p:spPr>
          <a:xfrm>
            <a:off x="6089904" y="2057400"/>
            <a:ext cx="2596896" cy="2286000"/>
          </a:xfrm>
          <a:prstGeom prst="roundRect">
            <a:avLst>
              <a:gd name="adj" fmla="val 2800"/>
            </a:avLst>
          </a:prstGeom>
          <a:solidFill>
            <a:srgbClr val="F2F7F8"/>
          </a:solidFill>
          <a:ln w="9525">
            <a:solidFill>
              <a:srgbClr val="E4EBF1"/>
            </a:solidFill>
            <a:prstDash val="solid"/>
          </a:ln>
          <a:effectLst>
            <a:outerShdw blurRad="101600" dist="38100" dir="5400000" algn="bl" rotWithShape="0">
              <a:srgbClr val="94A3B8">
                <a:alpha val="28000"/>
              </a:srgbClr>
            </a:outerShdw>
          </a:effectLst>
        </p:spPr>
      </p:sp>
      <p:sp>
        <p:nvSpPr>
          <p:cNvPr id="17" name="Text 15"/>
          <p:cNvSpPr/>
          <p:nvPr/>
        </p:nvSpPr>
        <p:spPr>
          <a:xfrm>
            <a:off x="6327648" y="2313432"/>
            <a:ext cx="2139696" cy="365760"/>
          </a:xfrm>
          <a:prstGeom prst="rect">
            <a:avLst/>
          </a:prstGeom>
          <a:noFill/>
          <a:ln/>
        </p:spPr>
        <p:txBody>
          <a:bodyPr wrap="square" lIns="0" tIns="0" rIns="0" bIns="0" rtlCol="0" anchor="ctr"/>
          <a:lstStyle/>
          <a:p>
            <a:pPr marL="0" indent="0">
              <a:buNone/>
            </a:pPr>
            <a:r>
              <a:rPr lang="en-US" sz="1800" b="1" dirty="0">
                <a:solidFill>
                  <a:srgbClr val="0C5E5A"/>
                </a:solidFill>
                <a:latin typeface="Calibri" pitchFamily="34" charset="0"/>
                <a:ea typeface="Calibri" pitchFamily="34" charset="-122"/>
                <a:cs typeface="Calibri" pitchFamily="34" charset="-120"/>
              </a:rPr>
              <a:t>Validnost</a:t>
            </a:r>
            <a:endParaRPr lang="en-US" sz="1800" dirty="0"/>
          </a:p>
        </p:txBody>
      </p:sp>
      <p:sp>
        <p:nvSpPr>
          <p:cNvPr id="18" name="Text 16"/>
          <p:cNvSpPr/>
          <p:nvPr/>
        </p:nvSpPr>
        <p:spPr>
          <a:xfrm>
            <a:off x="6327648" y="2715768"/>
            <a:ext cx="2139696" cy="274320"/>
          </a:xfrm>
          <a:prstGeom prst="rect">
            <a:avLst/>
          </a:prstGeom>
          <a:noFill/>
          <a:ln/>
        </p:spPr>
        <p:txBody>
          <a:bodyPr wrap="square" lIns="0" tIns="0" rIns="0" bIns="0" rtlCol="0" anchor="ctr"/>
          <a:lstStyle/>
          <a:p>
            <a:pPr marL="0" indent="0">
              <a:buNone/>
            </a:pPr>
            <a:r>
              <a:rPr lang="en-US" sz="1200" i="1" dirty="0">
                <a:solidFill>
                  <a:srgbClr val="5B6B7E"/>
                </a:solidFill>
                <a:latin typeface="Calibri" pitchFamily="34" charset="0"/>
                <a:ea typeface="Calibri" pitchFamily="34" charset="-122"/>
                <a:cs typeface="Calibri" pitchFamily="34" charset="-120"/>
              </a:rPr>
              <a:t>Validity</a:t>
            </a:r>
            <a:endParaRPr lang="en-US" sz="1200" dirty="0"/>
          </a:p>
        </p:txBody>
      </p:sp>
      <p:sp>
        <p:nvSpPr>
          <p:cNvPr id="19" name="Text 17"/>
          <p:cNvSpPr/>
          <p:nvPr/>
        </p:nvSpPr>
        <p:spPr>
          <a:xfrm>
            <a:off x="6327648" y="3081528"/>
            <a:ext cx="2139696" cy="777240"/>
          </a:xfrm>
          <a:prstGeom prst="rect">
            <a:avLst/>
          </a:prstGeom>
          <a:noFill/>
          <a:ln/>
        </p:spPr>
        <p:txBody>
          <a:bodyPr wrap="square" lIns="0" tIns="0" rIns="0" bIns="0" rtlCol="0" anchor="ctr"/>
          <a:lstStyle/>
          <a:p>
            <a:pPr marL="0" indent="0">
              <a:lnSpc>
                <a:spcPct val="110000"/>
              </a:lnSpc>
              <a:buNone/>
            </a:pPr>
            <a:r>
              <a:rPr lang="en-US" sz="1300" dirty="0">
                <a:solidFill>
                  <a:srgbClr val="1E293B"/>
                </a:solidFill>
                <a:latin typeface="Calibri" pitchFamily="34" charset="0"/>
                <a:ea typeface="Calibri" pitchFamily="34" charset="-122"/>
                <a:cs typeface="Calibri" pitchFamily="34" charset="-120"/>
              </a:rPr>
              <a:t>Odlucena vrednost zadovoljava predikat valid(), nije besmislena.</a:t>
            </a:r>
            <a:endParaRPr lang="en-US" sz="1300" dirty="0"/>
          </a:p>
        </p:txBody>
      </p:sp>
      <p:sp>
        <p:nvSpPr>
          <p:cNvPr id="20" name="Text 18"/>
          <p:cNvSpPr/>
          <p:nvPr/>
        </p:nvSpPr>
        <p:spPr>
          <a:xfrm>
            <a:off x="6327648" y="3886200"/>
            <a:ext cx="2139696" cy="320040"/>
          </a:xfrm>
          <a:prstGeom prst="rect">
            <a:avLst/>
          </a:prstGeom>
          <a:noFill/>
          <a:ln/>
        </p:spPr>
        <p:txBody>
          <a:bodyPr wrap="square" lIns="0" tIns="0" rIns="0" bIns="0" rtlCol="0" anchor="ctr"/>
          <a:lstStyle/>
          <a:p>
            <a:pPr marL="0" indent="0">
              <a:buNone/>
            </a:pPr>
            <a:r>
              <a:rPr lang="en-US" sz="1150" b="1" dirty="0">
                <a:solidFill>
                  <a:srgbClr val="22A39F"/>
                </a:solidFill>
                <a:latin typeface="Calibri" pitchFamily="34" charset="0"/>
                <a:ea typeface="Calibri" pitchFamily="34" charset="-122"/>
                <a:cs typeface="Calibri" pitchFamily="34" charset="-120"/>
              </a:rPr>
              <a:t>npr. tacan hes prethodnog bloka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IDEJA ALGORITMA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Visine i runde</a:t>
            </a:r>
            <a:endParaRPr lang="en-US" sz="3000" dirty="0"/>
          </a:p>
        </p:txBody>
      </p:sp>
      <p:sp>
        <p:nvSpPr>
          <p:cNvPr id="4" name="Text 2"/>
          <p:cNvSpPr/>
          <p:nvPr/>
        </p:nvSpPr>
        <p:spPr>
          <a:xfrm>
            <a:off x="502920" y="1389888"/>
            <a:ext cx="8229600" cy="274320"/>
          </a:xfrm>
          <a:prstGeom prst="rect">
            <a:avLst/>
          </a:prstGeom>
          <a:noFill/>
          <a:ln/>
        </p:spPr>
        <p:txBody>
          <a:bodyPr wrap="square" lIns="0" tIns="0" rIns="0" bIns="0" rtlCol="0" anchor="ctr"/>
          <a:lstStyle/>
          <a:p>
            <a:pPr marL="0" indent="0">
              <a:buNone/>
            </a:pPr>
            <a:r>
              <a:rPr lang="en-US" sz="1200" i="1" dirty="0">
                <a:solidFill>
                  <a:srgbClr val="44556A"/>
                </a:solidFill>
                <a:latin typeface="Calibri" pitchFamily="34" charset="0"/>
                <a:ea typeface="Calibri" pitchFamily="34" charset="-122"/>
                <a:cs typeface="Calibri" pitchFamily="34" charset="-120"/>
              </a:rPr>
              <a:t>Blockchain = niz visina (blokova), jedna za drugom:</a:t>
            </a:r>
            <a:endParaRPr lang="en-US" sz="1200" dirty="0"/>
          </a:p>
        </p:txBody>
      </p:sp>
      <p:sp>
        <p:nvSpPr>
          <p:cNvPr id="5" name="Shape 3"/>
          <p:cNvSpPr/>
          <p:nvPr/>
        </p:nvSpPr>
        <p:spPr>
          <a:xfrm>
            <a:off x="777240" y="1737360"/>
            <a:ext cx="1170432" cy="548640"/>
          </a:xfrm>
          <a:prstGeom prst="roundRect">
            <a:avLst>
              <a:gd name="adj" fmla="val 11667"/>
            </a:avLst>
          </a:prstGeom>
          <a:solidFill>
            <a:srgbClr val="FFFFFF"/>
          </a:solidFill>
          <a:ln/>
          <a:effectLst>
            <a:outerShdw blurRad="114300" dist="38100" dir="5400000" algn="bl" rotWithShape="0">
              <a:srgbClr val="0B1A2E">
                <a:alpha val="13000"/>
              </a:srgbClr>
            </a:outerShdw>
          </a:effectLst>
        </p:spPr>
      </p:sp>
      <p:sp>
        <p:nvSpPr>
          <p:cNvPr id="6" name="Text 4"/>
          <p:cNvSpPr/>
          <p:nvPr/>
        </p:nvSpPr>
        <p:spPr>
          <a:xfrm>
            <a:off x="777240" y="1737360"/>
            <a:ext cx="1170432" cy="548640"/>
          </a:xfrm>
          <a:prstGeom prst="rect">
            <a:avLst/>
          </a:prstGeom>
          <a:noFill/>
          <a:ln/>
        </p:spPr>
        <p:txBody>
          <a:bodyPr wrap="square" lIns="0" tIns="0" rIns="0" bIns="0" rtlCol="0" anchor="ctr"/>
          <a:lstStyle/>
          <a:p>
            <a:pPr marL="0" indent="0" algn="ctr">
              <a:buNone/>
            </a:pPr>
            <a:r>
              <a:rPr lang="en-US" sz="1100" b="1" dirty="0">
                <a:solidFill>
                  <a:srgbClr val="0E2138"/>
                </a:solidFill>
                <a:latin typeface="Cambria" pitchFamily="34" charset="0"/>
                <a:ea typeface="Cambria" pitchFamily="34" charset="-122"/>
                <a:cs typeface="Cambria" pitchFamily="34" charset="-120"/>
              </a:rPr>
              <a:t>blok h-2</a:t>
            </a:r>
            <a:endParaRPr lang="en-US" sz="1100" dirty="0"/>
          </a:p>
        </p:txBody>
      </p:sp>
      <p:sp>
        <p:nvSpPr>
          <p:cNvPr id="7" name="Text 5"/>
          <p:cNvSpPr/>
          <p:nvPr/>
        </p:nvSpPr>
        <p:spPr>
          <a:xfrm>
            <a:off x="1947672" y="1737360"/>
            <a:ext cx="274320" cy="548640"/>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8" name="Shape 6"/>
          <p:cNvSpPr/>
          <p:nvPr/>
        </p:nvSpPr>
        <p:spPr>
          <a:xfrm>
            <a:off x="2221992" y="1737360"/>
            <a:ext cx="1170432" cy="548640"/>
          </a:xfrm>
          <a:prstGeom prst="roundRect">
            <a:avLst>
              <a:gd name="adj" fmla="val 11667"/>
            </a:avLst>
          </a:prstGeom>
          <a:solidFill>
            <a:srgbClr val="FFFFFF"/>
          </a:solidFill>
          <a:ln/>
          <a:effectLst>
            <a:outerShdw blurRad="114300" dist="38100" dir="5400000" algn="bl" rotWithShape="0">
              <a:srgbClr val="0B1A2E">
                <a:alpha val="13000"/>
              </a:srgbClr>
            </a:outerShdw>
          </a:effectLst>
        </p:spPr>
      </p:sp>
      <p:sp>
        <p:nvSpPr>
          <p:cNvPr id="9" name="Text 7"/>
          <p:cNvSpPr/>
          <p:nvPr/>
        </p:nvSpPr>
        <p:spPr>
          <a:xfrm>
            <a:off x="2221992" y="1737360"/>
            <a:ext cx="1170432" cy="548640"/>
          </a:xfrm>
          <a:prstGeom prst="rect">
            <a:avLst/>
          </a:prstGeom>
          <a:noFill/>
          <a:ln/>
        </p:spPr>
        <p:txBody>
          <a:bodyPr wrap="square" lIns="0" tIns="0" rIns="0" bIns="0" rtlCol="0" anchor="ctr"/>
          <a:lstStyle/>
          <a:p>
            <a:pPr marL="0" indent="0" algn="ctr">
              <a:buNone/>
            </a:pPr>
            <a:r>
              <a:rPr lang="en-US" sz="1100" b="1" dirty="0">
                <a:solidFill>
                  <a:srgbClr val="0E2138"/>
                </a:solidFill>
                <a:latin typeface="Cambria" pitchFamily="34" charset="0"/>
                <a:ea typeface="Cambria" pitchFamily="34" charset="-122"/>
                <a:cs typeface="Cambria" pitchFamily="34" charset="-120"/>
              </a:rPr>
              <a:t>blok h-1</a:t>
            </a:r>
            <a:endParaRPr lang="en-US" sz="1100" dirty="0"/>
          </a:p>
        </p:txBody>
      </p:sp>
      <p:sp>
        <p:nvSpPr>
          <p:cNvPr id="10" name="Text 8"/>
          <p:cNvSpPr/>
          <p:nvPr/>
        </p:nvSpPr>
        <p:spPr>
          <a:xfrm>
            <a:off x="3392424" y="1737360"/>
            <a:ext cx="274320" cy="548640"/>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11" name="Shape 9"/>
          <p:cNvSpPr/>
          <p:nvPr/>
        </p:nvSpPr>
        <p:spPr>
          <a:xfrm>
            <a:off x="3666744" y="1737360"/>
            <a:ext cx="1170432" cy="548640"/>
          </a:xfrm>
          <a:prstGeom prst="roundRect">
            <a:avLst>
              <a:gd name="adj" fmla="val 11667"/>
            </a:avLst>
          </a:prstGeom>
          <a:solidFill>
            <a:srgbClr val="0D9488"/>
          </a:solidFill>
          <a:ln/>
          <a:effectLst>
            <a:outerShdw blurRad="114300" dist="38100" dir="5400000" algn="bl" rotWithShape="0">
              <a:srgbClr val="0B1A2E">
                <a:alpha val="13000"/>
              </a:srgbClr>
            </a:outerShdw>
          </a:effectLst>
        </p:spPr>
      </p:sp>
      <p:sp>
        <p:nvSpPr>
          <p:cNvPr id="12" name="Text 10"/>
          <p:cNvSpPr/>
          <p:nvPr/>
        </p:nvSpPr>
        <p:spPr>
          <a:xfrm>
            <a:off x="3666744" y="1737360"/>
            <a:ext cx="1170432"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blok h</a:t>
            </a:r>
            <a:endParaRPr lang="en-US" sz="1100" dirty="0"/>
          </a:p>
        </p:txBody>
      </p:sp>
      <p:sp>
        <p:nvSpPr>
          <p:cNvPr id="13" name="Text 11"/>
          <p:cNvSpPr/>
          <p:nvPr/>
        </p:nvSpPr>
        <p:spPr>
          <a:xfrm>
            <a:off x="4837176" y="1737360"/>
            <a:ext cx="274320" cy="548640"/>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14" name="Shape 12"/>
          <p:cNvSpPr/>
          <p:nvPr/>
        </p:nvSpPr>
        <p:spPr>
          <a:xfrm>
            <a:off x="5111496" y="1737360"/>
            <a:ext cx="1170432" cy="548640"/>
          </a:xfrm>
          <a:prstGeom prst="roundRect">
            <a:avLst>
              <a:gd name="adj" fmla="val 11667"/>
            </a:avLst>
          </a:prstGeom>
          <a:solidFill>
            <a:srgbClr val="FFFFFF"/>
          </a:solidFill>
          <a:ln/>
          <a:effectLst>
            <a:outerShdw blurRad="114300" dist="38100" dir="5400000" algn="bl" rotWithShape="0">
              <a:srgbClr val="0B1A2E">
                <a:alpha val="13000"/>
              </a:srgbClr>
            </a:outerShdw>
          </a:effectLst>
        </p:spPr>
      </p:sp>
      <p:sp>
        <p:nvSpPr>
          <p:cNvPr id="15" name="Text 13"/>
          <p:cNvSpPr/>
          <p:nvPr/>
        </p:nvSpPr>
        <p:spPr>
          <a:xfrm>
            <a:off x="5111496" y="1737360"/>
            <a:ext cx="1170432" cy="548640"/>
          </a:xfrm>
          <a:prstGeom prst="rect">
            <a:avLst/>
          </a:prstGeom>
          <a:noFill/>
          <a:ln/>
        </p:spPr>
        <p:txBody>
          <a:bodyPr wrap="square" lIns="0" tIns="0" rIns="0" bIns="0" rtlCol="0" anchor="ctr"/>
          <a:lstStyle/>
          <a:p>
            <a:pPr marL="0" indent="0" algn="ctr">
              <a:buNone/>
            </a:pPr>
            <a:r>
              <a:rPr lang="en-US" sz="1100" b="1" dirty="0">
                <a:solidFill>
                  <a:srgbClr val="0E2138"/>
                </a:solidFill>
                <a:latin typeface="Cambria" pitchFamily="34" charset="0"/>
                <a:ea typeface="Cambria" pitchFamily="34" charset="-122"/>
                <a:cs typeface="Cambria" pitchFamily="34" charset="-120"/>
              </a:rPr>
              <a:t>blok h+1</a:t>
            </a:r>
            <a:endParaRPr lang="en-US" sz="1100" dirty="0"/>
          </a:p>
        </p:txBody>
      </p:sp>
      <p:sp>
        <p:nvSpPr>
          <p:cNvPr id="16" name="Text 14"/>
          <p:cNvSpPr/>
          <p:nvPr/>
        </p:nvSpPr>
        <p:spPr>
          <a:xfrm>
            <a:off x="6281928" y="1737360"/>
            <a:ext cx="274320" cy="548640"/>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17" name="Shape 15"/>
          <p:cNvSpPr/>
          <p:nvPr/>
        </p:nvSpPr>
        <p:spPr>
          <a:xfrm>
            <a:off x="6556248" y="1737360"/>
            <a:ext cx="1170432" cy="548640"/>
          </a:xfrm>
          <a:prstGeom prst="roundRect">
            <a:avLst>
              <a:gd name="adj" fmla="val 11667"/>
            </a:avLst>
          </a:prstGeom>
          <a:solidFill>
            <a:srgbClr val="FFFFFF"/>
          </a:solidFill>
          <a:ln/>
          <a:effectLst>
            <a:outerShdw blurRad="114300" dist="38100" dir="5400000" algn="bl" rotWithShape="0">
              <a:srgbClr val="0B1A2E">
                <a:alpha val="13000"/>
              </a:srgbClr>
            </a:outerShdw>
          </a:effectLst>
        </p:spPr>
      </p:sp>
      <p:sp>
        <p:nvSpPr>
          <p:cNvPr id="18" name="Text 16"/>
          <p:cNvSpPr/>
          <p:nvPr/>
        </p:nvSpPr>
        <p:spPr>
          <a:xfrm>
            <a:off x="6556248" y="1737360"/>
            <a:ext cx="1170432" cy="548640"/>
          </a:xfrm>
          <a:prstGeom prst="rect">
            <a:avLst/>
          </a:prstGeom>
          <a:noFill/>
          <a:ln/>
        </p:spPr>
        <p:txBody>
          <a:bodyPr wrap="square" lIns="0" tIns="0" rIns="0" bIns="0" rtlCol="0" anchor="ctr"/>
          <a:lstStyle/>
          <a:p>
            <a:pPr marL="0" indent="0" algn="ctr">
              <a:buNone/>
            </a:pPr>
            <a:r>
              <a:rPr lang="en-US" sz="1100" b="1" dirty="0">
                <a:solidFill>
                  <a:srgbClr val="0E2138"/>
                </a:solidFill>
                <a:latin typeface="Cambria" pitchFamily="34" charset="0"/>
                <a:ea typeface="Cambria" pitchFamily="34" charset="-122"/>
                <a:cs typeface="Cambria" pitchFamily="34" charset="-120"/>
              </a:rPr>
              <a:t>blok h+2</a:t>
            </a:r>
            <a:endParaRPr lang="en-US" sz="1100" dirty="0"/>
          </a:p>
        </p:txBody>
      </p:sp>
      <p:sp>
        <p:nvSpPr>
          <p:cNvPr id="19" name="Shape 17"/>
          <p:cNvSpPr/>
          <p:nvPr/>
        </p:nvSpPr>
        <p:spPr>
          <a:xfrm>
            <a:off x="502920" y="2697480"/>
            <a:ext cx="3291840" cy="1920240"/>
          </a:xfrm>
          <a:prstGeom prst="roundRect">
            <a:avLst>
              <a:gd name="adj" fmla="val 4762"/>
            </a:avLst>
          </a:prstGeom>
          <a:solidFill>
            <a:srgbClr val="FFFFFF"/>
          </a:solidFill>
          <a:ln/>
          <a:effectLst>
            <a:outerShdw blurRad="114300" dist="38100" dir="5400000" algn="bl" rotWithShape="0">
              <a:srgbClr val="0B1A2E">
                <a:alpha val="13000"/>
              </a:srgbClr>
            </a:outerShdw>
          </a:effectLst>
        </p:spPr>
      </p:sp>
      <p:sp>
        <p:nvSpPr>
          <p:cNvPr id="20" name="Shape 18"/>
          <p:cNvSpPr/>
          <p:nvPr/>
        </p:nvSpPr>
        <p:spPr>
          <a:xfrm>
            <a:off x="731520" y="2926080"/>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21" name="Image 0" descr="preencoded.png"/>
          <p:cNvPicPr>
            <a:picLocks noChangeAspect="1"/>
          </p:cNvPicPr>
          <p:nvPr/>
        </p:nvPicPr>
        <p:blipFill>
          <a:blip r:embed="rId3"/>
          <a:stretch>
            <a:fillRect/>
          </a:stretch>
        </p:blipFill>
        <p:spPr>
          <a:xfrm>
            <a:off x="864108" y="3058668"/>
            <a:ext cx="265176" cy="265176"/>
          </a:xfrm>
          <a:prstGeom prst="rect">
            <a:avLst/>
          </a:prstGeom>
        </p:spPr>
      </p:pic>
      <p:sp>
        <p:nvSpPr>
          <p:cNvPr id="22" name="Text 19"/>
          <p:cNvSpPr/>
          <p:nvPr/>
        </p:nvSpPr>
        <p:spPr>
          <a:xfrm>
            <a:off x="1371600" y="2944368"/>
            <a:ext cx="2286000" cy="457200"/>
          </a:xfrm>
          <a:prstGeom prst="rect">
            <a:avLst/>
          </a:prstGeom>
          <a:noFill/>
          <a:ln/>
        </p:spPr>
        <p:txBody>
          <a:bodyPr wrap="square" lIns="0" tIns="0" rIns="0" bIns="0" rtlCol="0" anchor="ctr"/>
          <a:lstStyle/>
          <a:p>
            <a:pPr marL="0" indent="0">
              <a:buNone/>
            </a:pPr>
            <a:r>
              <a:rPr lang="en-US" sz="1500" b="1" dirty="0">
                <a:solidFill>
                  <a:srgbClr val="0E2138"/>
                </a:solidFill>
                <a:latin typeface="Cambria" pitchFamily="34" charset="0"/>
                <a:ea typeface="Cambria" pitchFamily="34" charset="-122"/>
                <a:cs typeface="Cambria" pitchFamily="34" charset="-120"/>
              </a:rPr>
              <a:t>Jedna visina</a:t>
            </a:r>
            <a:endParaRPr lang="en-US" sz="1500" dirty="0"/>
          </a:p>
        </p:txBody>
      </p:sp>
      <p:sp>
        <p:nvSpPr>
          <p:cNvPr id="23" name="Text 20"/>
          <p:cNvSpPr/>
          <p:nvPr/>
        </p:nvSpPr>
        <p:spPr>
          <a:xfrm>
            <a:off x="731520" y="3520440"/>
            <a:ext cx="2834640" cy="1051560"/>
          </a:xfrm>
          <a:prstGeom prst="rect">
            <a:avLst/>
          </a:prstGeom>
          <a:noFill/>
          <a:ln/>
        </p:spPr>
        <p:txBody>
          <a:bodyPr wrap="square" lIns="0" tIns="0" rIns="0" bIns="0" rtlCol="0" anchor="ctr"/>
          <a:lstStyle/>
          <a:p>
            <a:pPr marL="0" indent="0">
              <a:lnSpc>
                <a:spcPct val="110000"/>
              </a:lnSpc>
              <a:buNone/>
            </a:pPr>
            <a:r>
              <a:rPr lang="en-US" sz="1150" dirty="0">
                <a:solidFill>
                  <a:srgbClr val="44556A"/>
                </a:solidFill>
                <a:latin typeface="Calibri" pitchFamily="34" charset="0"/>
                <a:ea typeface="Calibri" pitchFamily="34" charset="-122"/>
                <a:cs typeface="Calibri" pitchFamily="34" charset="-120"/>
              </a:rPr>
              <a:t>= jedan blok
</a:t>
            </a:r>
            <a:endParaRPr lang="en-US" sz="1150" dirty="0"/>
          </a:p>
          <a:p>
            <a:pPr marL="0" indent="0">
              <a:lnSpc>
                <a:spcPct val="110000"/>
              </a:lnSpc>
              <a:buNone/>
            </a:pPr>
            <a:r>
              <a:rPr lang="en-US" sz="1150" dirty="0">
                <a:solidFill>
                  <a:srgbClr val="44556A"/>
                </a:solidFill>
                <a:latin typeface="Calibri" pitchFamily="34" charset="0"/>
                <a:ea typeface="Calibri" pitchFamily="34" charset="-122"/>
                <a:cs typeface="Calibri" pitchFamily="34" charset="-120"/>
              </a:rPr>
              <a:t>= jedna instanca konsenzusa
</a:t>
            </a:r>
            <a:endParaRPr lang="en-US" sz="1150" dirty="0"/>
          </a:p>
          <a:p>
            <a:pPr marL="0" indent="0">
              <a:lnSpc>
                <a:spcPct val="110000"/>
              </a:lnSpc>
              <a:buNone/>
            </a:pPr>
            <a:r>
              <a:rPr lang="en-US" sz="1150" i="1" dirty="0">
                <a:solidFill>
                  <a:srgbClr val="1E466E"/>
                </a:solidFill>
                <a:latin typeface="Calibri" pitchFamily="34" charset="0"/>
                <a:ea typeface="Calibri" pitchFamily="34" charset="-122"/>
                <a:cs typeface="Calibri" pitchFamily="34" charset="-120"/>
              </a:rPr>
              <a:t>Algoritam resava visinu po visinu.</a:t>
            </a:r>
            <a:endParaRPr lang="en-US" sz="1150" dirty="0"/>
          </a:p>
        </p:txBody>
      </p:sp>
      <p:sp>
        <p:nvSpPr>
          <p:cNvPr id="24" name="Text 21"/>
          <p:cNvSpPr/>
          <p:nvPr/>
        </p:nvSpPr>
        <p:spPr>
          <a:xfrm>
            <a:off x="3977640" y="2743200"/>
            <a:ext cx="4663440" cy="274320"/>
          </a:xfrm>
          <a:prstGeom prst="rect">
            <a:avLst/>
          </a:prstGeom>
          <a:noFill/>
          <a:ln/>
        </p:spPr>
        <p:txBody>
          <a:bodyPr wrap="square" lIns="0" tIns="0" rIns="0" bIns="0" rtlCol="0" anchor="ctr"/>
          <a:lstStyle/>
          <a:p>
            <a:pPr marL="0" indent="0">
              <a:buNone/>
            </a:pPr>
            <a:r>
              <a:rPr lang="en-US" sz="1150" b="1" dirty="0">
                <a:solidFill>
                  <a:srgbClr val="0E2138"/>
                </a:solidFill>
                <a:latin typeface="Calibri" pitchFamily="34" charset="0"/>
                <a:ea typeface="Calibri" pitchFamily="34" charset="-122"/>
                <a:cs typeface="Calibri" pitchFamily="34" charset="-120"/>
              </a:rPr>
              <a:t>Unutar jedne visine — RUNDE dok se ne odluci:</a:t>
            </a:r>
            <a:endParaRPr lang="en-US" sz="1150" dirty="0"/>
          </a:p>
        </p:txBody>
      </p:sp>
      <p:sp>
        <p:nvSpPr>
          <p:cNvPr id="25" name="Shape 22"/>
          <p:cNvSpPr/>
          <p:nvPr/>
        </p:nvSpPr>
        <p:spPr>
          <a:xfrm>
            <a:off x="4023360" y="3200400"/>
            <a:ext cx="841248" cy="530352"/>
          </a:xfrm>
          <a:prstGeom prst="roundRect">
            <a:avLst>
              <a:gd name="adj" fmla="val 13793"/>
            </a:avLst>
          </a:prstGeom>
          <a:solidFill>
            <a:srgbClr val="0D9488"/>
          </a:solidFill>
          <a:ln/>
          <a:effectLst>
            <a:outerShdw blurRad="76200" dist="25400" dir="5400000" algn="bl" rotWithShape="0">
              <a:srgbClr val="0B1A2E">
                <a:alpha val="14000"/>
              </a:srgbClr>
            </a:outerShdw>
          </a:effectLst>
        </p:spPr>
      </p:sp>
      <p:sp>
        <p:nvSpPr>
          <p:cNvPr id="26" name="Text 23"/>
          <p:cNvSpPr/>
          <p:nvPr/>
        </p:nvSpPr>
        <p:spPr>
          <a:xfrm>
            <a:off x="4023360" y="3200400"/>
            <a:ext cx="841248"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runda 0</a:t>
            </a:r>
            <a:endParaRPr lang="en-US" sz="1150" dirty="0"/>
          </a:p>
        </p:txBody>
      </p:sp>
      <p:sp>
        <p:nvSpPr>
          <p:cNvPr id="27" name="Text 24"/>
          <p:cNvSpPr/>
          <p:nvPr/>
        </p:nvSpPr>
        <p:spPr>
          <a:xfrm>
            <a:off x="4864608" y="3200400"/>
            <a:ext cx="292608" cy="530352"/>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28" name="Shape 25"/>
          <p:cNvSpPr/>
          <p:nvPr/>
        </p:nvSpPr>
        <p:spPr>
          <a:xfrm>
            <a:off x="5157216" y="3200400"/>
            <a:ext cx="841248" cy="530352"/>
          </a:xfrm>
          <a:prstGeom prst="roundRect">
            <a:avLst>
              <a:gd name="adj" fmla="val 13793"/>
            </a:avLst>
          </a:prstGeom>
          <a:solidFill>
            <a:srgbClr val="1E466E"/>
          </a:solidFill>
          <a:ln/>
          <a:effectLst>
            <a:outerShdw blurRad="76200" dist="25400" dir="5400000" algn="bl" rotWithShape="0">
              <a:srgbClr val="0B1A2E">
                <a:alpha val="14000"/>
              </a:srgbClr>
            </a:outerShdw>
          </a:effectLst>
        </p:spPr>
      </p:sp>
      <p:sp>
        <p:nvSpPr>
          <p:cNvPr id="29" name="Text 26"/>
          <p:cNvSpPr/>
          <p:nvPr/>
        </p:nvSpPr>
        <p:spPr>
          <a:xfrm>
            <a:off x="5157216" y="3200400"/>
            <a:ext cx="841248"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runda 1</a:t>
            </a:r>
            <a:endParaRPr lang="en-US" sz="1150" dirty="0"/>
          </a:p>
        </p:txBody>
      </p:sp>
      <p:sp>
        <p:nvSpPr>
          <p:cNvPr id="30" name="Text 27"/>
          <p:cNvSpPr/>
          <p:nvPr/>
        </p:nvSpPr>
        <p:spPr>
          <a:xfrm>
            <a:off x="5998464" y="3200400"/>
            <a:ext cx="292608" cy="530352"/>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31" name="Shape 28"/>
          <p:cNvSpPr/>
          <p:nvPr/>
        </p:nvSpPr>
        <p:spPr>
          <a:xfrm>
            <a:off x="6291072" y="3200400"/>
            <a:ext cx="841248" cy="530352"/>
          </a:xfrm>
          <a:prstGeom prst="roundRect">
            <a:avLst>
              <a:gd name="adj" fmla="val 13793"/>
            </a:avLst>
          </a:prstGeom>
          <a:solidFill>
            <a:srgbClr val="1E466E"/>
          </a:solidFill>
          <a:ln/>
          <a:effectLst>
            <a:outerShdw blurRad="76200" dist="25400" dir="5400000" algn="bl" rotWithShape="0">
              <a:srgbClr val="0B1A2E">
                <a:alpha val="14000"/>
              </a:srgbClr>
            </a:outerShdw>
          </a:effectLst>
        </p:spPr>
      </p:sp>
      <p:sp>
        <p:nvSpPr>
          <p:cNvPr id="32" name="Text 29"/>
          <p:cNvSpPr/>
          <p:nvPr/>
        </p:nvSpPr>
        <p:spPr>
          <a:xfrm>
            <a:off x="6291072" y="3200400"/>
            <a:ext cx="841248"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runda 2</a:t>
            </a:r>
            <a:endParaRPr lang="en-US" sz="1150" dirty="0"/>
          </a:p>
        </p:txBody>
      </p:sp>
      <p:sp>
        <p:nvSpPr>
          <p:cNvPr id="33" name="Text 30"/>
          <p:cNvSpPr/>
          <p:nvPr/>
        </p:nvSpPr>
        <p:spPr>
          <a:xfrm>
            <a:off x="7132320" y="3200400"/>
            <a:ext cx="292608" cy="530352"/>
          </a:xfrm>
          <a:prstGeom prst="rect">
            <a:avLst/>
          </a:prstGeom>
          <a:noFill/>
          <a:ln/>
        </p:spPr>
        <p:txBody>
          <a:bodyPr wrap="square" lIns="0" tIns="0" rIns="0" bIns="0" rtlCol="0" anchor="ctr"/>
          <a:lstStyle/>
          <a:p>
            <a:pPr marL="0" indent="0" algn="ctr">
              <a:buNone/>
            </a:pPr>
            <a:r>
              <a:rPr lang="en-US" sz="1300" dirty="0">
                <a:solidFill>
                  <a:srgbClr val="6B7C93"/>
                </a:solidFill>
                <a:latin typeface="Cambria" pitchFamily="34" charset="0"/>
                <a:ea typeface="Cambria" pitchFamily="34" charset="-122"/>
                <a:cs typeface="Cambria" pitchFamily="34" charset="-120"/>
              </a:rPr>
              <a:t>→</a:t>
            </a:r>
            <a:endParaRPr lang="en-US" sz="1300" dirty="0"/>
          </a:p>
        </p:txBody>
      </p:sp>
      <p:sp>
        <p:nvSpPr>
          <p:cNvPr id="34" name="Shape 31"/>
          <p:cNvSpPr/>
          <p:nvPr/>
        </p:nvSpPr>
        <p:spPr>
          <a:xfrm>
            <a:off x="7424928" y="3200400"/>
            <a:ext cx="841248" cy="530352"/>
          </a:xfrm>
          <a:prstGeom prst="roundRect">
            <a:avLst>
              <a:gd name="adj" fmla="val 13793"/>
            </a:avLst>
          </a:prstGeom>
          <a:solidFill>
            <a:srgbClr val="0D9488"/>
          </a:solidFill>
          <a:ln/>
          <a:effectLst>
            <a:outerShdw blurRad="76200" dist="25400" dir="5400000" algn="bl" rotWithShape="0">
              <a:srgbClr val="0B1A2E">
                <a:alpha val="14000"/>
              </a:srgbClr>
            </a:outerShdw>
          </a:effectLst>
        </p:spPr>
      </p:sp>
      <p:sp>
        <p:nvSpPr>
          <p:cNvPr id="35" name="Text 32"/>
          <p:cNvSpPr/>
          <p:nvPr/>
        </p:nvSpPr>
        <p:spPr>
          <a:xfrm>
            <a:off x="7424928" y="3200400"/>
            <a:ext cx="841248"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ODLUKA</a:t>
            </a:r>
            <a:endParaRPr lang="en-US" sz="1100" dirty="0"/>
          </a:p>
        </p:txBody>
      </p:sp>
      <p:sp>
        <p:nvSpPr>
          <p:cNvPr id="36" name="Shape 33"/>
          <p:cNvSpPr/>
          <p:nvPr/>
        </p:nvSpPr>
        <p:spPr>
          <a:xfrm>
            <a:off x="3977640" y="4023360"/>
            <a:ext cx="4663440" cy="603504"/>
          </a:xfrm>
          <a:prstGeom prst="roundRect">
            <a:avLst>
              <a:gd name="adj" fmla="val 9091"/>
            </a:avLst>
          </a:prstGeom>
          <a:solidFill>
            <a:srgbClr val="EFFAF8"/>
          </a:solidFill>
          <a:ln/>
        </p:spPr>
      </p:sp>
      <p:sp>
        <p:nvSpPr>
          <p:cNvPr id="37" name="Text 34"/>
          <p:cNvSpPr/>
          <p:nvPr/>
        </p:nvSpPr>
        <p:spPr>
          <a:xfrm>
            <a:off x="4160520" y="4041648"/>
            <a:ext cx="4343400" cy="566928"/>
          </a:xfrm>
          <a:prstGeom prst="rect">
            <a:avLst/>
          </a:prstGeom>
          <a:noFill/>
          <a:ln/>
        </p:spPr>
        <p:txBody>
          <a:bodyPr wrap="square" lIns="0" tIns="0" rIns="0" bIns="0" rtlCol="0" anchor="ctr"/>
          <a:lstStyle/>
          <a:p>
            <a:pPr marL="0" indent="0">
              <a:lnSpc>
                <a:spcPct val="100000"/>
              </a:lnSpc>
              <a:buNone/>
            </a:pPr>
            <a:r>
              <a:rPr lang="en-US" sz="1050" b="1" dirty="0">
                <a:solidFill>
                  <a:srgbClr val="0D9488"/>
                </a:solidFill>
                <a:latin typeface="Calibri" pitchFamily="34" charset="0"/>
                <a:ea typeface="Calibri" pitchFamily="34" charset="-122"/>
                <a:cs typeface="Calibri" pitchFamily="34" charset="-120"/>
              </a:rPr>
              <a:t>Najlepsi slucaj: odluka vec u rundi 0.  </a:t>
            </a:r>
            <a:r>
              <a:rPr lang="en-US" sz="1050" dirty="0">
                <a:solidFill>
                  <a:srgbClr val="44556A"/>
                </a:solidFill>
                <a:latin typeface="Calibri" pitchFamily="34" charset="0"/>
                <a:ea typeface="Calibri" pitchFamily="34" charset="-122"/>
                <a:cs typeface="Calibri" pitchFamily="34" charset="-120"/>
              </a:rPr>
              <a:t>Ako runda ne odluci (los lider / mreza) → sledeca runda, isti blok.</a:t>
            </a:r>
            <a:endParaRPr lang="en-US" sz="1050" dirty="0"/>
          </a:p>
        </p:txBody>
      </p:sp>
      <p:sp>
        <p:nvSpPr>
          <p:cNvPr id="39" name="Text 35"/>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7</a:t>
            </a:r>
            <a:endParaRPr lang="en-US" sz="900" dirty="0"/>
          </a:p>
        </p:txBody>
      </p:sp>
      <p:sp>
        <p:nvSpPr>
          <p:cNvPr id="40" name="Text 36"/>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Ideja algoritma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IDEJA ALGORITMA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Lider (predlagac) po rundi</a:t>
            </a:r>
            <a:endParaRPr lang="en-US" sz="3000" dirty="0"/>
          </a:p>
        </p:txBody>
      </p:sp>
      <p:sp>
        <p:nvSpPr>
          <p:cNvPr id="4" name="Text 2"/>
          <p:cNvSpPr/>
          <p:nvPr/>
        </p:nvSpPr>
        <p:spPr>
          <a:xfrm>
            <a:off x="502920" y="1417320"/>
            <a:ext cx="8229600" cy="274320"/>
          </a:xfrm>
          <a:prstGeom prst="rect">
            <a:avLst/>
          </a:prstGeom>
          <a:noFill/>
          <a:ln/>
        </p:spPr>
        <p:txBody>
          <a:bodyPr wrap="square" lIns="0" tIns="0" rIns="0" bIns="0" rtlCol="0" anchor="ctr"/>
          <a:lstStyle/>
          <a:p>
            <a:r>
              <a:rPr lang="en-US" sz="1200" i="1" dirty="0">
                <a:solidFill>
                  <a:srgbClr val="44556A"/>
                </a:solidFill>
                <a:latin typeface="Calibri" pitchFamily="34" charset="0"/>
                <a:ea typeface="Calibri" pitchFamily="34" charset="-122"/>
                <a:cs typeface="Calibri" pitchFamily="34" charset="-120"/>
              </a:rPr>
              <a:t>Svaka runda ima TACNO jednog lidera — koji se menja </a:t>
            </a:r>
            <a:r>
              <a:rPr lang="en-US" sz="1200" i="1" dirty="0" err="1">
                <a:solidFill>
                  <a:srgbClr val="44556A"/>
                </a:solidFill>
                <a:latin typeface="Calibri" pitchFamily="34" charset="0"/>
                <a:ea typeface="Calibri" pitchFamily="34" charset="-122"/>
                <a:cs typeface="Calibri" pitchFamily="34" charset="-120"/>
              </a:rPr>
              <a:t>kruzno</a:t>
            </a:r>
            <a:r>
              <a:rPr lang="en-US" sz="1200" i="1" dirty="0">
                <a:solidFill>
                  <a:srgbClr val="44556A"/>
                </a:solidFill>
                <a:latin typeface="Calibri" pitchFamily="34" charset="0"/>
                <a:ea typeface="Calibri" pitchFamily="34" charset="-122"/>
                <a:cs typeface="Calibri" pitchFamily="34" charset="-120"/>
              </a:rPr>
              <a:t>. - </a:t>
            </a:r>
            <a:r>
              <a:rPr lang="en-US" sz="1200" dirty="0" err="1"/>
              <a:t>ako</a:t>
            </a:r>
            <a:r>
              <a:rPr lang="en-US" sz="1200" dirty="0"/>
              <a:t> </a:t>
            </a:r>
            <a:r>
              <a:rPr lang="en-US" sz="1200" dirty="0" err="1"/>
              <a:t>jedan</a:t>
            </a:r>
            <a:r>
              <a:rPr lang="en-US" sz="1200" dirty="0"/>
              <a:t> </a:t>
            </a:r>
            <a:r>
              <a:rPr lang="en-US" sz="1200" dirty="0" err="1"/>
              <a:t>zakaze</a:t>
            </a:r>
            <a:r>
              <a:rPr lang="en-US" sz="1200" dirty="0"/>
              <a:t>, </a:t>
            </a:r>
            <a:r>
              <a:rPr lang="en-US" sz="1200" dirty="0" err="1"/>
              <a:t>sledeci</a:t>
            </a:r>
            <a:r>
              <a:rPr lang="en-US" sz="1200" dirty="0"/>
              <a:t> </a:t>
            </a:r>
            <a:r>
              <a:rPr lang="en-US" sz="1200" dirty="0" err="1"/>
              <a:t>pokusava</a:t>
            </a:r>
            <a:endParaRPr lang="en-US" sz="1200" dirty="0"/>
          </a:p>
        </p:txBody>
      </p:sp>
      <p:sp>
        <p:nvSpPr>
          <p:cNvPr id="5" name="Shape 3"/>
          <p:cNvSpPr/>
          <p:nvPr/>
        </p:nvSpPr>
        <p:spPr>
          <a:xfrm>
            <a:off x="502920" y="1874520"/>
            <a:ext cx="1874520" cy="11430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6" name="Text 4"/>
          <p:cNvSpPr/>
          <p:nvPr/>
        </p:nvSpPr>
        <p:spPr>
          <a:xfrm>
            <a:off x="502920" y="2020824"/>
            <a:ext cx="1874520" cy="292608"/>
          </a:xfrm>
          <a:prstGeom prst="rect">
            <a:avLst/>
          </a:prstGeom>
          <a:noFill/>
          <a:ln/>
        </p:spPr>
        <p:txBody>
          <a:bodyPr wrap="square" lIns="0" tIns="0" rIns="0" bIns="0" rtlCol="0" anchor="ctr"/>
          <a:lstStyle/>
          <a:p>
            <a:pPr marL="0" indent="0" algn="ctr">
              <a:buNone/>
            </a:pPr>
            <a:r>
              <a:rPr lang="en-US" sz="1150" b="1" dirty="0">
                <a:solidFill>
                  <a:srgbClr val="6B7C93"/>
                </a:solidFill>
                <a:latin typeface="Calibri" pitchFamily="34" charset="0"/>
                <a:ea typeface="Calibri" pitchFamily="34" charset="-122"/>
                <a:cs typeface="Calibri" pitchFamily="34" charset="-120"/>
              </a:rPr>
              <a:t>runda 0</a:t>
            </a:r>
            <a:endParaRPr lang="en-US" sz="1150" dirty="0"/>
          </a:p>
        </p:txBody>
      </p:sp>
      <p:sp>
        <p:nvSpPr>
          <p:cNvPr id="7" name="Shape 5"/>
          <p:cNvSpPr/>
          <p:nvPr/>
        </p:nvSpPr>
        <p:spPr>
          <a:xfrm>
            <a:off x="1147572" y="2331720"/>
            <a:ext cx="585216" cy="585216"/>
          </a:xfrm>
          <a:prstGeom prst="ellipse">
            <a:avLst/>
          </a:prstGeom>
          <a:solidFill>
            <a:srgbClr val="0E2A47"/>
          </a:solidFill>
          <a:ln/>
          <a:effectLst>
            <a:outerShdw blurRad="76200" dist="25400" dir="5400000" algn="bl" rotWithShape="0">
              <a:srgbClr val="0B1A2E">
                <a:alpha val="14000"/>
              </a:srgbClr>
            </a:outerShdw>
          </a:effectLst>
        </p:spPr>
      </p:sp>
      <p:sp>
        <p:nvSpPr>
          <p:cNvPr id="8" name="Text 6"/>
          <p:cNvSpPr/>
          <p:nvPr/>
        </p:nvSpPr>
        <p:spPr>
          <a:xfrm>
            <a:off x="1147572" y="2331720"/>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9" name="Text 7"/>
          <p:cNvSpPr/>
          <p:nvPr/>
        </p:nvSpPr>
        <p:spPr>
          <a:xfrm>
            <a:off x="2340864" y="1874520"/>
            <a:ext cx="237744" cy="1143000"/>
          </a:xfrm>
          <a:prstGeom prst="rect">
            <a:avLst/>
          </a:prstGeom>
          <a:noFill/>
          <a:ln/>
        </p:spPr>
        <p:txBody>
          <a:bodyPr wrap="square" lIns="0" tIns="0" rIns="0" bIns="0" rtlCol="0" anchor="ctr"/>
          <a:lstStyle/>
          <a:p>
            <a:pPr marL="0" indent="0" algn="ctr">
              <a:buNone/>
            </a:pPr>
            <a:r>
              <a:rPr lang="en-US" sz="1500" dirty="0">
                <a:solidFill>
                  <a:srgbClr val="6B7C93"/>
                </a:solidFill>
                <a:latin typeface="Cambria" pitchFamily="34" charset="0"/>
                <a:ea typeface="Cambria" pitchFamily="34" charset="-122"/>
                <a:cs typeface="Cambria" pitchFamily="34" charset="-120"/>
              </a:rPr>
              <a:t>→</a:t>
            </a:r>
            <a:endParaRPr lang="en-US" sz="1500" dirty="0"/>
          </a:p>
        </p:txBody>
      </p:sp>
      <p:sp>
        <p:nvSpPr>
          <p:cNvPr id="10" name="Shape 8"/>
          <p:cNvSpPr/>
          <p:nvPr/>
        </p:nvSpPr>
        <p:spPr>
          <a:xfrm>
            <a:off x="2542032" y="1874520"/>
            <a:ext cx="1874520" cy="11430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11" name="Text 9"/>
          <p:cNvSpPr/>
          <p:nvPr/>
        </p:nvSpPr>
        <p:spPr>
          <a:xfrm>
            <a:off x="2542032" y="2020824"/>
            <a:ext cx="1874520" cy="292608"/>
          </a:xfrm>
          <a:prstGeom prst="rect">
            <a:avLst/>
          </a:prstGeom>
          <a:noFill/>
          <a:ln/>
        </p:spPr>
        <p:txBody>
          <a:bodyPr wrap="square" lIns="0" tIns="0" rIns="0" bIns="0" rtlCol="0" anchor="ctr"/>
          <a:lstStyle/>
          <a:p>
            <a:pPr marL="0" indent="0" algn="ctr">
              <a:buNone/>
            </a:pPr>
            <a:r>
              <a:rPr lang="en-US" sz="1150" b="1" dirty="0">
                <a:solidFill>
                  <a:srgbClr val="6B7C93"/>
                </a:solidFill>
                <a:latin typeface="Calibri" pitchFamily="34" charset="0"/>
                <a:ea typeface="Calibri" pitchFamily="34" charset="-122"/>
                <a:cs typeface="Calibri" pitchFamily="34" charset="-120"/>
              </a:rPr>
              <a:t>runda 1</a:t>
            </a:r>
            <a:endParaRPr lang="en-US" sz="1150" dirty="0"/>
          </a:p>
        </p:txBody>
      </p:sp>
      <p:sp>
        <p:nvSpPr>
          <p:cNvPr id="12" name="Shape 10"/>
          <p:cNvSpPr/>
          <p:nvPr/>
        </p:nvSpPr>
        <p:spPr>
          <a:xfrm>
            <a:off x="3186684" y="2331720"/>
            <a:ext cx="585216" cy="585216"/>
          </a:xfrm>
          <a:prstGeom prst="ellipse">
            <a:avLst/>
          </a:prstGeom>
          <a:solidFill>
            <a:srgbClr val="0E2A47"/>
          </a:solidFill>
          <a:ln/>
          <a:effectLst>
            <a:outerShdw blurRad="76200" dist="25400" dir="5400000" algn="bl" rotWithShape="0">
              <a:srgbClr val="0B1A2E">
                <a:alpha val="14000"/>
              </a:srgbClr>
            </a:outerShdw>
          </a:effectLst>
        </p:spPr>
      </p:sp>
      <p:sp>
        <p:nvSpPr>
          <p:cNvPr id="13" name="Text 11"/>
          <p:cNvSpPr/>
          <p:nvPr/>
        </p:nvSpPr>
        <p:spPr>
          <a:xfrm>
            <a:off x="3186684" y="2331720"/>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4" name="Text 12"/>
          <p:cNvSpPr/>
          <p:nvPr/>
        </p:nvSpPr>
        <p:spPr>
          <a:xfrm>
            <a:off x="4379976" y="1874520"/>
            <a:ext cx="237744" cy="1143000"/>
          </a:xfrm>
          <a:prstGeom prst="rect">
            <a:avLst/>
          </a:prstGeom>
          <a:noFill/>
          <a:ln/>
        </p:spPr>
        <p:txBody>
          <a:bodyPr wrap="square" lIns="0" tIns="0" rIns="0" bIns="0" rtlCol="0" anchor="ctr"/>
          <a:lstStyle/>
          <a:p>
            <a:pPr marL="0" indent="0" algn="ctr">
              <a:buNone/>
            </a:pPr>
            <a:r>
              <a:rPr lang="en-US" sz="1500" dirty="0">
                <a:solidFill>
                  <a:srgbClr val="6B7C93"/>
                </a:solidFill>
                <a:latin typeface="Cambria" pitchFamily="34" charset="0"/>
                <a:ea typeface="Cambria" pitchFamily="34" charset="-122"/>
                <a:cs typeface="Cambria" pitchFamily="34" charset="-120"/>
              </a:rPr>
              <a:t>→</a:t>
            </a:r>
            <a:endParaRPr lang="en-US" sz="1500" dirty="0"/>
          </a:p>
        </p:txBody>
      </p:sp>
      <p:sp>
        <p:nvSpPr>
          <p:cNvPr id="15" name="Shape 13"/>
          <p:cNvSpPr/>
          <p:nvPr/>
        </p:nvSpPr>
        <p:spPr>
          <a:xfrm>
            <a:off x="4581144" y="1874520"/>
            <a:ext cx="1874520" cy="11430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16" name="Text 14"/>
          <p:cNvSpPr/>
          <p:nvPr/>
        </p:nvSpPr>
        <p:spPr>
          <a:xfrm>
            <a:off x="4581144" y="2020824"/>
            <a:ext cx="1874520" cy="292608"/>
          </a:xfrm>
          <a:prstGeom prst="rect">
            <a:avLst/>
          </a:prstGeom>
          <a:noFill/>
          <a:ln/>
        </p:spPr>
        <p:txBody>
          <a:bodyPr wrap="square" lIns="0" tIns="0" rIns="0" bIns="0" rtlCol="0" anchor="ctr"/>
          <a:lstStyle/>
          <a:p>
            <a:pPr marL="0" indent="0" algn="ctr">
              <a:buNone/>
            </a:pPr>
            <a:r>
              <a:rPr lang="en-US" sz="1150" b="1" dirty="0">
                <a:solidFill>
                  <a:srgbClr val="6B7C93"/>
                </a:solidFill>
                <a:latin typeface="Calibri" pitchFamily="34" charset="0"/>
                <a:ea typeface="Calibri" pitchFamily="34" charset="-122"/>
                <a:cs typeface="Calibri" pitchFamily="34" charset="-120"/>
              </a:rPr>
              <a:t>runda 2</a:t>
            </a:r>
            <a:endParaRPr lang="en-US" sz="1150" dirty="0"/>
          </a:p>
        </p:txBody>
      </p:sp>
      <p:sp>
        <p:nvSpPr>
          <p:cNvPr id="17" name="Shape 15"/>
          <p:cNvSpPr/>
          <p:nvPr/>
        </p:nvSpPr>
        <p:spPr>
          <a:xfrm>
            <a:off x="5225796" y="2331720"/>
            <a:ext cx="585216" cy="585216"/>
          </a:xfrm>
          <a:prstGeom prst="ellipse">
            <a:avLst/>
          </a:prstGeom>
          <a:solidFill>
            <a:srgbClr val="0E2A47"/>
          </a:solidFill>
          <a:ln/>
          <a:effectLst>
            <a:outerShdw blurRad="76200" dist="25400" dir="5400000" algn="bl" rotWithShape="0">
              <a:srgbClr val="0B1A2E">
                <a:alpha val="14000"/>
              </a:srgbClr>
            </a:outerShdw>
          </a:effectLst>
        </p:spPr>
      </p:sp>
      <p:sp>
        <p:nvSpPr>
          <p:cNvPr id="18" name="Text 16"/>
          <p:cNvSpPr/>
          <p:nvPr/>
        </p:nvSpPr>
        <p:spPr>
          <a:xfrm>
            <a:off x="5225796" y="2331720"/>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9" name="Text 17"/>
          <p:cNvSpPr/>
          <p:nvPr/>
        </p:nvSpPr>
        <p:spPr>
          <a:xfrm>
            <a:off x="6419088" y="1874520"/>
            <a:ext cx="237744" cy="1143000"/>
          </a:xfrm>
          <a:prstGeom prst="rect">
            <a:avLst/>
          </a:prstGeom>
          <a:noFill/>
          <a:ln/>
        </p:spPr>
        <p:txBody>
          <a:bodyPr wrap="square" lIns="0" tIns="0" rIns="0" bIns="0" rtlCol="0" anchor="ctr"/>
          <a:lstStyle/>
          <a:p>
            <a:pPr marL="0" indent="0" algn="ctr">
              <a:buNone/>
            </a:pPr>
            <a:r>
              <a:rPr lang="en-US" sz="1500" dirty="0">
                <a:solidFill>
                  <a:srgbClr val="6B7C93"/>
                </a:solidFill>
                <a:latin typeface="Cambria" pitchFamily="34" charset="0"/>
                <a:ea typeface="Cambria" pitchFamily="34" charset="-122"/>
                <a:cs typeface="Cambria" pitchFamily="34" charset="-120"/>
              </a:rPr>
              <a:t>→</a:t>
            </a:r>
            <a:endParaRPr lang="en-US" sz="1500" dirty="0"/>
          </a:p>
        </p:txBody>
      </p:sp>
      <p:sp>
        <p:nvSpPr>
          <p:cNvPr id="20" name="Shape 18"/>
          <p:cNvSpPr/>
          <p:nvPr/>
        </p:nvSpPr>
        <p:spPr>
          <a:xfrm>
            <a:off x="6620256" y="1874520"/>
            <a:ext cx="1874520" cy="11430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21" name="Text 19"/>
          <p:cNvSpPr/>
          <p:nvPr/>
        </p:nvSpPr>
        <p:spPr>
          <a:xfrm>
            <a:off x="6620256" y="2020824"/>
            <a:ext cx="1874520" cy="292608"/>
          </a:xfrm>
          <a:prstGeom prst="rect">
            <a:avLst/>
          </a:prstGeom>
          <a:noFill/>
          <a:ln/>
        </p:spPr>
        <p:txBody>
          <a:bodyPr wrap="square" lIns="0" tIns="0" rIns="0" bIns="0" rtlCol="0" anchor="ctr"/>
          <a:lstStyle/>
          <a:p>
            <a:pPr marL="0" indent="0" algn="ctr">
              <a:buNone/>
            </a:pPr>
            <a:r>
              <a:rPr lang="en-US" sz="1150" b="1" dirty="0">
                <a:solidFill>
                  <a:srgbClr val="6B7C93"/>
                </a:solidFill>
                <a:latin typeface="Calibri" pitchFamily="34" charset="0"/>
                <a:ea typeface="Calibri" pitchFamily="34" charset="-122"/>
                <a:cs typeface="Calibri" pitchFamily="34" charset="-120"/>
              </a:rPr>
              <a:t>runda 3</a:t>
            </a:r>
            <a:endParaRPr lang="en-US" sz="1150" dirty="0"/>
          </a:p>
        </p:txBody>
      </p:sp>
      <p:sp>
        <p:nvSpPr>
          <p:cNvPr id="22" name="Shape 20"/>
          <p:cNvSpPr/>
          <p:nvPr/>
        </p:nvSpPr>
        <p:spPr>
          <a:xfrm>
            <a:off x="7264908" y="2331720"/>
            <a:ext cx="585216" cy="585216"/>
          </a:xfrm>
          <a:prstGeom prst="ellipse">
            <a:avLst/>
          </a:prstGeom>
          <a:solidFill>
            <a:srgbClr val="7C8DA3"/>
          </a:solidFill>
          <a:ln/>
          <a:effectLst>
            <a:outerShdw blurRad="76200" dist="25400" dir="5400000" algn="bl" rotWithShape="0">
              <a:srgbClr val="0B1A2E">
                <a:alpha val="14000"/>
              </a:srgbClr>
            </a:outerShdw>
          </a:effectLst>
        </p:spPr>
      </p:sp>
      <p:sp>
        <p:nvSpPr>
          <p:cNvPr id="23" name="Text 21"/>
          <p:cNvSpPr/>
          <p:nvPr/>
        </p:nvSpPr>
        <p:spPr>
          <a:xfrm>
            <a:off x="7264908" y="2331720"/>
            <a:ext cx="585216" cy="58521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24" name="Text 22"/>
          <p:cNvSpPr/>
          <p:nvPr/>
        </p:nvSpPr>
        <p:spPr>
          <a:xfrm>
            <a:off x="6620256" y="3035808"/>
            <a:ext cx="1874520" cy="274320"/>
          </a:xfrm>
          <a:prstGeom prst="rect">
            <a:avLst/>
          </a:prstGeom>
          <a:noFill/>
          <a:ln/>
        </p:spPr>
        <p:txBody>
          <a:bodyPr wrap="square" lIns="0" tIns="0" rIns="0" bIns="0" rtlCol="0" anchor="ctr"/>
          <a:lstStyle/>
          <a:p>
            <a:pPr marL="0" indent="0" algn="ctr">
              <a:buNone/>
            </a:pPr>
            <a:r>
              <a:rPr lang="en-US" sz="950" i="1" dirty="0">
                <a:solidFill>
                  <a:srgbClr val="6B7C93"/>
                </a:solidFill>
                <a:latin typeface="Calibri" pitchFamily="34" charset="0"/>
                <a:ea typeface="Calibri" pitchFamily="34" charset="-122"/>
                <a:cs typeface="Calibri" pitchFamily="34" charset="-120"/>
              </a:rPr>
              <a:t>(pa opet A — kruzno)</a:t>
            </a:r>
            <a:endParaRPr lang="en-US" sz="950" dirty="0"/>
          </a:p>
        </p:txBody>
      </p:sp>
      <p:sp>
        <p:nvSpPr>
          <p:cNvPr id="25" name="Shape 23"/>
          <p:cNvSpPr/>
          <p:nvPr/>
        </p:nvSpPr>
        <p:spPr>
          <a:xfrm>
            <a:off x="502920" y="3246120"/>
            <a:ext cx="3977640" cy="1417320"/>
          </a:xfrm>
          <a:prstGeom prst="roundRect">
            <a:avLst>
              <a:gd name="adj" fmla="val 6452"/>
            </a:avLst>
          </a:prstGeom>
          <a:solidFill>
            <a:srgbClr val="FFFFFF"/>
          </a:solidFill>
          <a:ln/>
          <a:effectLst>
            <a:outerShdw blurRad="114300" dist="38100" dir="5400000" algn="bl" rotWithShape="0">
              <a:srgbClr val="0B1A2E">
                <a:alpha val="13000"/>
              </a:srgbClr>
            </a:outerShdw>
          </a:effectLst>
        </p:spPr>
      </p:sp>
      <p:sp>
        <p:nvSpPr>
          <p:cNvPr id="26" name="Shape 24"/>
          <p:cNvSpPr/>
          <p:nvPr/>
        </p:nvSpPr>
        <p:spPr>
          <a:xfrm>
            <a:off x="731520" y="3456432"/>
            <a:ext cx="512064" cy="512064"/>
          </a:xfrm>
          <a:prstGeom prst="ellipse">
            <a:avLst/>
          </a:prstGeom>
          <a:solidFill>
            <a:srgbClr val="0E2A47"/>
          </a:solidFill>
          <a:ln/>
          <a:effectLst>
            <a:outerShdw blurRad="88900" dist="25400" dir="5400000" algn="bl" rotWithShape="0">
              <a:srgbClr val="0B1A2E">
                <a:alpha val="16000"/>
              </a:srgbClr>
            </a:outerShdw>
          </a:effectLst>
        </p:spPr>
      </p:sp>
      <p:pic>
        <p:nvPicPr>
          <p:cNvPr id="27" name="Image 0" descr="preencoded.png"/>
          <p:cNvPicPr>
            <a:picLocks noChangeAspect="1"/>
          </p:cNvPicPr>
          <p:nvPr/>
        </p:nvPicPr>
        <p:blipFill>
          <a:blip r:embed="rId3"/>
          <a:stretch>
            <a:fillRect/>
          </a:stretch>
        </p:blipFill>
        <p:spPr>
          <a:xfrm>
            <a:off x="859536" y="3584448"/>
            <a:ext cx="256032" cy="256032"/>
          </a:xfrm>
          <a:prstGeom prst="rect">
            <a:avLst/>
          </a:prstGeom>
        </p:spPr>
      </p:pic>
      <p:sp>
        <p:nvSpPr>
          <p:cNvPr id="28" name="Text 25"/>
          <p:cNvSpPr/>
          <p:nvPr/>
        </p:nvSpPr>
        <p:spPr>
          <a:xfrm>
            <a:off x="1417320" y="3474720"/>
            <a:ext cx="2926080" cy="457200"/>
          </a:xfrm>
          <a:prstGeom prst="rect">
            <a:avLst/>
          </a:prstGeom>
          <a:noFill/>
          <a:ln/>
        </p:spPr>
        <p:txBody>
          <a:bodyPr wrap="square" lIns="0" tIns="0" rIns="0" bIns="0" rtlCol="0" anchor="ctr"/>
          <a:lstStyle/>
          <a:p>
            <a:pPr marL="0" indent="0">
              <a:buNone/>
            </a:pPr>
            <a:r>
              <a:rPr lang="en-US" sz="1450" b="1" dirty="0">
                <a:solidFill>
                  <a:srgbClr val="0E2138"/>
                </a:solidFill>
                <a:latin typeface="Cambria" pitchFamily="34" charset="0"/>
                <a:ea typeface="Cambria" pitchFamily="34" charset="-122"/>
                <a:cs typeface="Cambria" pitchFamily="34" charset="-120"/>
              </a:rPr>
              <a:t>Round-robin</a:t>
            </a:r>
            <a:endParaRPr lang="en-US" sz="1450" dirty="0"/>
          </a:p>
        </p:txBody>
      </p:sp>
      <p:sp>
        <p:nvSpPr>
          <p:cNvPr id="29" name="Text 26"/>
          <p:cNvSpPr/>
          <p:nvPr/>
        </p:nvSpPr>
        <p:spPr>
          <a:xfrm>
            <a:off x="731520" y="3977640"/>
            <a:ext cx="3566160" cy="640080"/>
          </a:xfrm>
          <a:prstGeom prst="rect">
            <a:avLst/>
          </a:prstGeom>
          <a:noFill/>
          <a:ln/>
        </p:spPr>
        <p:txBody>
          <a:bodyPr wrap="square" lIns="0" tIns="0" rIns="0" bIns="0" rtlCol="0" anchor="ctr"/>
          <a:lstStyle/>
          <a:p>
            <a:pPr marL="0" indent="0">
              <a:lnSpc>
                <a:spcPct val="100000"/>
              </a:lnSpc>
              <a:buNone/>
            </a:pPr>
            <a:r>
              <a:rPr lang="en-US" sz="1100" dirty="0">
                <a:solidFill>
                  <a:srgbClr val="44556A"/>
                </a:solidFill>
                <a:latin typeface="Calibri" pitchFamily="34" charset="0"/>
                <a:ea typeface="Calibri" pitchFamily="34" charset="-122"/>
                <a:cs typeface="Calibri" pitchFamily="34" charset="-120"/>
              </a:rPr>
              <a:t>Ko je lider date runde odredjuje funkcija proposer(h, round) — poznata SVIMA unapred, bez </a:t>
            </a:r>
            <a:r>
              <a:rPr lang="en-US" sz="1100" dirty="0" err="1">
                <a:solidFill>
                  <a:srgbClr val="44556A"/>
                </a:solidFill>
                <a:latin typeface="Calibri" pitchFamily="34" charset="0"/>
                <a:ea typeface="Calibri" pitchFamily="34" charset="-122"/>
                <a:cs typeface="Calibri" pitchFamily="34" charset="-120"/>
              </a:rPr>
              <a:t>ikakvog</a:t>
            </a:r>
            <a:r>
              <a:rPr lang="en-US" sz="1100" dirty="0">
                <a:solidFill>
                  <a:srgbClr val="44556A"/>
                </a:solidFill>
                <a:latin typeface="Calibri" pitchFamily="34" charset="0"/>
                <a:ea typeface="Calibri" pitchFamily="34" charset="-122"/>
                <a:cs typeface="Calibri" pitchFamily="34" charset="-120"/>
              </a:rPr>
              <a:t> </a:t>
            </a:r>
            <a:r>
              <a:rPr lang="en-US" sz="1100" dirty="0" err="1">
                <a:solidFill>
                  <a:srgbClr val="44556A"/>
                </a:solidFill>
                <a:latin typeface="Calibri" pitchFamily="34" charset="0"/>
                <a:ea typeface="Calibri" pitchFamily="34" charset="-122"/>
                <a:cs typeface="Calibri" pitchFamily="34" charset="-120"/>
              </a:rPr>
              <a:t>dogovaranja</a:t>
            </a:r>
            <a:r>
              <a:rPr lang="en-US" sz="1100" dirty="0">
                <a:solidFill>
                  <a:srgbClr val="44556A"/>
                </a:solidFill>
                <a:latin typeface="Calibri" pitchFamily="34" charset="0"/>
                <a:ea typeface="Calibri" pitchFamily="34" charset="-122"/>
                <a:cs typeface="Calibri" pitchFamily="34" charset="-120"/>
              </a:rPr>
              <a:t> (</a:t>
            </a:r>
            <a:r>
              <a:rPr lang="en-US" sz="1100" dirty="0" err="1">
                <a:solidFill>
                  <a:srgbClr val="44556A"/>
                </a:solidFill>
                <a:latin typeface="Calibri" pitchFamily="34" charset="0"/>
                <a:ea typeface="Calibri" pitchFamily="34" charset="-122"/>
                <a:cs typeface="Calibri" pitchFamily="34" charset="-120"/>
              </a:rPr>
              <a:t>poruke</a:t>
            </a:r>
            <a:r>
              <a:rPr lang="en-US" sz="1100" dirty="0">
                <a:solidFill>
                  <a:srgbClr val="44556A"/>
                </a:solidFill>
                <a:latin typeface="Calibri" pitchFamily="34" charset="0"/>
                <a:ea typeface="Calibri" pitchFamily="34" charset="-122"/>
                <a:cs typeface="Calibri" pitchFamily="34" charset="-120"/>
              </a:rPr>
              <a:t>).</a:t>
            </a:r>
            <a:endParaRPr lang="en-US" sz="1100" dirty="0"/>
          </a:p>
        </p:txBody>
      </p:sp>
      <p:sp>
        <p:nvSpPr>
          <p:cNvPr id="30" name="Shape 27"/>
          <p:cNvSpPr/>
          <p:nvPr/>
        </p:nvSpPr>
        <p:spPr>
          <a:xfrm>
            <a:off x="4663440" y="3246120"/>
            <a:ext cx="3977640" cy="1417320"/>
          </a:xfrm>
          <a:prstGeom prst="roundRect">
            <a:avLst>
              <a:gd name="adj" fmla="val 6452"/>
            </a:avLst>
          </a:prstGeom>
          <a:solidFill>
            <a:srgbClr val="EFFAF8"/>
          </a:solidFill>
          <a:ln/>
        </p:spPr>
      </p:sp>
      <p:sp>
        <p:nvSpPr>
          <p:cNvPr id="31" name="Shape 28"/>
          <p:cNvSpPr/>
          <p:nvPr/>
        </p:nvSpPr>
        <p:spPr>
          <a:xfrm>
            <a:off x="4892040" y="3456432"/>
            <a:ext cx="512064" cy="512064"/>
          </a:xfrm>
          <a:prstGeom prst="ellipse">
            <a:avLst/>
          </a:prstGeom>
          <a:solidFill>
            <a:srgbClr val="0D9488"/>
          </a:solidFill>
          <a:ln/>
          <a:effectLst>
            <a:outerShdw blurRad="88900" dist="25400" dir="5400000" algn="bl" rotWithShape="0">
              <a:srgbClr val="0B1A2E">
                <a:alpha val="16000"/>
              </a:srgbClr>
            </a:outerShdw>
          </a:effectLst>
        </p:spPr>
      </p:sp>
      <p:pic>
        <p:nvPicPr>
          <p:cNvPr id="32" name="Image 1" descr="preencoded.png"/>
          <p:cNvPicPr>
            <a:picLocks noChangeAspect="1"/>
          </p:cNvPicPr>
          <p:nvPr/>
        </p:nvPicPr>
        <p:blipFill>
          <a:blip r:embed="rId4"/>
          <a:stretch>
            <a:fillRect/>
          </a:stretch>
        </p:blipFill>
        <p:spPr>
          <a:xfrm>
            <a:off x="5020056" y="3584448"/>
            <a:ext cx="256032" cy="256032"/>
          </a:xfrm>
          <a:prstGeom prst="rect">
            <a:avLst/>
          </a:prstGeom>
        </p:spPr>
      </p:pic>
      <p:sp>
        <p:nvSpPr>
          <p:cNvPr id="33" name="Text 29"/>
          <p:cNvSpPr/>
          <p:nvPr/>
        </p:nvSpPr>
        <p:spPr>
          <a:xfrm>
            <a:off x="5577840" y="3474720"/>
            <a:ext cx="2926080" cy="457200"/>
          </a:xfrm>
          <a:prstGeom prst="rect">
            <a:avLst/>
          </a:prstGeom>
          <a:noFill/>
          <a:ln/>
        </p:spPr>
        <p:txBody>
          <a:bodyPr wrap="square" lIns="0" tIns="0" rIns="0" bIns="0" rtlCol="0" anchor="ctr"/>
          <a:lstStyle/>
          <a:p>
            <a:pPr marL="0" indent="0">
              <a:buNone/>
            </a:pPr>
            <a:r>
              <a:rPr lang="en-US" sz="1450" b="1" dirty="0">
                <a:solidFill>
                  <a:srgbClr val="0E2138"/>
                </a:solidFill>
                <a:latin typeface="Cambria" pitchFamily="34" charset="0"/>
                <a:ea typeface="Cambria" pitchFamily="34" charset="-122"/>
                <a:cs typeface="Cambria" pitchFamily="34" charset="-120"/>
              </a:rPr>
              <a:t>Tezinski — po moci</a:t>
            </a:r>
            <a:endParaRPr lang="en-US" sz="1450" dirty="0"/>
          </a:p>
        </p:txBody>
      </p:sp>
      <p:sp>
        <p:nvSpPr>
          <p:cNvPr id="34" name="Text 30"/>
          <p:cNvSpPr/>
          <p:nvPr/>
        </p:nvSpPr>
        <p:spPr>
          <a:xfrm>
            <a:off x="4892040" y="3977640"/>
            <a:ext cx="3566160" cy="640080"/>
          </a:xfrm>
          <a:prstGeom prst="rect">
            <a:avLst/>
          </a:prstGeom>
          <a:noFill/>
          <a:ln/>
        </p:spPr>
        <p:txBody>
          <a:bodyPr wrap="square" lIns="0" tIns="0" rIns="0" bIns="0" rtlCol="0" anchor="ctr"/>
          <a:lstStyle/>
          <a:p>
            <a:pPr marL="0" indent="0">
              <a:lnSpc>
                <a:spcPct val="100000"/>
              </a:lnSpc>
              <a:buNone/>
            </a:pPr>
            <a:r>
              <a:rPr lang="en-US" sz="1100" dirty="0">
                <a:solidFill>
                  <a:srgbClr val="44556A"/>
                </a:solidFill>
                <a:latin typeface="Calibri" pitchFamily="34" charset="0"/>
                <a:ea typeface="Calibri" pitchFamily="34" charset="-122"/>
                <a:cs typeface="Calibri" pitchFamily="34" charset="-120"/>
              </a:rPr>
              <a:t>Rotacija je srazmerna glasackoj moci: ko ima vise moci, lider je cesce (vise puta u prozoru rundi).</a:t>
            </a:r>
            <a:endParaRPr lang="en-US" sz="1100" dirty="0"/>
          </a:p>
        </p:txBody>
      </p:sp>
      <p:sp>
        <p:nvSpPr>
          <p:cNvPr id="36" name="Text 31"/>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8</a:t>
            </a:r>
            <a:endParaRPr lang="en-US" sz="900" dirty="0"/>
          </a:p>
        </p:txBody>
      </p:sp>
      <p:sp>
        <p:nvSpPr>
          <p:cNvPr id="37" name="Text 32"/>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Ideja algoritma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IDEJA ALGORITMA</a:t>
            </a:r>
            <a:endParaRPr lang="en-US" sz="1200" dirty="0"/>
          </a:p>
        </p:txBody>
      </p:sp>
      <p:sp>
        <p:nvSpPr>
          <p:cNvPr id="3" name="Text 1"/>
          <p:cNvSpPr/>
          <p:nvPr/>
        </p:nvSpPr>
        <p:spPr>
          <a:xfrm>
            <a:off x="52578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Mehanika: tri poruke i tri koraka</a:t>
            </a:r>
            <a:endParaRPr lang="en-US" sz="3000" dirty="0"/>
          </a:p>
        </p:txBody>
      </p:sp>
      <p:sp>
        <p:nvSpPr>
          <p:cNvPr id="4" name="Shape 2"/>
          <p:cNvSpPr/>
          <p:nvPr/>
        </p:nvSpPr>
        <p:spPr>
          <a:xfrm>
            <a:off x="502920" y="1627632"/>
            <a:ext cx="2615184" cy="1417320"/>
          </a:xfrm>
          <a:prstGeom prst="roundRect">
            <a:avLst>
              <a:gd name="adj" fmla="val 6452"/>
            </a:avLst>
          </a:prstGeom>
          <a:solidFill>
            <a:srgbClr val="FFFFFF"/>
          </a:solidFill>
          <a:ln/>
          <a:effectLst>
            <a:outerShdw blurRad="114300" dist="38100" dir="5400000" algn="bl" rotWithShape="0">
              <a:srgbClr val="0B1A2E">
                <a:alpha val="13000"/>
              </a:srgbClr>
            </a:outerShdw>
          </a:effectLst>
        </p:spPr>
      </p:sp>
      <p:sp>
        <p:nvSpPr>
          <p:cNvPr id="5" name="Shape 3"/>
          <p:cNvSpPr/>
          <p:nvPr/>
        </p:nvSpPr>
        <p:spPr>
          <a:xfrm>
            <a:off x="502920" y="1627632"/>
            <a:ext cx="2615184" cy="475488"/>
          </a:xfrm>
          <a:prstGeom prst="roundRect">
            <a:avLst>
              <a:gd name="adj" fmla="val 19231"/>
            </a:avLst>
          </a:prstGeom>
          <a:solidFill>
            <a:srgbClr val="0D9488"/>
          </a:solidFill>
          <a:ln/>
        </p:spPr>
      </p:sp>
      <p:sp>
        <p:nvSpPr>
          <p:cNvPr id="6" name="Shape 4"/>
          <p:cNvSpPr/>
          <p:nvPr/>
        </p:nvSpPr>
        <p:spPr>
          <a:xfrm>
            <a:off x="502920" y="1901952"/>
            <a:ext cx="2615184" cy="201168"/>
          </a:xfrm>
          <a:prstGeom prst="rect">
            <a:avLst/>
          </a:prstGeom>
          <a:solidFill>
            <a:srgbClr val="0D9488"/>
          </a:solidFill>
          <a:ln/>
        </p:spPr>
      </p:sp>
      <p:sp>
        <p:nvSpPr>
          <p:cNvPr id="7" name="Text 5"/>
          <p:cNvSpPr/>
          <p:nvPr/>
        </p:nvSpPr>
        <p:spPr>
          <a:xfrm>
            <a:off x="502920" y="1627632"/>
            <a:ext cx="2615184"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PROPOSAL</a:t>
            </a:r>
            <a:endParaRPr lang="en-US" sz="1600" dirty="0"/>
          </a:p>
        </p:txBody>
      </p:sp>
      <p:sp>
        <p:nvSpPr>
          <p:cNvPr id="8" name="Text 6"/>
          <p:cNvSpPr/>
          <p:nvPr/>
        </p:nvSpPr>
        <p:spPr>
          <a:xfrm>
            <a:off x="640080" y="2231136"/>
            <a:ext cx="2340864" cy="320040"/>
          </a:xfrm>
          <a:prstGeom prst="rect">
            <a:avLst/>
          </a:prstGeom>
          <a:noFill/>
          <a:ln/>
        </p:spPr>
        <p:txBody>
          <a:bodyPr wrap="square" lIns="0" tIns="0" rIns="0" bIns="0" rtlCol="0" anchor="ctr"/>
          <a:lstStyle/>
          <a:p>
            <a:pPr marL="0" indent="0" algn="ctr">
              <a:buNone/>
            </a:pPr>
            <a:r>
              <a:rPr lang="en-US" sz="1100" dirty="0">
                <a:solidFill>
                  <a:srgbClr val="6B7C93"/>
                </a:solidFill>
                <a:latin typeface="Calibri" pitchFamily="34" charset="0"/>
                <a:ea typeface="Calibri" pitchFamily="34" charset="-122"/>
                <a:cs typeface="Calibri" pitchFamily="34" charset="-120"/>
              </a:rPr>
              <a:t>predlagac → svima</a:t>
            </a:r>
            <a:endParaRPr lang="en-US" sz="1100" dirty="0"/>
          </a:p>
        </p:txBody>
      </p:sp>
      <p:sp>
        <p:nvSpPr>
          <p:cNvPr id="9" name="Text 7"/>
          <p:cNvSpPr/>
          <p:nvPr/>
        </p:nvSpPr>
        <p:spPr>
          <a:xfrm>
            <a:off x="640080" y="2560320"/>
            <a:ext cx="2340864" cy="411480"/>
          </a:xfrm>
          <a:prstGeom prst="rect">
            <a:avLst/>
          </a:prstGeom>
          <a:noFill/>
          <a:ln/>
        </p:spPr>
        <p:txBody>
          <a:bodyPr wrap="square" lIns="0" tIns="0" rIns="0" bIns="0" rtlCol="0" anchor="ctr"/>
          <a:lstStyle/>
          <a:p>
            <a:pPr marL="0" indent="0" algn="ctr">
              <a:lnSpc>
                <a:spcPct val="95000"/>
              </a:lnSpc>
              <a:buNone/>
            </a:pPr>
            <a:r>
              <a:rPr lang="en-US" sz="1100" b="1" dirty="0">
                <a:solidFill>
                  <a:srgbClr val="0E2138"/>
                </a:solidFill>
                <a:latin typeface="Calibri" pitchFamily="34" charset="0"/>
                <a:ea typeface="Calibri" pitchFamily="34" charset="-122"/>
                <a:cs typeface="Calibri" pitchFamily="34" charset="-120"/>
              </a:rPr>
              <a:t>cela vrednost v + validRound</a:t>
            </a:r>
            <a:endParaRPr lang="en-US" sz="1100" dirty="0"/>
          </a:p>
        </p:txBody>
      </p:sp>
      <p:sp>
        <p:nvSpPr>
          <p:cNvPr id="10" name="Shape 8"/>
          <p:cNvSpPr/>
          <p:nvPr/>
        </p:nvSpPr>
        <p:spPr>
          <a:xfrm>
            <a:off x="3264408" y="1627632"/>
            <a:ext cx="2615184" cy="1417320"/>
          </a:xfrm>
          <a:prstGeom prst="roundRect">
            <a:avLst>
              <a:gd name="adj" fmla="val 6452"/>
            </a:avLst>
          </a:prstGeom>
          <a:solidFill>
            <a:srgbClr val="FFFFFF"/>
          </a:solidFill>
          <a:ln/>
          <a:effectLst>
            <a:outerShdw blurRad="114300" dist="38100" dir="5400000" algn="bl" rotWithShape="0">
              <a:srgbClr val="0B1A2E">
                <a:alpha val="13000"/>
              </a:srgbClr>
            </a:outerShdw>
          </a:effectLst>
        </p:spPr>
      </p:sp>
      <p:sp>
        <p:nvSpPr>
          <p:cNvPr id="11" name="Shape 9"/>
          <p:cNvSpPr/>
          <p:nvPr/>
        </p:nvSpPr>
        <p:spPr>
          <a:xfrm>
            <a:off x="3264408" y="1627632"/>
            <a:ext cx="2615184" cy="475488"/>
          </a:xfrm>
          <a:prstGeom prst="roundRect">
            <a:avLst>
              <a:gd name="adj" fmla="val 19231"/>
            </a:avLst>
          </a:prstGeom>
          <a:solidFill>
            <a:srgbClr val="1E466E"/>
          </a:solidFill>
          <a:ln/>
        </p:spPr>
      </p:sp>
      <p:sp>
        <p:nvSpPr>
          <p:cNvPr id="12" name="Shape 10"/>
          <p:cNvSpPr/>
          <p:nvPr/>
        </p:nvSpPr>
        <p:spPr>
          <a:xfrm>
            <a:off x="3264408" y="1901952"/>
            <a:ext cx="2615184" cy="201168"/>
          </a:xfrm>
          <a:prstGeom prst="rect">
            <a:avLst/>
          </a:prstGeom>
          <a:solidFill>
            <a:srgbClr val="1E466E"/>
          </a:solidFill>
          <a:ln/>
        </p:spPr>
      </p:sp>
      <p:sp>
        <p:nvSpPr>
          <p:cNvPr id="13" name="Text 11"/>
          <p:cNvSpPr/>
          <p:nvPr/>
        </p:nvSpPr>
        <p:spPr>
          <a:xfrm>
            <a:off x="3264408" y="1627632"/>
            <a:ext cx="2615184"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PREVOTE</a:t>
            </a:r>
            <a:endParaRPr lang="en-US" sz="1600" dirty="0"/>
          </a:p>
        </p:txBody>
      </p:sp>
      <p:sp>
        <p:nvSpPr>
          <p:cNvPr id="14" name="Text 12"/>
          <p:cNvSpPr/>
          <p:nvPr/>
        </p:nvSpPr>
        <p:spPr>
          <a:xfrm>
            <a:off x="3401568" y="2231136"/>
            <a:ext cx="2340864" cy="320040"/>
          </a:xfrm>
          <a:prstGeom prst="rect">
            <a:avLst/>
          </a:prstGeom>
          <a:noFill/>
          <a:ln/>
        </p:spPr>
        <p:txBody>
          <a:bodyPr wrap="square" lIns="0" tIns="0" rIns="0" bIns="0" rtlCol="0" anchor="ctr"/>
          <a:lstStyle/>
          <a:p>
            <a:pPr marL="0" indent="0" algn="ctr">
              <a:buNone/>
            </a:pPr>
            <a:r>
              <a:rPr lang="en-US" sz="1100" dirty="0">
                <a:solidFill>
                  <a:srgbClr val="6B7C93"/>
                </a:solidFill>
                <a:latin typeface="Calibri" pitchFamily="34" charset="0"/>
                <a:ea typeface="Calibri" pitchFamily="34" charset="-122"/>
                <a:cs typeface="Calibri" pitchFamily="34" charset="-120"/>
              </a:rPr>
              <a:t>svi → svima</a:t>
            </a:r>
            <a:endParaRPr lang="en-US" sz="1100" dirty="0"/>
          </a:p>
        </p:txBody>
      </p:sp>
      <p:sp>
        <p:nvSpPr>
          <p:cNvPr id="15" name="Text 13"/>
          <p:cNvSpPr/>
          <p:nvPr/>
        </p:nvSpPr>
        <p:spPr>
          <a:xfrm>
            <a:off x="3401568" y="2560320"/>
            <a:ext cx="2340864" cy="411480"/>
          </a:xfrm>
          <a:prstGeom prst="rect">
            <a:avLst/>
          </a:prstGeom>
          <a:noFill/>
          <a:ln/>
        </p:spPr>
        <p:txBody>
          <a:bodyPr wrap="square" lIns="0" tIns="0" rIns="0" bIns="0" rtlCol="0" anchor="ctr"/>
          <a:lstStyle/>
          <a:p>
            <a:pPr marL="0" indent="0" algn="ctr">
              <a:lnSpc>
                <a:spcPct val="95000"/>
              </a:lnSpc>
              <a:buNone/>
            </a:pPr>
            <a:r>
              <a:rPr lang="en-US" sz="1100" b="1" dirty="0">
                <a:solidFill>
                  <a:srgbClr val="0E2138"/>
                </a:solidFill>
                <a:latin typeface="Calibri" pitchFamily="34" charset="0"/>
                <a:ea typeface="Calibri" pitchFamily="34" charset="-122"/>
                <a:cs typeface="Calibri" pitchFamily="34" charset="-120"/>
              </a:rPr>
              <a:t>samo id(v) (hes)</a:t>
            </a:r>
            <a:endParaRPr lang="en-US" sz="1100" dirty="0"/>
          </a:p>
        </p:txBody>
      </p:sp>
      <p:sp>
        <p:nvSpPr>
          <p:cNvPr id="16" name="Shape 14"/>
          <p:cNvSpPr/>
          <p:nvPr/>
        </p:nvSpPr>
        <p:spPr>
          <a:xfrm>
            <a:off x="6025896" y="1627632"/>
            <a:ext cx="2615184" cy="1417320"/>
          </a:xfrm>
          <a:prstGeom prst="roundRect">
            <a:avLst>
              <a:gd name="adj" fmla="val 6452"/>
            </a:avLst>
          </a:prstGeom>
          <a:solidFill>
            <a:srgbClr val="FFFFFF"/>
          </a:solidFill>
          <a:ln/>
          <a:effectLst>
            <a:outerShdw blurRad="114300" dist="38100" dir="5400000" algn="bl" rotWithShape="0">
              <a:srgbClr val="0B1A2E">
                <a:alpha val="13000"/>
              </a:srgbClr>
            </a:outerShdw>
          </a:effectLst>
        </p:spPr>
      </p:sp>
      <p:sp>
        <p:nvSpPr>
          <p:cNvPr id="17" name="Shape 15"/>
          <p:cNvSpPr/>
          <p:nvPr/>
        </p:nvSpPr>
        <p:spPr>
          <a:xfrm>
            <a:off x="6025896" y="1627632"/>
            <a:ext cx="2615184" cy="475488"/>
          </a:xfrm>
          <a:prstGeom prst="roundRect">
            <a:avLst>
              <a:gd name="adj" fmla="val 19231"/>
            </a:avLst>
          </a:prstGeom>
          <a:solidFill>
            <a:srgbClr val="0E2A47"/>
          </a:solidFill>
          <a:ln/>
        </p:spPr>
      </p:sp>
      <p:sp>
        <p:nvSpPr>
          <p:cNvPr id="18" name="Shape 16"/>
          <p:cNvSpPr/>
          <p:nvPr/>
        </p:nvSpPr>
        <p:spPr>
          <a:xfrm>
            <a:off x="6025896" y="1901952"/>
            <a:ext cx="2615184" cy="201168"/>
          </a:xfrm>
          <a:prstGeom prst="rect">
            <a:avLst/>
          </a:prstGeom>
          <a:solidFill>
            <a:srgbClr val="0E2A47"/>
          </a:solidFill>
          <a:ln/>
        </p:spPr>
      </p:sp>
      <p:sp>
        <p:nvSpPr>
          <p:cNvPr id="19" name="Text 17"/>
          <p:cNvSpPr/>
          <p:nvPr/>
        </p:nvSpPr>
        <p:spPr>
          <a:xfrm>
            <a:off x="6025896" y="1627632"/>
            <a:ext cx="2615184"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PRECOMMIT</a:t>
            </a:r>
            <a:endParaRPr lang="en-US" sz="1600" dirty="0"/>
          </a:p>
        </p:txBody>
      </p:sp>
      <p:sp>
        <p:nvSpPr>
          <p:cNvPr id="20" name="Text 18"/>
          <p:cNvSpPr/>
          <p:nvPr/>
        </p:nvSpPr>
        <p:spPr>
          <a:xfrm>
            <a:off x="6163056" y="2231136"/>
            <a:ext cx="2340864" cy="320040"/>
          </a:xfrm>
          <a:prstGeom prst="rect">
            <a:avLst/>
          </a:prstGeom>
          <a:noFill/>
          <a:ln/>
        </p:spPr>
        <p:txBody>
          <a:bodyPr wrap="square" lIns="0" tIns="0" rIns="0" bIns="0" rtlCol="0" anchor="ctr"/>
          <a:lstStyle/>
          <a:p>
            <a:pPr marL="0" indent="0" algn="ctr">
              <a:buNone/>
            </a:pPr>
            <a:r>
              <a:rPr lang="en-US" sz="1100" dirty="0">
                <a:solidFill>
                  <a:srgbClr val="6B7C93"/>
                </a:solidFill>
                <a:latin typeface="Calibri" pitchFamily="34" charset="0"/>
                <a:ea typeface="Calibri" pitchFamily="34" charset="-122"/>
                <a:cs typeface="Calibri" pitchFamily="34" charset="-120"/>
              </a:rPr>
              <a:t>svi → svima</a:t>
            </a:r>
            <a:endParaRPr lang="en-US" sz="1100" dirty="0"/>
          </a:p>
        </p:txBody>
      </p:sp>
      <p:sp>
        <p:nvSpPr>
          <p:cNvPr id="21" name="Text 19"/>
          <p:cNvSpPr/>
          <p:nvPr/>
        </p:nvSpPr>
        <p:spPr>
          <a:xfrm>
            <a:off x="6163056" y="2560320"/>
            <a:ext cx="2340864" cy="411480"/>
          </a:xfrm>
          <a:prstGeom prst="rect">
            <a:avLst/>
          </a:prstGeom>
          <a:noFill/>
          <a:ln/>
        </p:spPr>
        <p:txBody>
          <a:bodyPr wrap="square" lIns="0" tIns="0" rIns="0" bIns="0" rtlCol="0" anchor="ctr"/>
          <a:lstStyle/>
          <a:p>
            <a:pPr marL="0" indent="0" algn="ctr">
              <a:lnSpc>
                <a:spcPct val="95000"/>
              </a:lnSpc>
              <a:buNone/>
            </a:pPr>
            <a:r>
              <a:rPr lang="en-US" sz="1100" b="1" dirty="0">
                <a:solidFill>
                  <a:srgbClr val="0E2138"/>
                </a:solidFill>
                <a:latin typeface="Calibri" pitchFamily="34" charset="0"/>
                <a:ea typeface="Calibri" pitchFamily="34" charset="-122"/>
                <a:cs typeface="Calibri" pitchFamily="34" charset="-120"/>
              </a:rPr>
              <a:t>samo id(v) (hes)</a:t>
            </a:r>
            <a:endParaRPr lang="en-US" sz="1100" dirty="0"/>
          </a:p>
        </p:txBody>
      </p:sp>
      <p:sp>
        <p:nvSpPr>
          <p:cNvPr id="22" name="Shape 20"/>
          <p:cNvSpPr/>
          <p:nvPr/>
        </p:nvSpPr>
        <p:spPr>
          <a:xfrm>
            <a:off x="502920" y="3246120"/>
            <a:ext cx="3977640" cy="1417320"/>
          </a:xfrm>
          <a:prstGeom prst="roundRect">
            <a:avLst>
              <a:gd name="adj" fmla="val 6452"/>
            </a:avLst>
          </a:prstGeom>
          <a:solidFill>
            <a:srgbClr val="EFFAF8"/>
          </a:solidFill>
          <a:ln/>
        </p:spPr>
      </p:sp>
      <p:sp>
        <p:nvSpPr>
          <p:cNvPr id="23" name="Text 21"/>
          <p:cNvSpPr/>
          <p:nvPr/>
        </p:nvSpPr>
        <p:spPr>
          <a:xfrm>
            <a:off x="731520" y="3401568"/>
            <a:ext cx="3566160" cy="36576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Tri koraka = jedna runda</a:t>
            </a:r>
            <a:endParaRPr lang="en-US" sz="1400" dirty="0"/>
          </a:p>
        </p:txBody>
      </p:sp>
      <p:sp>
        <p:nvSpPr>
          <p:cNvPr id="24" name="Text 22"/>
          <p:cNvSpPr/>
          <p:nvPr/>
        </p:nvSpPr>
        <p:spPr>
          <a:xfrm>
            <a:off x="731520" y="3767328"/>
            <a:ext cx="3566160" cy="822960"/>
          </a:xfrm>
          <a:prstGeom prst="rect">
            <a:avLst/>
          </a:prstGeom>
          <a:noFill/>
          <a:ln/>
        </p:spPr>
        <p:txBody>
          <a:bodyPr wrap="square" lIns="0" tIns="0" rIns="0" bIns="0" rtlCol="0" anchor="ctr"/>
          <a:lstStyle/>
          <a:p>
            <a:pPr marL="0" indent="0">
              <a:lnSpc>
                <a:spcPct val="105000"/>
              </a:lnSpc>
              <a:buNone/>
            </a:pPr>
            <a:r>
              <a:rPr lang="en-US" sz="1150" dirty="0">
                <a:solidFill>
                  <a:srgbClr val="44556A"/>
                </a:solidFill>
                <a:latin typeface="Calibri" pitchFamily="34" charset="0"/>
                <a:ea typeface="Calibri" pitchFamily="34" charset="-122"/>
                <a:cs typeface="Calibri" pitchFamily="34" charset="-120"/>
              </a:rPr>
              <a:t>propose → prevote → precommit. U dobrom slucaju odluka za 3 koraka, kao PBFT.</a:t>
            </a:r>
            <a:endParaRPr lang="en-US" sz="1150" dirty="0"/>
          </a:p>
        </p:txBody>
      </p:sp>
      <p:sp>
        <p:nvSpPr>
          <p:cNvPr id="25" name="Shape 23"/>
          <p:cNvSpPr/>
          <p:nvPr/>
        </p:nvSpPr>
        <p:spPr>
          <a:xfrm>
            <a:off x="4663440" y="3246120"/>
            <a:ext cx="3977640" cy="1417320"/>
          </a:xfrm>
          <a:prstGeom prst="roundRect">
            <a:avLst>
              <a:gd name="adj" fmla="val 6452"/>
            </a:avLst>
          </a:prstGeom>
          <a:solidFill>
            <a:srgbClr val="0E2A47"/>
          </a:solidFill>
          <a:ln/>
          <a:effectLst>
            <a:outerShdw blurRad="114300" dist="38100" dir="5400000" algn="bl" rotWithShape="0">
              <a:srgbClr val="0B1A2E">
                <a:alpha val="13000"/>
              </a:srgbClr>
            </a:outerShdw>
          </a:effectLst>
        </p:spPr>
      </p:sp>
      <p:sp>
        <p:nvSpPr>
          <p:cNvPr id="26" name="Text 24"/>
          <p:cNvSpPr/>
          <p:nvPr/>
        </p:nvSpPr>
        <p:spPr>
          <a:xfrm>
            <a:off x="4892040" y="3401568"/>
            <a:ext cx="3566160" cy="365760"/>
          </a:xfrm>
          <a:prstGeom prst="rect">
            <a:avLst/>
          </a:prstGeom>
          <a:noFill/>
          <a:ln/>
        </p:spPr>
        <p:txBody>
          <a:bodyPr wrap="square" lIns="0" tIns="0" rIns="0" bIns="0" rtlCol="0" anchor="ctr"/>
          <a:lstStyle/>
          <a:p>
            <a:pPr marL="0" indent="0">
              <a:buNone/>
            </a:pPr>
            <a:r>
              <a:rPr lang="en-US" sz="1400" b="1" dirty="0">
                <a:solidFill>
                  <a:srgbClr val="5EEAD4"/>
                </a:solidFill>
                <a:latin typeface="Cambria" pitchFamily="34" charset="0"/>
                <a:ea typeface="Cambria" pitchFamily="34" charset="-122"/>
                <a:cs typeface="Cambria" pitchFamily="34" charset="-120"/>
              </a:rPr>
              <a:t>Zasto dva glasanja</a:t>
            </a:r>
            <a:endParaRPr lang="en-US" sz="1400" dirty="0"/>
          </a:p>
        </p:txBody>
      </p:sp>
      <p:sp>
        <p:nvSpPr>
          <p:cNvPr id="27" name="Text 25"/>
          <p:cNvSpPr/>
          <p:nvPr/>
        </p:nvSpPr>
        <p:spPr>
          <a:xfrm>
            <a:off x="4892040" y="3767328"/>
            <a:ext cx="3566160" cy="868680"/>
          </a:xfrm>
          <a:prstGeom prst="rect">
            <a:avLst/>
          </a:prstGeom>
          <a:noFill/>
          <a:ln/>
        </p:spPr>
        <p:txBody>
          <a:bodyPr wrap="square" lIns="0" tIns="0" rIns="0" bIns="0" rtlCol="0" anchor="ctr"/>
          <a:lstStyle/>
          <a:p>
            <a:pPr marL="0" indent="0">
              <a:lnSpc>
                <a:spcPct val="105000"/>
              </a:lnSpc>
              <a:buNone/>
            </a:pPr>
            <a:r>
              <a:rPr lang="en-US" sz="1150" dirty="0">
                <a:solidFill>
                  <a:srgbClr val="CFE0F2"/>
                </a:solidFill>
                <a:latin typeface="Calibri" pitchFamily="34" charset="0"/>
                <a:ea typeface="Calibri" pitchFamily="34" charset="-122"/>
                <a:cs typeface="Calibri" pitchFamily="34" charset="-120"/>
              </a:rPr>
              <a:t>Dva kruga — prevote, pa precommit — nuzna su da bi se kroz promene lidera ocuvala saglasnost. Jedan krug ne bi bio dovoljan.</a:t>
            </a:r>
            <a:endParaRPr lang="en-US" sz="1150" dirty="0"/>
          </a:p>
        </p:txBody>
      </p:sp>
      <p:sp>
        <p:nvSpPr>
          <p:cNvPr id="29" name="Text 26"/>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9</a:t>
            </a:r>
            <a:endParaRPr lang="en-US" sz="900" dirty="0"/>
          </a:p>
        </p:txBody>
      </p:sp>
      <p:sp>
        <p:nvSpPr>
          <p:cNvPr id="30" name="Text 27"/>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Ideja algoritma</a:t>
            </a:r>
            <a:endParaRPr lang="en-US" sz="900" dirty="0"/>
          </a:p>
        </p:txBody>
      </p:sp>
      <p:sp>
        <p:nvSpPr>
          <p:cNvPr id="31" name="TextBox 30">
            <a:extLst>
              <a:ext uri="{FF2B5EF4-FFF2-40B4-BE49-F238E27FC236}">
                <a16:creationId xmlns:a16="http://schemas.microsoft.com/office/drawing/2014/main" id="{CB866FCD-8757-15FA-B1B7-6833393CDFDA}"/>
              </a:ext>
            </a:extLst>
          </p:cNvPr>
          <p:cNvSpPr txBox="1"/>
          <p:nvPr/>
        </p:nvSpPr>
        <p:spPr>
          <a:xfrm>
            <a:off x="3140964" y="1333442"/>
            <a:ext cx="2884932" cy="276999"/>
          </a:xfrm>
          <a:prstGeom prst="rect">
            <a:avLst/>
          </a:prstGeom>
          <a:noFill/>
        </p:spPr>
        <p:txBody>
          <a:bodyPr wrap="square">
            <a:spAutoFit/>
          </a:bodyPr>
          <a:lstStyle/>
          <a:p>
            <a:r>
              <a:rPr lang="en-US" sz="1200" dirty="0" err="1"/>
              <a:t>prvo</a:t>
            </a:r>
            <a:r>
              <a:rPr lang="en-US" sz="1200" dirty="0"/>
              <a:t> </a:t>
            </a:r>
            <a:r>
              <a:rPr lang="en-US" sz="1200" dirty="0" err="1"/>
              <a:t>utvrdi</a:t>
            </a:r>
            <a:r>
              <a:rPr lang="en-US" sz="1200" dirty="0"/>
              <a:t> da je </a:t>
            </a:r>
            <a:r>
              <a:rPr lang="en-US" sz="1200" dirty="0" err="1"/>
              <a:t>vrednost</a:t>
            </a:r>
            <a:r>
              <a:rPr lang="en-US" sz="1200" dirty="0"/>
              <a:t> </a:t>
            </a:r>
            <a:r>
              <a:rPr lang="en-US" sz="1200" dirty="0" err="1"/>
              <a:t>moguca</a:t>
            </a:r>
            <a:r>
              <a:rPr lang="en-US" sz="1200" dirty="0"/>
              <a:t> </a:t>
            </a:r>
            <a:r>
              <a:rPr lang="en-US" sz="1200" dirty="0" err="1"/>
              <a:t>odluka</a:t>
            </a:r>
            <a:endParaRPr lang="en-US" sz="1200" dirty="0"/>
          </a:p>
        </p:txBody>
      </p:sp>
      <p:sp>
        <p:nvSpPr>
          <p:cNvPr id="33" name="TextBox 32">
            <a:extLst>
              <a:ext uri="{FF2B5EF4-FFF2-40B4-BE49-F238E27FC236}">
                <a16:creationId xmlns:a16="http://schemas.microsoft.com/office/drawing/2014/main" id="{F5C6E88F-FB91-3C95-90DB-9F2009FB7C81}"/>
              </a:ext>
            </a:extLst>
          </p:cNvPr>
          <p:cNvSpPr txBox="1"/>
          <p:nvPr/>
        </p:nvSpPr>
        <p:spPr>
          <a:xfrm>
            <a:off x="6652260" y="1357018"/>
            <a:ext cx="4572000" cy="276999"/>
          </a:xfrm>
          <a:prstGeom prst="rect">
            <a:avLst/>
          </a:prstGeom>
          <a:noFill/>
        </p:spPr>
        <p:txBody>
          <a:bodyPr wrap="square">
            <a:spAutoFit/>
          </a:bodyPr>
          <a:lstStyle/>
          <a:p>
            <a:r>
              <a:rPr lang="en-US" sz="1200" dirty="0" err="1"/>
              <a:t>obavezujuci</a:t>
            </a:r>
            <a:r>
              <a:rPr lang="en-US" sz="1200" dirty="0"/>
              <a:t> </a:t>
            </a:r>
            <a:r>
              <a:rPr lang="en-US" sz="1200" dirty="0" err="1"/>
              <a:t>glas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IDEJA ALGORITMA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Konkretan primer: najlepsi slucaj</a:t>
            </a:r>
            <a:endParaRPr lang="en-US" sz="3000" dirty="0"/>
          </a:p>
        </p:txBody>
      </p:sp>
      <p:sp>
        <p:nvSpPr>
          <p:cNvPr id="4" name="Shape 2"/>
          <p:cNvSpPr/>
          <p:nvPr/>
        </p:nvSpPr>
        <p:spPr>
          <a:xfrm>
            <a:off x="502920" y="1463040"/>
            <a:ext cx="3383280" cy="310896"/>
          </a:xfrm>
          <a:prstGeom prst="roundRect">
            <a:avLst>
              <a:gd name="adj" fmla="val 50000"/>
            </a:avLst>
          </a:prstGeom>
          <a:solidFill>
            <a:srgbClr val="EAF1F8"/>
          </a:solidFill>
          <a:ln/>
        </p:spPr>
      </p:sp>
      <p:sp>
        <p:nvSpPr>
          <p:cNvPr id="5" name="Text 3"/>
          <p:cNvSpPr/>
          <p:nvPr/>
        </p:nvSpPr>
        <p:spPr>
          <a:xfrm>
            <a:off x="502920" y="1453896"/>
            <a:ext cx="3383280" cy="329184"/>
          </a:xfrm>
          <a:prstGeom prst="rect">
            <a:avLst/>
          </a:prstGeom>
          <a:noFill/>
          <a:ln/>
        </p:spPr>
        <p:txBody>
          <a:bodyPr wrap="square" lIns="0" tIns="0" rIns="0" bIns="0" rtlCol="0" anchor="ctr"/>
          <a:lstStyle/>
          <a:p>
            <a:pPr marL="0" indent="0" algn="ctr">
              <a:buNone/>
            </a:pPr>
            <a:r>
              <a:rPr lang="en-US" sz="1150" b="1" dirty="0">
                <a:solidFill>
                  <a:srgbClr val="1E466E"/>
                </a:solidFill>
                <a:latin typeface="Calibri" pitchFamily="34" charset="0"/>
                <a:ea typeface="Calibri" pitchFamily="34" charset="-122"/>
                <a:cs typeface="Calibri" pitchFamily="34" charset="-120"/>
              </a:rPr>
              <a:t>n = 4   ·   f = 1   ·   prag (2f+1) = 3</a:t>
            </a:r>
            <a:endParaRPr lang="en-US" sz="1150" dirty="0"/>
          </a:p>
        </p:txBody>
      </p:sp>
      <p:sp>
        <p:nvSpPr>
          <p:cNvPr id="6" name="Shape 4"/>
          <p:cNvSpPr/>
          <p:nvPr/>
        </p:nvSpPr>
        <p:spPr>
          <a:xfrm>
            <a:off x="548640" y="2057400"/>
            <a:ext cx="2377440" cy="2194560"/>
          </a:xfrm>
          <a:prstGeom prst="roundRect">
            <a:avLst>
              <a:gd name="adj" fmla="val 4167"/>
            </a:avLst>
          </a:prstGeom>
          <a:solidFill>
            <a:srgbClr val="FFFFFF"/>
          </a:solidFill>
          <a:ln/>
          <a:effectLst>
            <a:outerShdw blurRad="114300" dist="38100" dir="5400000" algn="bl" rotWithShape="0">
              <a:srgbClr val="0B1A2E">
                <a:alpha val="13000"/>
              </a:srgbClr>
            </a:outerShdw>
          </a:effectLst>
        </p:spPr>
      </p:sp>
      <p:sp>
        <p:nvSpPr>
          <p:cNvPr id="7" name="Shape 5"/>
          <p:cNvSpPr/>
          <p:nvPr/>
        </p:nvSpPr>
        <p:spPr>
          <a:xfrm>
            <a:off x="1463040" y="2240280"/>
            <a:ext cx="548640" cy="548640"/>
          </a:xfrm>
          <a:prstGeom prst="ellipse">
            <a:avLst/>
          </a:prstGeom>
          <a:solidFill>
            <a:srgbClr val="0D9488"/>
          </a:solidFill>
          <a:ln/>
          <a:effectLst>
            <a:outerShdw blurRad="88900" dist="25400" dir="5400000" algn="bl" rotWithShape="0">
              <a:srgbClr val="0B1A2E">
                <a:alpha val="16000"/>
              </a:srgbClr>
            </a:outerShdw>
          </a:effectLst>
        </p:spPr>
      </p:sp>
      <p:sp>
        <p:nvSpPr>
          <p:cNvPr id="8" name="Text 6"/>
          <p:cNvSpPr/>
          <p:nvPr/>
        </p:nvSpPr>
        <p:spPr>
          <a:xfrm>
            <a:off x="1463040" y="2240280"/>
            <a:ext cx="548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9" name="Text 7"/>
          <p:cNvSpPr/>
          <p:nvPr/>
        </p:nvSpPr>
        <p:spPr>
          <a:xfrm>
            <a:off x="685800" y="2898648"/>
            <a:ext cx="2103120" cy="347472"/>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PROPOSE</a:t>
            </a:r>
            <a:endParaRPr lang="en-US" sz="1500" dirty="0"/>
          </a:p>
        </p:txBody>
      </p:sp>
      <p:sp>
        <p:nvSpPr>
          <p:cNvPr id="10" name="Text 8"/>
          <p:cNvSpPr/>
          <p:nvPr/>
        </p:nvSpPr>
        <p:spPr>
          <a:xfrm>
            <a:off x="713232" y="3264408"/>
            <a:ext cx="2048256" cy="640080"/>
          </a:xfrm>
          <a:prstGeom prst="rect">
            <a:avLst/>
          </a:prstGeom>
          <a:noFill/>
          <a:ln/>
        </p:spPr>
        <p:txBody>
          <a:bodyPr wrap="square" lIns="0" tIns="0" rIns="0" bIns="0" rtlCol="0" anchor="ctr"/>
          <a:lstStyle/>
          <a:p>
            <a:pPr marL="0" indent="0" algn="ctr">
              <a:lnSpc>
                <a:spcPct val="98000"/>
              </a:lnSpc>
              <a:buNone/>
            </a:pPr>
            <a:r>
              <a:rPr lang="en-US" sz="1030" dirty="0">
                <a:solidFill>
                  <a:srgbClr val="44556A"/>
                </a:solidFill>
                <a:latin typeface="Calibri" pitchFamily="34" charset="0"/>
                <a:ea typeface="Calibri" pitchFamily="34" charset="-122"/>
                <a:cs typeface="Calibri" pitchFamily="34" charset="-120"/>
              </a:rPr>
              <a:t>Runda 0: posten lider p1 salje PROPOSAL(v) svima.</a:t>
            </a:r>
            <a:endParaRPr lang="en-US" sz="1030" dirty="0"/>
          </a:p>
        </p:txBody>
      </p:sp>
      <p:sp>
        <p:nvSpPr>
          <p:cNvPr id="11" name="Shape 9"/>
          <p:cNvSpPr/>
          <p:nvPr/>
        </p:nvSpPr>
        <p:spPr>
          <a:xfrm>
            <a:off x="868680" y="3886200"/>
            <a:ext cx="1737360" cy="310896"/>
          </a:xfrm>
          <a:prstGeom prst="roundRect">
            <a:avLst>
              <a:gd name="adj" fmla="val 50000"/>
            </a:avLst>
          </a:prstGeom>
          <a:solidFill>
            <a:srgbClr val="EFFAF8"/>
          </a:solidFill>
          <a:ln/>
        </p:spPr>
      </p:sp>
      <p:sp>
        <p:nvSpPr>
          <p:cNvPr id="12" name="Text 10"/>
          <p:cNvSpPr/>
          <p:nvPr/>
        </p:nvSpPr>
        <p:spPr>
          <a:xfrm>
            <a:off x="868680" y="3877056"/>
            <a:ext cx="173736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p1 → svi</a:t>
            </a:r>
            <a:endParaRPr lang="en-US" sz="950" dirty="0"/>
          </a:p>
        </p:txBody>
      </p:sp>
      <p:pic>
        <p:nvPicPr>
          <p:cNvPr id="13" name="Image 0" descr="preencoded.png"/>
          <p:cNvPicPr>
            <a:picLocks noChangeAspect="1"/>
          </p:cNvPicPr>
          <p:nvPr/>
        </p:nvPicPr>
        <p:blipFill>
          <a:blip r:embed="rId3"/>
          <a:stretch>
            <a:fillRect/>
          </a:stretch>
        </p:blipFill>
        <p:spPr>
          <a:xfrm>
            <a:off x="3008376" y="3008376"/>
            <a:ext cx="292608" cy="292608"/>
          </a:xfrm>
          <a:prstGeom prst="rect">
            <a:avLst/>
          </a:prstGeom>
        </p:spPr>
      </p:pic>
      <p:sp>
        <p:nvSpPr>
          <p:cNvPr id="14" name="Shape 11"/>
          <p:cNvSpPr/>
          <p:nvPr/>
        </p:nvSpPr>
        <p:spPr>
          <a:xfrm>
            <a:off x="3383280" y="2057400"/>
            <a:ext cx="2377440" cy="2194560"/>
          </a:xfrm>
          <a:prstGeom prst="roundRect">
            <a:avLst>
              <a:gd name="adj" fmla="val 4167"/>
            </a:avLst>
          </a:prstGeom>
          <a:solidFill>
            <a:srgbClr val="FFFFFF"/>
          </a:solidFill>
          <a:ln/>
          <a:effectLst>
            <a:outerShdw blurRad="114300" dist="38100" dir="5400000" algn="bl" rotWithShape="0">
              <a:srgbClr val="0B1A2E">
                <a:alpha val="13000"/>
              </a:srgbClr>
            </a:outerShdw>
          </a:effectLst>
        </p:spPr>
      </p:sp>
      <p:sp>
        <p:nvSpPr>
          <p:cNvPr id="15" name="Shape 12"/>
          <p:cNvSpPr/>
          <p:nvPr/>
        </p:nvSpPr>
        <p:spPr>
          <a:xfrm>
            <a:off x="4297680" y="2240280"/>
            <a:ext cx="548640" cy="548640"/>
          </a:xfrm>
          <a:prstGeom prst="ellipse">
            <a:avLst/>
          </a:prstGeom>
          <a:solidFill>
            <a:srgbClr val="1E466E"/>
          </a:solidFill>
          <a:ln/>
          <a:effectLst>
            <a:outerShdw blurRad="88900" dist="25400" dir="5400000" algn="bl" rotWithShape="0">
              <a:srgbClr val="0B1A2E">
                <a:alpha val="16000"/>
              </a:srgbClr>
            </a:outerShdw>
          </a:effectLst>
        </p:spPr>
      </p:sp>
      <p:sp>
        <p:nvSpPr>
          <p:cNvPr id="16" name="Text 13"/>
          <p:cNvSpPr/>
          <p:nvPr/>
        </p:nvSpPr>
        <p:spPr>
          <a:xfrm>
            <a:off x="4297680" y="2240280"/>
            <a:ext cx="548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7" name="Text 14"/>
          <p:cNvSpPr/>
          <p:nvPr/>
        </p:nvSpPr>
        <p:spPr>
          <a:xfrm>
            <a:off x="3520440" y="2898648"/>
            <a:ext cx="2103120" cy="347472"/>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PREVOTE</a:t>
            </a:r>
            <a:endParaRPr lang="en-US" sz="1500" dirty="0"/>
          </a:p>
        </p:txBody>
      </p:sp>
      <p:sp>
        <p:nvSpPr>
          <p:cNvPr id="18" name="Text 15"/>
          <p:cNvSpPr/>
          <p:nvPr/>
        </p:nvSpPr>
        <p:spPr>
          <a:xfrm>
            <a:off x="3547872" y="3264408"/>
            <a:ext cx="2048256" cy="640080"/>
          </a:xfrm>
          <a:prstGeom prst="rect">
            <a:avLst/>
          </a:prstGeom>
          <a:noFill/>
          <a:ln/>
        </p:spPr>
        <p:txBody>
          <a:bodyPr wrap="square" lIns="0" tIns="0" rIns="0" bIns="0" rtlCol="0" anchor="ctr"/>
          <a:lstStyle/>
          <a:p>
            <a:pPr marL="0" indent="0" algn="ctr">
              <a:lnSpc>
                <a:spcPct val="98000"/>
              </a:lnSpc>
              <a:buNone/>
            </a:pPr>
            <a:r>
              <a:rPr lang="en-US" sz="1030" dirty="0">
                <a:solidFill>
                  <a:srgbClr val="44556A"/>
                </a:solidFill>
                <a:latin typeface="Calibri" pitchFamily="34" charset="0"/>
                <a:ea typeface="Calibri" pitchFamily="34" charset="-122"/>
                <a:cs typeface="Calibri" pitchFamily="34" charset="-120"/>
              </a:rPr>
              <a:t>Svi (p1–p4) private </a:t>
            </a:r>
            <a:r>
              <a:rPr lang="en-US" sz="1030" dirty="0" err="1">
                <a:solidFill>
                  <a:srgbClr val="44556A"/>
                </a:solidFill>
                <a:latin typeface="Calibri" pitchFamily="34" charset="0"/>
                <a:ea typeface="Calibri" pitchFamily="34" charset="-122"/>
                <a:cs typeface="Calibri" pitchFamily="34" charset="-120"/>
              </a:rPr>
              <a:t>i</a:t>
            </a:r>
            <a:r>
              <a:rPr lang="en-US" sz="1030" dirty="0">
                <a:solidFill>
                  <a:srgbClr val="44556A"/>
                </a:solidFill>
                <a:latin typeface="Calibri" pitchFamily="34" charset="0"/>
                <a:ea typeface="Calibri" pitchFamily="34" charset="-122"/>
                <a:cs typeface="Calibri" pitchFamily="34" charset="-120"/>
              </a:rPr>
              <a:t> salju PREVOTE(v). Svako vidi 3 ≥ prag → salje PRECOMMIT(v).</a:t>
            </a:r>
            <a:endParaRPr lang="en-US" sz="1030" dirty="0"/>
          </a:p>
        </p:txBody>
      </p:sp>
      <p:sp>
        <p:nvSpPr>
          <p:cNvPr id="19" name="Shape 16"/>
          <p:cNvSpPr/>
          <p:nvPr/>
        </p:nvSpPr>
        <p:spPr>
          <a:xfrm>
            <a:off x="3703320" y="3886200"/>
            <a:ext cx="1737360" cy="310896"/>
          </a:xfrm>
          <a:prstGeom prst="roundRect">
            <a:avLst>
              <a:gd name="adj" fmla="val 50000"/>
            </a:avLst>
          </a:prstGeom>
          <a:solidFill>
            <a:srgbClr val="EFFAF8"/>
          </a:solidFill>
          <a:ln/>
        </p:spPr>
      </p:sp>
      <p:sp>
        <p:nvSpPr>
          <p:cNvPr id="20" name="Text 17"/>
          <p:cNvSpPr/>
          <p:nvPr/>
        </p:nvSpPr>
        <p:spPr>
          <a:xfrm>
            <a:off x="3703320" y="3877056"/>
            <a:ext cx="173736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skupi se 3</a:t>
            </a:r>
            <a:endParaRPr lang="en-US" sz="950" dirty="0"/>
          </a:p>
        </p:txBody>
      </p:sp>
      <p:pic>
        <p:nvPicPr>
          <p:cNvPr id="21" name="Image 1" descr="preencoded.png"/>
          <p:cNvPicPr>
            <a:picLocks noChangeAspect="1"/>
          </p:cNvPicPr>
          <p:nvPr/>
        </p:nvPicPr>
        <p:blipFill>
          <a:blip r:embed="rId3"/>
          <a:stretch>
            <a:fillRect/>
          </a:stretch>
        </p:blipFill>
        <p:spPr>
          <a:xfrm>
            <a:off x="5843016" y="3008376"/>
            <a:ext cx="292608" cy="292608"/>
          </a:xfrm>
          <a:prstGeom prst="rect">
            <a:avLst/>
          </a:prstGeom>
        </p:spPr>
      </p:pic>
      <p:sp>
        <p:nvSpPr>
          <p:cNvPr id="22" name="Shape 18"/>
          <p:cNvSpPr/>
          <p:nvPr/>
        </p:nvSpPr>
        <p:spPr>
          <a:xfrm>
            <a:off x="6217920" y="2057400"/>
            <a:ext cx="2377440" cy="2194560"/>
          </a:xfrm>
          <a:prstGeom prst="roundRect">
            <a:avLst>
              <a:gd name="adj" fmla="val 4167"/>
            </a:avLst>
          </a:prstGeom>
          <a:solidFill>
            <a:srgbClr val="FFFFFF"/>
          </a:solidFill>
          <a:ln/>
          <a:effectLst>
            <a:outerShdw blurRad="114300" dist="38100" dir="5400000" algn="bl" rotWithShape="0">
              <a:srgbClr val="0B1A2E">
                <a:alpha val="13000"/>
              </a:srgbClr>
            </a:outerShdw>
          </a:effectLst>
        </p:spPr>
      </p:sp>
      <p:sp>
        <p:nvSpPr>
          <p:cNvPr id="23" name="Shape 19"/>
          <p:cNvSpPr/>
          <p:nvPr/>
        </p:nvSpPr>
        <p:spPr>
          <a:xfrm>
            <a:off x="7132320" y="2240280"/>
            <a:ext cx="548640" cy="548640"/>
          </a:xfrm>
          <a:prstGeom prst="ellipse">
            <a:avLst/>
          </a:prstGeom>
          <a:solidFill>
            <a:srgbClr val="0E2A47"/>
          </a:solidFill>
          <a:ln/>
          <a:effectLst>
            <a:outerShdw blurRad="88900" dist="25400" dir="5400000" algn="bl" rotWithShape="0">
              <a:srgbClr val="0B1A2E">
                <a:alpha val="16000"/>
              </a:srgbClr>
            </a:outerShdw>
          </a:effectLst>
        </p:spPr>
      </p:sp>
      <p:sp>
        <p:nvSpPr>
          <p:cNvPr id="24" name="Text 20"/>
          <p:cNvSpPr/>
          <p:nvPr/>
        </p:nvSpPr>
        <p:spPr>
          <a:xfrm>
            <a:off x="7132320" y="2240280"/>
            <a:ext cx="548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25" name="Text 21"/>
          <p:cNvSpPr/>
          <p:nvPr/>
        </p:nvSpPr>
        <p:spPr>
          <a:xfrm>
            <a:off x="6355080" y="2898648"/>
            <a:ext cx="2103120" cy="347472"/>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PRECOMMIT</a:t>
            </a:r>
            <a:endParaRPr lang="en-US" sz="1500" dirty="0"/>
          </a:p>
        </p:txBody>
      </p:sp>
      <p:sp>
        <p:nvSpPr>
          <p:cNvPr id="26" name="Text 22"/>
          <p:cNvSpPr/>
          <p:nvPr/>
        </p:nvSpPr>
        <p:spPr>
          <a:xfrm>
            <a:off x="6382512" y="3264408"/>
            <a:ext cx="2048256" cy="640080"/>
          </a:xfrm>
          <a:prstGeom prst="rect">
            <a:avLst/>
          </a:prstGeom>
          <a:noFill/>
          <a:ln/>
        </p:spPr>
        <p:txBody>
          <a:bodyPr wrap="square" lIns="0" tIns="0" rIns="0" bIns="0" rtlCol="0" anchor="ctr"/>
          <a:lstStyle/>
          <a:p>
            <a:pPr marL="0" indent="0" algn="ctr">
              <a:lnSpc>
                <a:spcPct val="98000"/>
              </a:lnSpc>
              <a:buNone/>
            </a:pPr>
            <a:r>
              <a:rPr lang="en-US" sz="1030" dirty="0">
                <a:solidFill>
                  <a:srgbClr val="44556A"/>
                </a:solidFill>
                <a:latin typeface="Calibri" pitchFamily="34" charset="0"/>
                <a:ea typeface="Calibri" pitchFamily="34" charset="-122"/>
                <a:cs typeface="Calibri" pitchFamily="34" charset="-120"/>
              </a:rPr>
              <a:t>Svako vidi 3 PRECOMMIT(v) za istu vrednost → svi ODLUCE v.</a:t>
            </a:r>
            <a:endParaRPr lang="en-US" sz="1030" dirty="0"/>
          </a:p>
        </p:txBody>
      </p:sp>
      <p:sp>
        <p:nvSpPr>
          <p:cNvPr id="27" name="Shape 23"/>
          <p:cNvSpPr/>
          <p:nvPr/>
        </p:nvSpPr>
        <p:spPr>
          <a:xfrm>
            <a:off x="6537960" y="3886200"/>
            <a:ext cx="1737360" cy="310896"/>
          </a:xfrm>
          <a:prstGeom prst="roundRect">
            <a:avLst>
              <a:gd name="adj" fmla="val 50000"/>
            </a:avLst>
          </a:prstGeom>
          <a:solidFill>
            <a:srgbClr val="EFFAF8"/>
          </a:solidFill>
          <a:ln/>
        </p:spPr>
      </p:sp>
      <p:sp>
        <p:nvSpPr>
          <p:cNvPr id="28" name="Text 24"/>
          <p:cNvSpPr/>
          <p:nvPr/>
        </p:nvSpPr>
        <p:spPr>
          <a:xfrm>
            <a:off x="6537960" y="3877056"/>
            <a:ext cx="173736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odluka!</a:t>
            </a:r>
            <a:endParaRPr lang="en-US" sz="950" dirty="0"/>
          </a:p>
        </p:txBody>
      </p:sp>
      <p:sp>
        <p:nvSpPr>
          <p:cNvPr id="29" name="Shape 25"/>
          <p:cNvSpPr/>
          <p:nvPr/>
        </p:nvSpPr>
        <p:spPr>
          <a:xfrm>
            <a:off x="502920" y="4526280"/>
            <a:ext cx="8138160" cy="457200"/>
          </a:xfrm>
          <a:prstGeom prst="roundRect">
            <a:avLst>
              <a:gd name="adj" fmla="val 12000"/>
            </a:avLst>
          </a:prstGeom>
          <a:solidFill>
            <a:srgbClr val="FBEEDD"/>
          </a:solidFill>
          <a:ln/>
        </p:spPr>
      </p:sp>
      <p:sp>
        <p:nvSpPr>
          <p:cNvPr id="30" name="Text 26"/>
          <p:cNvSpPr/>
          <p:nvPr/>
        </p:nvSpPr>
        <p:spPr>
          <a:xfrm>
            <a:off x="731520" y="4535424"/>
            <a:ext cx="7680960" cy="438912"/>
          </a:xfrm>
          <a:prstGeom prst="rect">
            <a:avLst/>
          </a:prstGeom>
          <a:noFill/>
          <a:ln/>
        </p:spPr>
        <p:txBody>
          <a:bodyPr wrap="square" lIns="0" tIns="0" rIns="0" bIns="0" rtlCol="0" anchor="ctr"/>
          <a:lstStyle/>
          <a:p>
            <a:pPr marL="0" indent="0" algn="ctr">
              <a:buNone/>
            </a:pPr>
            <a:r>
              <a:rPr lang="en-US" sz="1100" b="1" dirty="0">
                <a:solidFill>
                  <a:srgbClr val="C9772A"/>
                </a:solidFill>
                <a:latin typeface="Calibri" pitchFamily="34" charset="0"/>
                <a:ea typeface="Calibri" pitchFamily="34" charset="-122"/>
                <a:cs typeface="Calibri" pitchFamily="34" charset="-120"/>
              </a:rPr>
              <a:t>Gotovo u rundi 0 — idealno.  </a:t>
            </a:r>
            <a:r>
              <a:rPr lang="en-US" sz="1100" dirty="0">
                <a:solidFill>
                  <a:srgbClr val="44556A"/>
                </a:solidFill>
                <a:latin typeface="Calibri" pitchFamily="34" charset="0"/>
                <a:ea typeface="Calibri" pitchFamily="34" charset="-122"/>
                <a:cs typeface="Calibri" pitchFamily="34" charset="-120"/>
              </a:rPr>
              <a:t>A ako lider zakaze: istekne tajmaut → runda 1, novi lider → odluka.</a:t>
            </a:r>
            <a:endParaRPr lang="en-US" sz="1100" dirty="0"/>
          </a:p>
        </p:txBody>
      </p:sp>
      <p:sp>
        <p:nvSpPr>
          <p:cNvPr id="32" name="Text 27"/>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10</a:t>
            </a:r>
            <a:endParaRPr lang="en-US" sz="900" dirty="0"/>
          </a:p>
        </p:txBody>
      </p:sp>
      <p:sp>
        <p:nvSpPr>
          <p:cNvPr id="33" name="Text 28"/>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Ideja algoritma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IDEJA ALGORITMA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Cvorovi nisu u istom koraku</a:t>
            </a:r>
            <a:endParaRPr lang="en-US" sz="3000" dirty="0"/>
          </a:p>
        </p:txBody>
      </p:sp>
      <p:sp>
        <p:nvSpPr>
          <p:cNvPr id="4" name="Text 2"/>
          <p:cNvSpPr/>
          <p:nvPr/>
        </p:nvSpPr>
        <p:spPr>
          <a:xfrm>
            <a:off x="502920" y="1371600"/>
            <a:ext cx="8229600" cy="292608"/>
          </a:xfrm>
          <a:prstGeom prst="rect">
            <a:avLst/>
          </a:prstGeom>
          <a:noFill/>
          <a:ln/>
        </p:spPr>
        <p:txBody>
          <a:bodyPr wrap="square" lIns="0" tIns="0" rIns="0" bIns="0" rtlCol="0" anchor="ctr"/>
          <a:lstStyle/>
          <a:p>
            <a:pPr marL="0" indent="0">
              <a:buNone/>
            </a:pPr>
            <a:r>
              <a:rPr lang="en-US" sz="1250" i="1" dirty="0">
                <a:solidFill>
                  <a:srgbClr val="44556A"/>
                </a:solidFill>
                <a:latin typeface="Calibri" pitchFamily="34" charset="0"/>
                <a:ea typeface="Calibri" pitchFamily="34" charset="-122"/>
                <a:cs typeface="Calibri" pitchFamily="34" charset="-120"/>
              </a:rPr>
              <a:t>Nema globalne petlje — svaki cvor vrti SVOJU lokalnu masinu stanja.</a:t>
            </a:r>
            <a:endParaRPr lang="en-US" sz="1250" dirty="0"/>
          </a:p>
        </p:txBody>
      </p:sp>
      <p:sp>
        <p:nvSpPr>
          <p:cNvPr id="5" name="Shape 3"/>
          <p:cNvSpPr/>
          <p:nvPr/>
        </p:nvSpPr>
        <p:spPr>
          <a:xfrm>
            <a:off x="502920" y="1920240"/>
            <a:ext cx="3977640" cy="548640"/>
          </a:xfrm>
          <a:prstGeom prst="roundRect">
            <a:avLst>
              <a:gd name="adj" fmla="val 13333"/>
            </a:avLst>
          </a:prstGeom>
          <a:solidFill>
            <a:srgbClr val="FFFFFF"/>
          </a:solidFill>
          <a:ln/>
          <a:effectLst>
            <a:outerShdw blurRad="114300" dist="38100" dir="5400000" algn="bl" rotWithShape="0">
              <a:srgbClr val="0B1A2E">
                <a:alpha val="13000"/>
              </a:srgbClr>
            </a:outerShdw>
          </a:effectLst>
        </p:spPr>
      </p:sp>
      <p:sp>
        <p:nvSpPr>
          <p:cNvPr id="6" name="Text 4"/>
          <p:cNvSpPr/>
          <p:nvPr/>
        </p:nvSpPr>
        <p:spPr>
          <a:xfrm>
            <a:off x="704088" y="1920240"/>
            <a:ext cx="1280160" cy="54864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cvor A</a:t>
            </a:r>
            <a:endParaRPr lang="en-US" sz="1300" dirty="0"/>
          </a:p>
        </p:txBody>
      </p:sp>
      <p:sp>
        <p:nvSpPr>
          <p:cNvPr id="7" name="Shape 5"/>
          <p:cNvSpPr/>
          <p:nvPr/>
        </p:nvSpPr>
        <p:spPr>
          <a:xfrm>
            <a:off x="2103120" y="2039112"/>
            <a:ext cx="2148840" cy="310896"/>
          </a:xfrm>
          <a:prstGeom prst="roundRect">
            <a:avLst>
              <a:gd name="adj" fmla="val 50000"/>
            </a:avLst>
          </a:prstGeom>
          <a:solidFill>
            <a:srgbClr val="0D9488"/>
          </a:solidFill>
          <a:ln/>
        </p:spPr>
      </p:sp>
      <p:sp>
        <p:nvSpPr>
          <p:cNvPr id="8" name="Text 6"/>
          <p:cNvSpPr/>
          <p:nvPr/>
        </p:nvSpPr>
        <p:spPr>
          <a:xfrm>
            <a:off x="2103120" y="2029968"/>
            <a:ext cx="214884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h0  ·  r2  ·  prevote</a:t>
            </a:r>
            <a:endParaRPr lang="en-US" sz="1050" dirty="0"/>
          </a:p>
        </p:txBody>
      </p:sp>
      <p:sp>
        <p:nvSpPr>
          <p:cNvPr id="9" name="Shape 7"/>
          <p:cNvSpPr/>
          <p:nvPr/>
        </p:nvSpPr>
        <p:spPr>
          <a:xfrm>
            <a:off x="502920" y="2542032"/>
            <a:ext cx="3977640" cy="548640"/>
          </a:xfrm>
          <a:prstGeom prst="roundRect">
            <a:avLst>
              <a:gd name="adj" fmla="val 13333"/>
            </a:avLst>
          </a:prstGeom>
          <a:solidFill>
            <a:srgbClr val="FFFFFF"/>
          </a:solidFill>
          <a:ln/>
          <a:effectLst>
            <a:outerShdw blurRad="114300" dist="38100" dir="5400000" algn="bl" rotWithShape="0">
              <a:srgbClr val="0B1A2E">
                <a:alpha val="13000"/>
              </a:srgbClr>
            </a:outerShdw>
          </a:effectLst>
        </p:spPr>
      </p:sp>
      <p:sp>
        <p:nvSpPr>
          <p:cNvPr id="10" name="Text 8"/>
          <p:cNvSpPr/>
          <p:nvPr/>
        </p:nvSpPr>
        <p:spPr>
          <a:xfrm>
            <a:off x="704088" y="2542032"/>
            <a:ext cx="1280160" cy="54864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cvor B</a:t>
            </a:r>
            <a:endParaRPr lang="en-US" sz="1300" dirty="0"/>
          </a:p>
        </p:txBody>
      </p:sp>
      <p:sp>
        <p:nvSpPr>
          <p:cNvPr id="11" name="Shape 9"/>
          <p:cNvSpPr/>
          <p:nvPr/>
        </p:nvSpPr>
        <p:spPr>
          <a:xfrm>
            <a:off x="2103120" y="2660904"/>
            <a:ext cx="2148840" cy="310896"/>
          </a:xfrm>
          <a:prstGeom prst="roundRect">
            <a:avLst>
              <a:gd name="adj" fmla="val 50000"/>
            </a:avLst>
          </a:prstGeom>
          <a:solidFill>
            <a:srgbClr val="EAF1F8"/>
          </a:solidFill>
          <a:ln/>
        </p:spPr>
      </p:sp>
      <p:sp>
        <p:nvSpPr>
          <p:cNvPr id="12" name="Text 10"/>
          <p:cNvSpPr/>
          <p:nvPr/>
        </p:nvSpPr>
        <p:spPr>
          <a:xfrm>
            <a:off x="2103120" y="2651760"/>
            <a:ext cx="2148840" cy="329184"/>
          </a:xfrm>
          <a:prstGeom prst="rect">
            <a:avLst/>
          </a:prstGeom>
          <a:noFill/>
          <a:ln/>
        </p:spPr>
        <p:txBody>
          <a:bodyPr wrap="square" lIns="0" tIns="0" rIns="0" bIns="0" rtlCol="0" anchor="ctr"/>
          <a:lstStyle/>
          <a:p>
            <a:pPr marL="0" indent="0" algn="ctr">
              <a:buNone/>
            </a:pPr>
            <a:r>
              <a:rPr lang="en-US" sz="1050" b="1" dirty="0">
                <a:solidFill>
                  <a:srgbClr val="1E466E"/>
                </a:solidFill>
                <a:latin typeface="Calibri" pitchFamily="34" charset="0"/>
                <a:ea typeface="Calibri" pitchFamily="34" charset="-122"/>
                <a:cs typeface="Calibri" pitchFamily="34" charset="-120"/>
              </a:rPr>
              <a:t>h0  ·  r1  ·  precommit</a:t>
            </a:r>
            <a:endParaRPr lang="en-US" sz="1050" dirty="0"/>
          </a:p>
        </p:txBody>
      </p:sp>
      <p:sp>
        <p:nvSpPr>
          <p:cNvPr id="13" name="Shape 11"/>
          <p:cNvSpPr/>
          <p:nvPr/>
        </p:nvSpPr>
        <p:spPr>
          <a:xfrm>
            <a:off x="502920" y="3163824"/>
            <a:ext cx="3977640" cy="548640"/>
          </a:xfrm>
          <a:prstGeom prst="roundRect">
            <a:avLst>
              <a:gd name="adj" fmla="val 13333"/>
            </a:avLst>
          </a:prstGeom>
          <a:solidFill>
            <a:srgbClr val="FFFFFF"/>
          </a:solidFill>
          <a:ln/>
          <a:effectLst>
            <a:outerShdw blurRad="114300" dist="38100" dir="5400000" algn="bl" rotWithShape="0">
              <a:srgbClr val="0B1A2E">
                <a:alpha val="13000"/>
              </a:srgbClr>
            </a:outerShdw>
          </a:effectLst>
        </p:spPr>
      </p:sp>
      <p:sp>
        <p:nvSpPr>
          <p:cNvPr id="14" name="Text 12"/>
          <p:cNvSpPr/>
          <p:nvPr/>
        </p:nvSpPr>
        <p:spPr>
          <a:xfrm>
            <a:off x="704088" y="3163824"/>
            <a:ext cx="1280160" cy="54864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cvor C</a:t>
            </a:r>
            <a:endParaRPr lang="en-US" sz="1300" dirty="0"/>
          </a:p>
        </p:txBody>
      </p:sp>
      <p:sp>
        <p:nvSpPr>
          <p:cNvPr id="15" name="Shape 13"/>
          <p:cNvSpPr/>
          <p:nvPr/>
        </p:nvSpPr>
        <p:spPr>
          <a:xfrm>
            <a:off x="2103120" y="3282696"/>
            <a:ext cx="2148840" cy="310896"/>
          </a:xfrm>
          <a:prstGeom prst="roundRect">
            <a:avLst>
              <a:gd name="adj" fmla="val 50000"/>
            </a:avLst>
          </a:prstGeom>
          <a:solidFill>
            <a:srgbClr val="0D9488"/>
          </a:solidFill>
          <a:ln/>
        </p:spPr>
      </p:sp>
      <p:sp>
        <p:nvSpPr>
          <p:cNvPr id="16" name="Text 14"/>
          <p:cNvSpPr/>
          <p:nvPr/>
        </p:nvSpPr>
        <p:spPr>
          <a:xfrm>
            <a:off x="2103120" y="3273552"/>
            <a:ext cx="214884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h0  ·  r2  ·  propose</a:t>
            </a:r>
            <a:endParaRPr lang="en-US" sz="1050" dirty="0"/>
          </a:p>
        </p:txBody>
      </p:sp>
      <p:sp>
        <p:nvSpPr>
          <p:cNvPr id="17" name="Shape 15"/>
          <p:cNvSpPr/>
          <p:nvPr/>
        </p:nvSpPr>
        <p:spPr>
          <a:xfrm>
            <a:off x="502920" y="3785616"/>
            <a:ext cx="3977640" cy="548640"/>
          </a:xfrm>
          <a:prstGeom prst="roundRect">
            <a:avLst>
              <a:gd name="adj" fmla="val 13333"/>
            </a:avLst>
          </a:prstGeom>
          <a:solidFill>
            <a:srgbClr val="FFFFFF"/>
          </a:solidFill>
          <a:ln/>
          <a:effectLst>
            <a:outerShdw blurRad="114300" dist="38100" dir="5400000" algn="bl" rotWithShape="0">
              <a:srgbClr val="0B1A2E">
                <a:alpha val="13000"/>
              </a:srgbClr>
            </a:outerShdw>
          </a:effectLst>
        </p:spPr>
      </p:sp>
      <p:sp>
        <p:nvSpPr>
          <p:cNvPr id="18" name="Text 16"/>
          <p:cNvSpPr/>
          <p:nvPr/>
        </p:nvSpPr>
        <p:spPr>
          <a:xfrm>
            <a:off x="704088" y="3785616"/>
            <a:ext cx="1280160" cy="54864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cvor D</a:t>
            </a:r>
            <a:endParaRPr lang="en-US" sz="1300" dirty="0"/>
          </a:p>
        </p:txBody>
      </p:sp>
      <p:sp>
        <p:nvSpPr>
          <p:cNvPr id="19" name="Shape 17"/>
          <p:cNvSpPr/>
          <p:nvPr/>
        </p:nvSpPr>
        <p:spPr>
          <a:xfrm>
            <a:off x="2103120" y="3904488"/>
            <a:ext cx="2148840" cy="310896"/>
          </a:xfrm>
          <a:prstGeom prst="roundRect">
            <a:avLst>
              <a:gd name="adj" fmla="val 50000"/>
            </a:avLst>
          </a:prstGeom>
          <a:solidFill>
            <a:srgbClr val="EAF1F8"/>
          </a:solidFill>
          <a:ln/>
        </p:spPr>
      </p:sp>
      <p:sp>
        <p:nvSpPr>
          <p:cNvPr id="20" name="Text 18"/>
          <p:cNvSpPr/>
          <p:nvPr/>
        </p:nvSpPr>
        <p:spPr>
          <a:xfrm>
            <a:off x="2103120" y="3895344"/>
            <a:ext cx="2148840" cy="329184"/>
          </a:xfrm>
          <a:prstGeom prst="rect">
            <a:avLst/>
          </a:prstGeom>
          <a:noFill/>
          <a:ln/>
        </p:spPr>
        <p:txBody>
          <a:bodyPr wrap="square" lIns="0" tIns="0" rIns="0" bIns="0" rtlCol="0" anchor="ctr"/>
          <a:lstStyle/>
          <a:p>
            <a:pPr marL="0" indent="0" algn="ctr">
              <a:buNone/>
            </a:pPr>
            <a:r>
              <a:rPr lang="en-US" sz="1050" b="1" dirty="0">
                <a:solidFill>
                  <a:srgbClr val="1E466E"/>
                </a:solidFill>
                <a:latin typeface="Calibri" pitchFamily="34" charset="0"/>
                <a:ea typeface="Calibri" pitchFamily="34" charset="-122"/>
                <a:cs typeface="Calibri" pitchFamily="34" charset="-120"/>
              </a:rPr>
              <a:t>h0  ·  r1  ·  prevote</a:t>
            </a:r>
            <a:endParaRPr lang="en-US" sz="1050" dirty="0"/>
          </a:p>
        </p:txBody>
      </p:sp>
      <p:sp>
        <p:nvSpPr>
          <p:cNvPr id="21" name="Text 19"/>
          <p:cNvSpPr/>
          <p:nvPr/>
        </p:nvSpPr>
        <p:spPr>
          <a:xfrm>
            <a:off x="502920" y="4434840"/>
            <a:ext cx="4023360" cy="274320"/>
          </a:xfrm>
          <a:prstGeom prst="rect">
            <a:avLst/>
          </a:prstGeom>
          <a:noFill/>
          <a:ln/>
        </p:spPr>
        <p:txBody>
          <a:bodyPr wrap="square" lIns="0" tIns="0" rIns="0" bIns="0" rtlCol="0" anchor="ctr"/>
          <a:lstStyle/>
          <a:p>
            <a:pPr marL="0" indent="0">
              <a:buNone/>
            </a:pPr>
            <a:r>
              <a:rPr lang="en-US" sz="1000" i="1" dirty="0">
                <a:solidFill>
                  <a:srgbClr val="6B7C93"/>
                </a:solidFill>
                <a:latin typeface="Calibri" pitchFamily="34" charset="0"/>
                <a:ea typeface="Calibri" pitchFamily="34" charset="-122"/>
                <a:cs typeface="Calibri" pitchFamily="34" charset="-120"/>
              </a:rPr>
              <a:t>Isti blok (h0), ali razlicite runde i faze — to je sasvim normalno.</a:t>
            </a:r>
            <a:endParaRPr lang="en-US" sz="1000" dirty="0"/>
          </a:p>
        </p:txBody>
      </p:sp>
      <p:sp>
        <p:nvSpPr>
          <p:cNvPr id="22" name="Shape 20"/>
          <p:cNvSpPr/>
          <p:nvPr/>
        </p:nvSpPr>
        <p:spPr>
          <a:xfrm>
            <a:off x="4617720" y="1783080"/>
            <a:ext cx="4023360" cy="9144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23" name="Shape 21"/>
          <p:cNvSpPr/>
          <p:nvPr/>
        </p:nvSpPr>
        <p:spPr>
          <a:xfrm>
            <a:off x="4809744" y="1901952"/>
            <a:ext cx="402336" cy="402336"/>
          </a:xfrm>
          <a:prstGeom prst="ellipse">
            <a:avLst/>
          </a:prstGeom>
          <a:solidFill>
            <a:srgbClr val="0E2A47"/>
          </a:solidFill>
          <a:ln/>
          <a:effectLst>
            <a:outerShdw blurRad="88900" dist="25400" dir="5400000" algn="bl" rotWithShape="0">
              <a:srgbClr val="0B1A2E">
                <a:alpha val="16000"/>
              </a:srgbClr>
            </a:outerShdw>
          </a:effectLst>
        </p:spPr>
      </p:sp>
      <p:pic>
        <p:nvPicPr>
          <p:cNvPr id="24" name="Image 0" descr="preencoded.png"/>
          <p:cNvPicPr>
            <a:picLocks noChangeAspect="1"/>
          </p:cNvPicPr>
          <p:nvPr/>
        </p:nvPicPr>
        <p:blipFill>
          <a:blip r:embed="rId3"/>
          <a:stretch>
            <a:fillRect/>
          </a:stretch>
        </p:blipFill>
        <p:spPr>
          <a:xfrm>
            <a:off x="4930445" y="2022653"/>
            <a:ext cx="160934" cy="160934"/>
          </a:xfrm>
          <a:prstGeom prst="rect">
            <a:avLst/>
          </a:prstGeom>
        </p:spPr>
      </p:pic>
      <p:sp>
        <p:nvSpPr>
          <p:cNvPr id="25" name="Text 22"/>
          <p:cNvSpPr/>
          <p:nvPr/>
        </p:nvSpPr>
        <p:spPr>
          <a:xfrm>
            <a:off x="5340096" y="1901952"/>
            <a:ext cx="3154680" cy="36576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Lokalno stanje</a:t>
            </a:r>
            <a:endParaRPr lang="en-US" sz="1300" dirty="0"/>
          </a:p>
        </p:txBody>
      </p:sp>
      <p:sp>
        <p:nvSpPr>
          <p:cNvPr id="26" name="Text 23"/>
          <p:cNvSpPr/>
          <p:nvPr/>
        </p:nvSpPr>
        <p:spPr>
          <a:xfrm>
            <a:off x="4809744" y="2313432"/>
            <a:ext cx="3657600" cy="365760"/>
          </a:xfrm>
          <a:prstGeom prst="rect">
            <a:avLst/>
          </a:prstGeom>
          <a:noFill/>
          <a:ln/>
        </p:spPr>
        <p:txBody>
          <a:bodyPr wrap="square" lIns="0" tIns="0" rIns="0" bIns="0" rtlCol="0" anchor="ctr"/>
          <a:lstStyle/>
          <a:p>
            <a:pPr marL="0" indent="0">
              <a:lnSpc>
                <a:spcPct val="96000"/>
              </a:lnSpc>
              <a:buNone/>
            </a:pPr>
            <a:r>
              <a:rPr lang="en-US" sz="1000" dirty="0">
                <a:solidFill>
                  <a:srgbClr val="44556A"/>
                </a:solidFill>
                <a:latin typeface="Calibri" pitchFamily="34" charset="0"/>
                <a:ea typeface="Calibri" pitchFamily="34" charset="-122"/>
                <a:cs typeface="Calibri" pitchFamily="34" charset="-120"/>
              </a:rPr>
              <a:t>Svaki pamti svoje hp, roundp, stepp; mogu biti u razlicitim rundama i fazama istovremeno.</a:t>
            </a:r>
            <a:endParaRPr lang="en-US" sz="1000" dirty="0"/>
          </a:p>
        </p:txBody>
      </p:sp>
      <p:sp>
        <p:nvSpPr>
          <p:cNvPr id="27" name="Shape 24"/>
          <p:cNvSpPr/>
          <p:nvPr/>
        </p:nvSpPr>
        <p:spPr>
          <a:xfrm>
            <a:off x="4617720" y="2761488"/>
            <a:ext cx="4023360" cy="914400"/>
          </a:xfrm>
          <a:prstGeom prst="roundRect">
            <a:avLst>
              <a:gd name="adj" fmla="val 8000"/>
            </a:avLst>
          </a:prstGeom>
          <a:solidFill>
            <a:srgbClr val="FFFFFF"/>
          </a:solidFill>
          <a:ln/>
          <a:effectLst>
            <a:outerShdw blurRad="114300" dist="38100" dir="5400000" algn="bl" rotWithShape="0">
              <a:srgbClr val="0B1A2E">
                <a:alpha val="13000"/>
              </a:srgbClr>
            </a:outerShdw>
          </a:effectLst>
        </p:spPr>
      </p:sp>
      <p:sp>
        <p:nvSpPr>
          <p:cNvPr id="28" name="Shape 25"/>
          <p:cNvSpPr/>
          <p:nvPr/>
        </p:nvSpPr>
        <p:spPr>
          <a:xfrm>
            <a:off x="4809744" y="2880360"/>
            <a:ext cx="402336" cy="402336"/>
          </a:xfrm>
          <a:prstGeom prst="ellipse">
            <a:avLst/>
          </a:prstGeom>
          <a:solidFill>
            <a:srgbClr val="0E2A47"/>
          </a:solidFill>
          <a:ln/>
          <a:effectLst>
            <a:outerShdw blurRad="88900" dist="25400" dir="5400000" algn="bl" rotWithShape="0">
              <a:srgbClr val="0B1A2E">
                <a:alpha val="16000"/>
              </a:srgbClr>
            </a:outerShdw>
          </a:effectLst>
        </p:spPr>
      </p:sp>
      <p:pic>
        <p:nvPicPr>
          <p:cNvPr id="29" name="Image 1" descr="preencoded.png"/>
          <p:cNvPicPr>
            <a:picLocks noChangeAspect="1"/>
          </p:cNvPicPr>
          <p:nvPr/>
        </p:nvPicPr>
        <p:blipFill>
          <a:blip r:embed="rId4"/>
          <a:stretch>
            <a:fillRect/>
          </a:stretch>
        </p:blipFill>
        <p:spPr>
          <a:xfrm>
            <a:off x="4930445" y="3001061"/>
            <a:ext cx="160934" cy="160934"/>
          </a:xfrm>
          <a:prstGeom prst="rect">
            <a:avLst/>
          </a:prstGeom>
        </p:spPr>
      </p:pic>
      <p:sp>
        <p:nvSpPr>
          <p:cNvPr id="30" name="Text 26"/>
          <p:cNvSpPr/>
          <p:nvPr/>
        </p:nvSpPr>
        <p:spPr>
          <a:xfrm>
            <a:off x="5340096" y="2880360"/>
            <a:ext cx="3154680" cy="36576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Poruke nose kontekst</a:t>
            </a:r>
            <a:endParaRPr lang="en-US" sz="1300" dirty="0"/>
          </a:p>
        </p:txBody>
      </p:sp>
      <p:sp>
        <p:nvSpPr>
          <p:cNvPr id="31" name="Text 27"/>
          <p:cNvSpPr/>
          <p:nvPr/>
        </p:nvSpPr>
        <p:spPr>
          <a:xfrm>
            <a:off x="4809744" y="3291840"/>
            <a:ext cx="3657600" cy="365760"/>
          </a:xfrm>
          <a:prstGeom prst="rect">
            <a:avLst/>
          </a:prstGeom>
          <a:noFill/>
          <a:ln/>
        </p:spPr>
        <p:txBody>
          <a:bodyPr wrap="square" lIns="0" tIns="0" rIns="0" bIns="0" rtlCol="0" anchor="ctr"/>
          <a:lstStyle/>
          <a:p>
            <a:pPr marL="0" indent="0">
              <a:lnSpc>
                <a:spcPct val="96000"/>
              </a:lnSpc>
              <a:buNone/>
            </a:pPr>
            <a:r>
              <a:rPr lang="en-US" sz="1000" dirty="0">
                <a:solidFill>
                  <a:srgbClr val="44556A"/>
                </a:solidFill>
                <a:latin typeface="Calibri" pitchFamily="34" charset="0"/>
                <a:ea typeface="Calibri" pitchFamily="34" charset="-122"/>
                <a:cs typeface="Calibri" pitchFamily="34" charset="-120"/>
              </a:rPr>
              <a:t>Svaka nosi visinu, rundu, tip, vrednost → cvor zna na sta se odnosi; ignorise zastarele.</a:t>
            </a:r>
            <a:endParaRPr lang="en-US" sz="1000" dirty="0"/>
          </a:p>
        </p:txBody>
      </p:sp>
      <p:sp>
        <p:nvSpPr>
          <p:cNvPr id="32" name="Shape 28"/>
          <p:cNvSpPr/>
          <p:nvPr/>
        </p:nvSpPr>
        <p:spPr>
          <a:xfrm>
            <a:off x="4617720" y="3739896"/>
            <a:ext cx="4023360" cy="914400"/>
          </a:xfrm>
          <a:prstGeom prst="roundRect">
            <a:avLst>
              <a:gd name="adj" fmla="val 8000"/>
            </a:avLst>
          </a:prstGeom>
          <a:solidFill>
            <a:srgbClr val="EFFAF8"/>
          </a:solidFill>
          <a:ln/>
          <a:effectLst>
            <a:outerShdw blurRad="114300" dist="38100" dir="5400000" algn="bl" rotWithShape="0">
              <a:srgbClr val="0B1A2E">
                <a:alpha val="13000"/>
              </a:srgbClr>
            </a:outerShdw>
          </a:effectLst>
        </p:spPr>
      </p:sp>
      <p:sp>
        <p:nvSpPr>
          <p:cNvPr id="33" name="Shape 29"/>
          <p:cNvSpPr/>
          <p:nvPr/>
        </p:nvSpPr>
        <p:spPr>
          <a:xfrm>
            <a:off x="4809744" y="3858768"/>
            <a:ext cx="402336" cy="402336"/>
          </a:xfrm>
          <a:prstGeom prst="ellipse">
            <a:avLst/>
          </a:prstGeom>
          <a:solidFill>
            <a:srgbClr val="0D9488"/>
          </a:solidFill>
          <a:ln/>
          <a:effectLst>
            <a:outerShdw blurRad="88900" dist="25400" dir="5400000" algn="bl" rotWithShape="0">
              <a:srgbClr val="0B1A2E">
                <a:alpha val="16000"/>
              </a:srgbClr>
            </a:outerShdw>
          </a:effectLst>
        </p:spPr>
      </p:sp>
      <p:pic>
        <p:nvPicPr>
          <p:cNvPr id="34" name="Image 2" descr="preencoded.png"/>
          <p:cNvPicPr>
            <a:picLocks noChangeAspect="1"/>
          </p:cNvPicPr>
          <p:nvPr/>
        </p:nvPicPr>
        <p:blipFill>
          <a:blip r:embed="rId5"/>
          <a:stretch>
            <a:fillRect/>
          </a:stretch>
        </p:blipFill>
        <p:spPr>
          <a:xfrm>
            <a:off x="4930445" y="3979469"/>
            <a:ext cx="160934" cy="160934"/>
          </a:xfrm>
          <a:prstGeom prst="rect">
            <a:avLst/>
          </a:prstGeom>
        </p:spPr>
      </p:pic>
      <p:sp>
        <p:nvSpPr>
          <p:cNvPr id="35" name="Text 30"/>
          <p:cNvSpPr/>
          <p:nvPr/>
        </p:nvSpPr>
        <p:spPr>
          <a:xfrm>
            <a:off x="5340096" y="3858768"/>
            <a:ext cx="3154680" cy="365760"/>
          </a:xfrm>
          <a:prstGeom prst="rect">
            <a:avLst/>
          </a:prstGeom>
          <a:noFill/>
          <a:ln/>
        </p:spPr>
        <p:txBody>
          <a:bodyPr wrap="square" lIns="0" tIns="0" rIns="0" bIns="0" rtlCol="0" anchor="ctr"/>
          <a:lstStyle/>
          <a:p>
            <a:pPr marL="0" indent="0">
              <a:buNone/>
            </a:pPr>
            <a:r>
              <a:rPr lang="en-US" sz="1300" b="1" dirty="0">
                <a:solidFill>
                  <a:srgbClr val="0E2138"/>
                </a:solidFill>
                <a:latin typeface="Cambria" pitchFamily="34" charset="0"/>
                <a:ea typeface="Cambria" pitchFamily="34" charset="-122"/>
                <a:cs typeface="Cambria" pitchFamily="34" charset="-120"/>
              </a:rPr>
              <a:t>f + 1 sustize zaostale</a:t>
            </a:r>
            <a:endParaRPr lang="en-US" sz="1300" dirty="0"/>
          </a:p>
        </p:txBody>
      </p:sp>
      <p:sp>
        <p:nvSpPr>
          <p:cNvPr id="36" name="Text 31"/>
          <p:cNvSpPr/>
          <p:nvPr/>
        </p:nvSpPr>
        <p:spPr>
          <a:xfrm>
            <a:off x="4809744" y="4270248"/>
            <a:ext cx="3657600" cy="365760"/>
          </a:xfrm>
          <a:prstGeom prst="rect">
            <a:avLst/>
          </a:prstGeom>
          <a:noFill/>
          <a:ln/>
        </p:spPr>
        <p:txBody>
          <a:bodyPr wrap="square" lIns="0" tIns="0" rIns="0" bIns="0" rtlCol="0" anchor="ctr"/>
          <a:lstStyle/>
          <a:p>
            <a:pPr marL="0" indent="0">
              <a:lnSpc>
                <a:spcPct val="96000"/>
              </a:lnSpc>
              <a:buNone/>
            </a:pPr>
            <a:r>
              <a:rPr lang="en-US" sz="1000" dirty="0">
                <a:solidFill>
                  <a:srgbClr val="44556A"/>
                </a:solidFill>
                <a:latin typeface="Calibri" pitchFamily="34" charset="0"/>
                <a:ea typeface="Calibri" pitchFamily="34" charset="-122"/>
                <a:cs typeface="Calibri" pitchFamily="34" charset="-120"/>
              </a:rPr>
              <a:t>Vidi f+1 poruka iz VISE runde → skoci u nju; bar 1 posten je vec tamo (n=4: f+1=2).</a:t>
            </a:r>
            <a:endParaRPr lang="en-US" sz="1000" dirty="0"/>
          </a:p>
        </p:txBody>
      </p:sp>
      <p:sp>
        <p:nvSpPr>
          <p:cNvPr id="38" name="Text 32"/>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9</a:t>
            </a:r>
            <a:endParaRPr lang="en-US" sz="900" dirty="0"/>
          </a:p>
        </p:txBody>
      </p:sp>
      <p:sp>
        <p:nvSpPr>
          <p:cNvPr id="39" name="Text 33"/>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Ideja algoritma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Stanje procesa: dve vrste pamcenja</a:t>
            </a:r>
            <a:endParaRPr lang="en-US" sz="3000" dirty="0"/>
          </a:p>
        </p:txBody>
      </p:sp>
      <p:sp>
        <p:nvSpPr>
          <p:cNvPr id="4" name="Shape 2"/>
          <p:cNvSpPr/>
          <p:nvPr/>
        </p:nvSpPr>
        <p:spPr>
          <a:xfrm>
            <a:off x="502920" y="1554480"/>
            <a:ext cx="8138160" cy="868680"/>
          </a:xfrm>
          <a:prstGeom prst="roundRect">
            <a:avLst>
              <a:gd name="adj" fmla="val 10526"/>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627632"/>
            <a:ext cx="7680960" cy="731520"/>
          </a:xfrm>
          <a:prstGeom prst="rect">
            <a:avLst/>
          </a:prstGeom>
          <a:noFill/>
          <a:ln/>
        </p:spPr>
        <p:txBody>
          <a:bodyPr wrap="square" lIns="0" tIns="0" rIns="0" bIns="0" rtlCol="0" anchor="ctr"/>
          <a:lstStyle/>
          <a:p>
            <a:pPr marL="0" indent="0">
              <a:lnSpc>
                <a:spcPct val="100000"/>
              </a:lnSpc>
              <a:buNone/>
            </a:pPr>
            <a:r>
              <a:rPr lang="en-US" sz="1200" b="1" dirty="0">
                <a:solidFill>
                  <a:srgbClr val="5EEAD4"/>
                </a:solidFill>
                <a:latin typeface="Courier New" pitchFamily="34" charset="0"/>
                <a:ea typeface="Courier New" pitchFamily="34" charset="-122"/>
                <a:cs typeface="Courier New" pitchFamily="34" charset="-120"/>
              </a:rPr>
              <a:t>Stanje procesa p:   </a:t>
            </a:r>
            <a:r>
              <a:rPr lang="en-US" sz="1200" dirty="0">
                <a:solidFill>
                  <a:srgbClr val="FFFFFF"/>
                </a:solidFill>
                <a:latin typeface="Courier New" pitchFamily="34" charset="0"/>
                <a:ea typeface="Courier New" pitchFamily="34" charset="-122"/>
                <a:cs typeface="Courier New" pitchFamily="34" charset="-120"/>
              </a:rPr>
              <a:t>hp (visina) · roundp (runda) · stepp ∈ {propose, prevote, precommit} · decisionp[ ]</a:t>
            </a:r>
            <a:endParaRPr lang="en-US" sz="1200" dirty="0"/>
          </a:p>
        </p:txBody>
      </p:sp>
      <p:sp>
        <p:nvSpPr>
          <p:cNvPr id="6" name="Shape 4"/>
          <p:cNvSpPr/>
          <p:nvPr/>
        </p:nvSpPr>
        <p:spPr>
          <a:xfrm>
            <a:off x="502920" y="2606040"/>
            <a:ext cx="3977640" cy="2057400"/>
          </a:xfrm>
          <a:prstGeom prst="roundRect">
            <a:avLst>
              <a:gd name="adj" fmla="val 4444"/>
            </a:avLst>
          </a:prstGeom>
          <a:solidFill>
            <a:srgbClr val="FFFFFF"/>
          </a:solidFill>
          <a:ln/>
          <a:effectLst>
            <a:outerShdw blurRad="114300" dist="38100" dir="5400000" algn="bl" rotWithShape="0">
              <a:srgbClr val="0B1A2E">
                <a:alpha val="13000"/>
              </a:srgbClr>
            </a:outerShdw>
          </a:effectLst>
        </p:spPr>
      </p:sp>
      <p:sp>
        <p:nvSpPr>
          <p:cNvPr id="7" name="Shape 5"/>
          <p:cNvSpPr/>
          <p:nvPr/>
        </p:nvSpPr>
        <p:spPr>
          <a:xfrm>
            <a:off x="731520" y="2816352"/>
            <a:ext cx="548640" cy="548640"/>
          </a:xfrm>
          <a:prstGeom prst="ellipse">
            <a:avLst/>
          </a:prstGeom>
          <a:solidFill>
            <a:srgbClr val="0E2A47"/>
          </a:solidFill>
          <a:ln/>
          <a:effectLst>
            <a:outerShdw blurRad="88900" dist="25400" dir="5400000" algn="bl" rotWithShape="0">
              <a:srgbClr val="0B1A2E">
                <a:alpha val="16000"/>
              </a:srgbClr>
            </a:outerShdw>
          </a:effectLst>
        </p:spPr>
      </p:sp>
      <p:pic>
        <p:nvPicPr>
          <p:cNvPr id="8" name="Image 0" descr="preencoded.png"/>
          <p:cNvPicPr>
            <a:picLocks noChangeAspect="1"/>
          </p:cNvPicPr>
          <p:nvPr/>
        </p:nvPicPr>
        <p:blipFill>
          <a:blip r:embed="rId3"/>
          <a:stretch>
            <a:fillRect/>
          </a:stretch>
        </p:blipFill>
        <p:spPr>
          <a:xfrm>
            <a:off x="868680" y="2953512"/>
            <a:ext cx="274320" cy="274320"/>
          </a:xfrm>
          <a:prstGeom prst="rect">
            <a:avLst/>
          </a:prstGeom>
        </p:spPr>
      </p:pic>
      <p:sp>
        <p:nvSpPr>
          <p:cNvPr id="9" name="Text 6"/>
          <p:cNvSpPr/>
          <p:nvPr/>
        </p:nvSpPr>
        <p:spPr>
          <a:xfrm>
            <a:off x="1417320" y="2834640"/>
            <a:ext cx="2926080" cy="50292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lockedValue / lockedRound</a:t>
            </a:r>
            <a:endParaRPr lang="en-US" sz="1400" dirty="0"/>
          </a:p>
        </p:txBody>
      </p:sp>
      <p:sp>
        <p:nvSpPr>
          <p:cNvPr id="10" name="Shape 7"/>
          <p:cNvSpPr/>
          <p:nvPr/>
        </p:nvSpPr>
        <p:spPr>
          <a:xfrm>
            <a:off x="731520" y="3429000"/>
            <a:ext cx="1371600" cy="310896"/>
          </a:xfrm>
          <a:prstGeom prst="roundRect">
            <a:avLst>
              <a:gd name="adj" fmla="val 50000"/>
            </a:avLst>
          </a:prstGeom>
          <a:solidFill>
            <a:srgbClr val="EAF1F8"/>
          </a:solidFill>
          <a:ln/>
        </p:spPr>
      </p:sp>
      <p:sp>
        <p:nvSpPr>
          <p:cNvPr id="11" name="Text 8"/>
          <p:cNvSpPr/>
          <p:nvPr/>
        </p:nvSpPr>
        <p:spPr>
          <a:xfrm>
            <a:off x="731520" y="3419856"/>
            <a:ext cx="1371600" cy="329184"/>
          </a:xfrm>
          <a:prstGeom prst="rect">
            <a:avLst/>
          </a:prstGeom>
          <a:noFill/>
          <a:ln/>
        </p:spPr>
        <p:txBody>
          <a:bodyPr wrap="square" lIns="0" tIns="0" rIns="0" bIns="0" rtlCol="0" anchor="ctr"/>
          <a:lstStyle/>
          <a:p>
            <a:pPr marL="0" indent="0" algn="ctr">
              <a:buNone/>
            </a:pPr>
            <a:r>
              <a:rPr lang="en-US" sz="1000" b="1" dirty="0">
                <a:solidFill>
                  <a:srgbClr val="1E466E"/>
                </a:solidFill>
                <a:latin typeface="Calibri" pitchFamily="34" charset="0"/>
                <a:ea typeface="Calibri" pitchFamily="34" charset="-122"/>
                <a:cs typeface="Calibri" pitchFamily="34" charset="-120"/>
              </a:rPr>
              <a:t>SAFETY</a:t>
            </a:r>
            <a:endParaRPr lang="en-US" sz="1000" dirty="0"/>
          </a:p>
        </p:txBody>
      </p:sp>
      <p:sp>
        <p:nvSpPr>
          <p:cNvPr id="12" name="Text 9"/>
          <p:cNvSpPr/>
          <p:nvPr/>
        </p:nvSpPr>
        <p:spPr>
          <a:xfrm>
            <a:off x="731520" y="3840480"/>
            <a:ext cx="3611880" cy="777240"/>
          </a:xfrm>
          <a:prstGeom prst="rect">
            <a:avLst/>
          </a:prstGeom>
          <a:noFill/>
          <a:ln/>
        </p:spPr>
        <p:txBody>
          <a:bodyPr wrap="square" lIns="0" tIns="0" rIns="0" bIns="0" rtlCol="0" anchor="ctr"/>
          <a:lstStyle/>
          <a:p>
            <a:pPr marL="0" indent="0">
              <a:lnSpc>
                <a:spcPct val="100000"/>
              </a:lnSpc>
              <a:buNone/>
            </a:pPr>
            <a:r>
              <a:rPr lang="en-US" sz="1100" dirty="0">
                <a:solidFill>
                  <a:srgbClr val="44556A"/>
                </a:solidFill>
                <a:latin typeface="Calibri" pitchFamily="34" charset="0"/>
                <a:ea typeface="Calibri" pitchFamily="34" charset="-122"/>
                <a:cs typeface="Calibri" pitchFamily="34" charset="-120"/>
              </a:rPr>
              <a:t>Vrednost na koju se cvor licno zaklucao jer je poslao PRECOMMIT za nju. Nece glasati za drugu vrednost dok ne dobije bezbedan dokaz — stiti safety.</a:t>
            </a:r>
            <a:endParaRPr lang="en-US" sz="1100" dirty="0"/>
          </a:p>
        </p:txBody>
      </p:sp>
      <p:sp>
        <p:nvSpPr>
          <p:cNvPr id="13" name="Shape 10"/>
          <p:cNvSpPr/>
          <p:nvPr/>
        </p:nvSpPr>
        <p:spPr>
          <a:xfrm>
            <a:off x="4663440" y="2606040"/>
            <a:ext cx="3977640" cy="2057400"/>
          </a:xfrm>
          <a:prstGeom prst="roundRect">
            <a:avLst>
              <a:gd name="adj" fmla="val 4444"/>
            </a:avLst>
          </a:prstGeom>
          <a:solidFill>
            <a:srgbClr val="FFFFFF"/>
          </a:solidFill>
          <a:ln/>
          <a:effectLst>
            <a:outerShdw blurRad="114300" dist="38100" dir="5400000" algn="bl" rotWithShape="0">
              <a:srgbClr val="0B1A2E">
                <a:alpha val="13000"/>
              </a:srgbClr>
            </a:outerShdw>
          </a:effectLst>
        </p:spPr>
      </p:sp>
      <p:sp>
        <p:nvSpPr>
          <p:cNvPr id="14" name="Shape 11"/>
          <p:cNvSpPr/>
          <p:nvPr/>
        </p:nvSpPr>
        <p:spPr>
          <a:xfrm>
            <a:off x="4892040" y="2816352"/>
            <a:ext cx="548640" cy="548640"/>
          </a:xfrm>
          <a:prstGeom prst="ellipse">
            <a:avLst/>
          </a:prstGeom>
          <a:solidFill>
            <a:srgbClr val="C9772A"/>
          </a:solidFill>
          <a:ln/>
          <a:effectLst>
            <a:outerShdw blurRad="88900" dist="25400" dir="5400000" algn="bl" rotWithShape="0">
              <a:srgbClr val="0B1A2E">
                <a:alpha val="16000"/>
              </a:srgbClr>
            </a:outerShdw>
          </a:effectLst>
        </p:spPr>
      </p:sp>
      <p:pic>
        <p:nvPicPr>
          <p:cNvPr id="15" name="Image 1" descr="preencoded.png"/>
          <p:cNvPicPr>
            <a:picLocks noChangeAspect="1"/>
          </p:cNvPicPr>
          <p:nvPr/>
        </p:nvPicPr>
        <p:blipFill>
          <a:blip r:embed="rId4"/>
          <a:stretch>
            <a:fillRect/>
          </a:stretch>
        </p:blipFill>
        <p:spPr>
          <a:xfrm>
            <a:off x="5029200" y="2953512"/>
            <a:ext cx="274320" cy="274320"/>
          </a:xfrm>
          <a:prstGeom prst="rect">
            <a:avLst/>
          </a:prstGeom>
        </p:spPr>
      </p:pic>
      <p:sp>
        <p:nvSpPr>
          <p:cNvPr id="16" name="Text 12"/>
          <p:cNvSpPr/>
          <p:nvPr/>
        </p:nvSpPr>
        <p:spPr>
          <a:xfrm>
            <a:off x="5577840" y="2834640"/>
            <a:ext cx="2926080" cy="50292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validValue / validRound</a:t>
            </a:r>
            <a:endParaRPr lang="en-US" sz="1400" dirty="0"/>
          </a:p>
        </p:txBody>
      </p:sp>
      <p:sp>
        <p:nvSpPr>
          <p:cNvPr id="17" name="Shape 13"/>
          <p:cNvSpPr/>
          <p:nvPr/>
        </p:nvSpPr>
        <p:spPr>
          <a:xfrm>
            <a:off x="4892040" y="3429000"/>
            <a:ext cx="1371600" cy="310896"/>
          </a:xfrm>
          <a:prstGeom prst="roundRect">
            <a:avLst>
              <a:gd name="adj" fmla="val 50000"/>
            </a:avLst>
          </a:prstGeom>
          <a:solidFill>
            <a:srgbClr val="FBEEDD"/>
          </a:solidFill>
          <a:ln/>
        </p:spPr>
      </p:sp>
      <p:sp>
        <p:nvSpPr>
          <p:cNvPr id="18" name="Text 14"/>
          <p:cNvSpPr/>
          <p:nvPr/>
        </p:nvSpPr>
        <p:spPr>
          <a:xfrm>
            <a:off x="4892040" y="3419856"/>
            <a:ext cx="1371600" cy="329184"/>
          </a:xfrm>
          <a:prstGeom prst="rect">
            <a:avLst/>
          </a:prstGeom>
          <a:noFill/>
          <a:ln/>
        </p:spPr>
        <p:txBody>
          <a:bodyPr wrap="square" lIns="0" tIns="0" rIns="0" bIns="0" rtlCol="0" anchor="ctr"/>
          <a:lstStyle/>
          <a:p>
            <a:pPr marL="0" indent="0" algn="ctr">
              <a:buNone/>
            </a:pPr>
            <a:r>
              <a:rPr lang="en-US" sz="1000" b="1" dirty="0">
                <a:solidFill>
                  <a:srgbClr val="C9772A"/>
                </a:solidFill>
                <a:latin typeface="Calibri" pitchFamily="34" charset="0"/>
                <a:ea typeface="Calibri" pitchFamily="34" charset="-122"/>
                <a:cs typeface="Calibri" pitchFamily="34" charset="-120"/>
              </a:rPr>
              <a:t>LIVENESS</a:t>
            </a:r>
            <a:endParaRPr lang="en-US" sz="1000" dirty="0"/>
          </a:p>
        </p:txBody>
      </p:sp>
      <p:sp>
        <p:nvSpPr>
          <p:cNvPr id="19" name="Text 15"/>
          <p:cNvSpPr/>
          <p:nvPr/>
        </p:nvSpPr>
        <p:spPr>
          <a:xfrm>
            <a:off x="4892040" y="3840480"/>
            <a:ext cx="3611880" cy="777240"/>
          </a:xfrm>
          <a:prstGeom prst="rect">
            <a:avLst/>
          </a:prstGeom>
          <a:noFill/>
          <a:ln/>
        </p:spPr>
        <p:txBody>
          <a:bodyPr wrap="square" lIns="0" tIns="0" rIns="0" bIns="0" rtlCol="0" anchor="ctr"/>
          <a:lstStyle/>
          <a:p>
            <a:pPr marL="0" indent="0">
              <a:lnSpc>
                <a:spcPct val="100000"/>
              </a:lnSpc>
              <a:buNone/>
            </a:pPr>
            <a:r>
              <a:rPr lang="en-US" sz="1100" dirty="0">
                <a:solidFill>
                  <a:srgbClr val="44556A"/>
                </a:solidFill>
                <a:latin typeface="Calibri" pitchFamily="34" charset="0"/>
                <a:ea typeface="Calibri" pitchFamily="34" charset="-122"/>
                <a:cs typeface="Calibri" pitchFamily="34" charset="-120"/>
              </a:rPr>
              <a:t>Najnovija vrednost za koju cvor zna da je imala 2f+1 PREVOTE glasova — nije jos odlucena, ali je ozbiljan kandidat. Proposer je predlaze u novoj rundi → sistem napreduje bez zapinjanja.</a:t>
            </a:r>
            <a:endParaRPr lang="en-US" sz="1100" dirty="0"/>
          </a:p>
        </p:txBody>
      </p:sp>
      <p:sp>
        <p:nvSpPr>
          <p:cNvPr id="21" name="Text 16"/>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11</a:t>
            </a:r>
            <a:endParaRPr lang="en-US" sz="900" dirty="0"/>
          </a:p>
        </p:txBody>
      </p:sp>
      <p:sp>
        <p:nvSpPr>
          <p:cNvPr id="22" name="Text 17"/>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(A) Stanje i pokretanje runde</a:t>
            </a:r>
            <a:endParaRPr lang="en-US" sz="3000" dirty="0"/>
          </a:p>
        </p:txBody>
      </p:sp>
      <p:sp>
        <p:nvSpPr>
          <p:cNvPr id="4" name="Shape 2"/>
          <p:cNvSpPr/>
          <p:nvPr/>
        </p:nvSpPr>
        <p:spPr>
          <a:xfrm>
            <a:off x="502920" y="1481328"/>
            <a:ext cx="5440680" cy="3246120"/>
          </a:xfrm>
          <a:prstGeom prst="roundRect">
            <a:avLst>
              <a:gd name="adj" fmla="val 2817"/>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581912"/>
            <a:ext cx="5029200" cy="274320"/>
          </a:xfrm>
          <a:prstGeom prst="rect">
            <a:avLst/>
          </a:prstGeom>
          <a:noFill/>
          <a:ln/>
        </p:spPr>
        <p:txBody>
          <a:bodyPr wrap="square" lIns="0" tIns="0" rIns="0" bIns="0" rtlCol="0" anchor="ctr"/>
          <a:lstStyle/>
          <a:p>
            <a:pPr marL="0" indent="0">
              <a:buNone/>
            </a:pPr>
            <a:r>
              <a:rPr lang="en-US" sz="1000" b="1" kern="0" spc="100" dirty="0">
                <a:solidFill>
                  <a:srgbClr val="5EEAD4"/>
                </a:solidFill>
                <a:latin typeface="Calibri" pitchFamily="34" charset="0"/>
                <a:ea typeface="Calibri" pitchFamily="34" charset="-122"/>
                <a:cs typeface="Calibri" pitchFamily="34" charset="-120"/>
              </a:rPr>
              <a:t>Algoritam 1 — promenljive + StartRound</a:t>
            </a:r>
            <a:endParaRPr lang="en-US" sz="1000" dirty="0"/>
          </a:p>
        </p:txBody>
      </p:sp>
      <p:sp>
        <p:nvSpPr>
          <p:cNvPr id="6" name="Text 4"/>
          <p:cNvSpPr/>
          <p:nvPr/>
        </p:nvSpPr>
        <p:spPr>
          <a:xfrm>
            <a:off x="731520" y="1819656"/>
            <a:ext cx="5074920" cy="2926080"/>
          </a:xfrm>
          <a:prstGeom prst="rect">
            <a:avLst/>
          </a:prstGeom>
          <a:noFill/>
          <a:ln/>
        </p:spPr>
        <p:txBody>
          <a:bodyPr wrap="square" lIns="0" tIns="0" rIns="0" bIns="0" rtlCol="0" anchor="t"/>
          <a:lstStyle/>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stanje procesa p</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hp=0   roundp=0   stepp=propose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lockedValue=nil   lockedRound=-1</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validValue=nil    validRound=-1</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start:  StartRound(0)</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Function StartRound(round):</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roundp &lt;- round;  stepp &lt;- propose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proposer(hp, round) = p then</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validValue != nil then</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proposal &lt;- validValue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else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proposal &lt;- getValue()</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broadcast PROPOSAL(.., proposal, validRound)</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else</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schedule timeoutPropose(round)</a:t>
            </a:r>
            <a:endParaRPr lang="en-US" sz="900" dirty="0"/>
          </a:p>
        </p:txBody>
      </p:sp>
      <p:sp>
        <p:nvSpPr>
          <p:cNvPr id="7" name="Shape 5"/>
          <p:cNvSpPr/>
          <p:nvPr/>
        </p:nvSpPr>
        <p:spPr>
          <a:xfrm>
            <a:off x="6053328" y="1481328"/>
            <a:ext cx="2587752" cy="3246120"/>
          </a:xfrm>
          <a:prstGeom prst="roundRect">
            <a:avLst>
              <a:gd name="adj" fmla="val 3534"/>
            </a:avLst>
          </a:prstGeom>
          <a:solidFill>
            <a:srgbClr val="FFFFFF"/>
          </a:solidFill>
          <a:ln/>
          <a:effectLst>
            <a:outerShdw blurRad="114300" dist="38100" dir="5400000" algn="bl" rotWithShape="0">
              <a:srgbClr val="0B1A2E">
                <a:alpha val="13000"/>
              </a:srgbClr>
            </a:outerShdw>
          </a:effectLst>
        </p:spPr>
      </p:sp>
      <p:sp>
        <p:nvSpPr>
          <p:cNvPr id="8" name="Text 6"/>
          <p:cNvSpPr/>
          <p:nvPr/>
        </p:nvSpPr>
        <p:spPr>
          <a:xfrm>
            <a:off x="6254496" y="1645920"/>
            <a:ext cx="2194560" cy="32004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Sta radi</a:t>
            </a:r>
            <a:endParaRPr lang="en-US" sz="1400" dirty="0"/>
          </a:p>
        </p:txBody>
      </p:sp>
      <p:sp>
        <p:nvSpPr>
          <p:cNvPr id="9" name="Text 7"/>
          <p:cNvSpPr/>
          <p:nvPr/>
        </p:nvSpPr>
        <p:spPr>
          <a:xfrm>
            <a:off x="6254496" y="2029968"/>
            <a:ext cx="2240280" cy="2606040"/>
          </a:xfrm>
          <a:prstGeom prst="rect">
            <a:avLst/>
          </a:prstGeom>
          <a:noFill/>
          <a:ln/>
        </p:spPr>
        <p:txBody>
          <a:bodyPr wrap="square" lIns="0" tIns="0" rIns="0" bIns="0" rtlCol="0" anchor="ctr"/>
          <a:lstStyle/>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Ulazak u rundu: cvor postavlja step = propose i proverava da li je on proposer.</a:t>
            </a:r>
            <a:endParaRPr lang="en-US" sz="1070" dirty="0"/>
          </a:p>
          <a:p>
            <a:pPr>
              <a:lnSpc>
                <a:spcPct val="105000"/>
              </a:lnSpc>
              <a:spcAft>
                <a:spcPts val="700"/>
              </a:spcAft>
            </a:pPr>
            <a:r>
              <a:rPr lang="en-US" sz="1070" dirty="0">
                <a:solidFill>
                  <a:srgbClr val="44556A"/>
                </a:solidFill>
                <a:latin typeface="Calibri" pitchFamily="34" charset="0"/>
                <a:ea typeface="Calibri" pitchFamily="34" charset="-122"/>
                <a:cs typeface="Calibri" pitchFamily="34" charset="-120"/>
              </a:rPr>
              <a:t>•  Proposer ima validValue → predlaze nju (ranije vec imala 2f+1 PREVOTE podrsku, bezbednija je).</a:t>
            </a:r>
            <a:r>
              <a:rPr lang="en-US" sz="1100" dirty="0"/>
              <a:t> </a:t>
            </a:r>
            <a:r>
              <a:rPr lang="en-US" sz="1100" dirty="0" err="1"/>
              <a:t>Predlagac</a:t>
            </a:r>
            <a:r>
              <a:rPr lang="en-US" sz="1100" dirty="0"/>
              <a:t> ne </a:t>
            </a:r>
            <a:r>
              <a:rPr lang="en-US" sz="1100" dirty="0" err="1"/>
              <a:t>sme</a:t>
            </a:r>
            <a:r>
              <a:rPr lang="en-US" sz="1100" dirty="0"/>
              <a:t> da </a:t>
            </a:r>
            <a:r>
              <a:rPr lang="en-US" sz="1100" dirty="0" err="1"/>
              <a:t>zaboravi</a:t>
            </a:r>
            <a:r>
              <a:rPr lang="en-US" sz="1100" dirty="0"/>
              <a:t> </a:t>
            </a:r>
            <a:r>
              <a:rPr lang="en-US" sz="1100" dirty="0" err="1"/>
              <a:t>vrednost</a:t>
            </a:r>
            <a:r>
              <a:rPr lang="en-US" sz="1100" dirty="0"/>
              <a:t> </a:t>
            </a:r>
            <a:r>
              <a:rPr lang="en-US" sz="1100" dirty="0" err="1"/>
              <a:t>koju</a:t>
            </a:r>
            <a:r>
              <a:rPr lang="en-US" sz="1100" dirty="0"/>
              <a:t> </a:t>
            </a:r>
            <a:r>
              <a:rPr lang="en-US" sz="1100" dirty="0" err="1"/>
              <a:t>su</a:t>
            </a:r>
            <a:r>
              <a:rPr lang="en-US" sz="1100" dirty="0"/>
              <a:t> </a:t>
            </a:r>
            <a:r>
              <a:rPr lang="en-US" sz="1100" dirty="0" err="1"/>
              <a:t>drugi</a:t>
            </a:r>
            <a:r>
              <a:rPr lang="en-US" sz="1100" dirty="0"/>
              <a:t> </a:t>
            </a:r>
            <a:r>
              <a:rPr lang="en-US" sz="1100" dirty="0" err="1"/>
              <a:t>mozda</a:t>
            </a:r>
            <a:r>
              <a:rPr lang="en-US" sz="1100" dirty="0"/>
              <a:t> </a:t>
            </a:r>
            <a:r>
              <a:rPr lang="en-US" sz="1100" dirty="0" err="1"/>
              <a:t>zakljucali</a:t>
            </a:r>
            <a:r>
              <a:rPr lang="en-US" sz="1100" dirty="0"/>
              <a:t>'.</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Proposer nema validValue → poziva getValue() i predlaze novu vrednost (novi blok).</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Nije proposer → pokrece timeoutPropose i ceka PROPOSAL.</a:t>
            </a:r>
            <a:endParaRPr lang="en-US" sz="1070" dirty="0"/>
          </a:p>
        </p:txBody>
      </p:sp>
      <p:sp>
        <p:nvSpPr>
          <p:cNvPr id="11" name="Text 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12</a:t>
            </a:r>
            <a:endParaRPr lang="en-US" sz="900" dirty="0"/>
          </a:p>
        </p:txBody>
      </p:sp>
      <p:sp>
        <p:nvSpPr>
          <p:cNvPr id="12" name="Text 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(B) Reakcija na PROPOSAL — glasanje</a:t>
            </a:r>
            <a:endParaRPr lang="en-US" sz="3000" dirty="0"/>
          </a:p>
        </p:txBody>
      </p:sp>
      <p:sp>
        <p:nvSpPr>
          <p:cNvPr id="4" name="Shape 2"/>
          <p:cNvSpPr/>
          <p:nvPr/>
        </p:nvSpPr>
        <p:spPr>
          <a:xfrm>
            <a:off x="502920" y="1481328"/>
            <a:ext cx="5440680" cy="3246120"/>
          </a:xfrm>
          <a:prstGeom prst="roundRect">
            <a:avLst>
              <a:gd name="adj" fmla="val 2817"/>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581912"/>
            <a:ext cx="5029200" cy="274320"/>
          </a:xfrm>
          <a:prstGeom prst="rect">
            <a:avLst/>
          </a:prstGeom>
          <a:noFill/>
          <a:ln/>
        </p:spPr>
        <p:txBody>
          <a:bodyPr wrap="square" lIns="0" tIns="0" rIns="0" bIns="0" rtlCol="0" anchor="ctr"/>
          <a:lstStyle/>
          <a:p>
            <a:pPr marL="0" indent="0">
              <a:buNone/>
            </a:pPr>
            <a:r>
              <a:rPr lang="en-US" sz="1000" b="1" kern="0" spc="100" dirty="0">
                <a:solidFill>
                  <a:srgbClr val="5EEAD4"/>
                </a:solidFill>
                <a:latin typeface="Calibri" pitchFamily="34" charset="0"/>
                <a:ea typeface="Calibri" pitchFamily="34" charset="-122"/>
                <a:cs typeface="Calibri" pitchFamily="34" charset="-120"/>
              </a:rPr>
              <a:t>Algoritam 1 — dva pravila za PREVOTE</a:t>
            </a:r>
            <a:endParaRPr lang="en-US" sz="1000" dirty="0"/>
          </a:p>
        </p:txBody>
      </p:sp>
      <p:sp>
        <p:nvSpPr>
          <p:cNvPr id="6" name="Text 4"/>
          <p:cNvSpPr/>
          <p:nvPr/>
        </p:nvSpPr>
        <p:spPr>
          <a:xfrm>
            <a:off x="731520" y="1819656"/>
            <a:ext cx="5074920" cy="2926080"/>
          </a:xfrm>
          <a:prstGeom prst="rect">
            <a:avLst/>
          </a:prstGeom>
          <a:noFill/>
          <a:ln/>
        </p:spPr>
        <p:txBody>
          <a:bodyPr wrap="square" lIns="0" tIns="0" rIns="0" bIns="0" rtlCol="0" anchor="t"/>
          <a:lstStyle/>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(B1) svez predlog: </a:t>
            </a:r>
            <a:r>
              <a:rPr lang="en-US" sz="900" dirty="0" err="1">
                <a:solidFill>
                  <a:srgbClr val="86A6C7"/>
                </a:solidFill>
                <a:latin typeface="Courier New" pitchFamily="34" charset="0"/>
                <a:ea typeface="Courier New" pitchFamily="34" charset="-122"/>
                <a:cs typeface="Courier New" pitchFamily="34" charset="-120"/>
              </a:rPr>
              <a:t>validRound</a:t>
            </a:r>
            <a:r>
              <a:rPr lang="en-US" sz="900" dirty="0">
                <a:solidFill>
                  <a:srgbClr val="86A6C7"/>
                </a:solidFill>
                <a:latin typeface="Courier New" pitchFamily="34" charset="0"/>
                <a:ea typeface="Courier New" pitchFamily="34" charset="-122"/>
                <a:cs typeface="Courier New" pitchFamily="34" charset="-120"/>
              </a:rPr>
              <a:t> = -1</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PROPOSAL(.., v, -1) from proposer</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stepp = propose: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valid(v) and</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(lockedRound=-1 or lockedValue=v):</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broadcast PREVOTE(.., id(v))</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else broadcast PREVOTE(.., nil)</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stepp &lt;- prevote</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(B2) re-predlog + dokaz: vr &gt;= 0</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PROPOSAL(.., v, </a:t>
            </a:r>
            <a:r>
              <a:rPr lang="en-US" sz="900" dirty="0" err="1">
                <a:solidFill>
                  <a:srgbClr val="5EEAD4"/>
                </a:solidFill>
                <a:latin typeface="Courier New" pitchFamily="34" charset="0"/>
                <a:ea typeface="Courier New" pitchFamily="34" charset="-122"/>
                <a:cs typeface="Courier New" pitchFamily="34" charset="-120"/>
              </a:rPr>
              <a:t>validRound</a:t>
            </a:r>
            <a:r>
              <a:rPr lang="en-US" sz="900" dirty="0">
                <a:solidFill>
                  <a:srgbClr val="5EEAD4"/>
                </a:solidFill>
                <a:latin typeface="Courier New" pitchFamily="34" charset="0"/>
                <a:ea typeface="Courier New" pitchFamily="34" charset="-122"/>
                <a:cs typeface="Courier New" pitchFamily="34" charset="-120"/>
              </a:rPr>
              <a:t>) from proposer</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and 2f+1 PREVOTE(.., </a:t>
            </a:r>
            <a:r>
              <a:rPr lang="en-US" sz="900" dirty="0" err="1">
                <a:solidFill>
                  <a:srgbClr val="5EEAD4"/>
                </a:solidFill>
                <a:latin typeface="Courier New" pitchFamily="34" charset="0"/>
                <a:ea typeface="Courier New" pitchFamily="34" charset="-122"/>
                <a:cs typeface="Courier New" pitchFamily="34" charset="-120"/>
              </a:rPr>
              <a:t>validRound</a:t>
            </a:r>
            <a:r>
              <a:rPr lang="en-US" sz="900" dirty="0">
                <a:solidFill>
                  <a:srgbClr val="5EEAD4"/>
                </a:solidFill>
                <a:latin typeface="Courier New" pitchFamily="34" charset="0"/>
                <a:ea typeface="Courier New" pitchFamily="34" charset="-122"/>
                <a:cs typeface="Courier New" pitchFamily="34" charset="-120"/>
              </a:rPr>
              <a:t>, id(v))</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stepp=propose and 0&lt;=vr&lt;roundp:</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valid(v) and</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(lockedRound&lt;=vr or lockedValue=v):</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broadcast PREVOTE(.., id(v))  # otkljucaj</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else broadcast PREVOTE(.., nil)</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stepp &lt;- prevote</a:t>
            </a:r>
            <a:endParaRPr lang="en-US" sz="900" dirty="0"/>
          </a:p>
        </p:txBody>
      </p:sp>
      <p:sp>
        <p:nvSpPr>
          <p:cNvPr id="7" name="Shape 5"/>
          <p:cNvSpPr/>
          <p:nvPr/>
        </p:nvSpPr>
        <p:spPr>
          <a:xfrm>
            <a:off x="6053328" y="1481328"/>
            <a:ext cx="2587752" cy="3246120"/>
          </a:xfrm>
          <a:prstGeom prst="roundRect">
            <a:avLst>
              <a:gd name="adj" fmla="val 3534"/>
            </a:avLst>
          </a:prstGeom>
          <a:solidFill>
            <a:srgbClr val="FFFFFF"/>
          </a:solidFill>
          <a:ln/>
          <a:effectLst>
            <a:outerShdw blurRad="114300" dist="38100" dir="5400000" algn="bl" rotWithShape="0">
              <a:srgbClr val="0B1A2E">
                <a:alpha val="13000"/>
              </a:srgbClr>
            </a:outerShdw>
          </a:effectLst>
        </p:spPr>
      </p:sp>
      <p:sp>
        <p:nvSpPr>
          <p:cNvPr id="8" name="Text 6"/>
          <p:cNvSpPr/>
          <p:nvPr/>
        </p:nvSpPr>
        <p:spPr>
          <a:xfrm>
            <a:off x="6254496" y="1645920"/>
            <a:ext cx="2194560" cy="32004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Sta radi</a:t>
            </a:r>
            <a:endParaRPr lang="en-US" sz="1400" dirty="0"/>
          </a:p>
        </p:txBody>
      </p:sp>
      <p:sp>
        <p:nvSpPr>
          <p:cNvPr id="9" name="Text 7"/>
          <p:cNvSpPr/>
          <p:nvPr/>
        </p:nvSpPr>
        <p:spPr>
          <a:xfrm>
            <a:off x="6172200" y="1962733"/>
            <a:ext cx="2240280" cy="2606040"/>
          </a:xfrm>
          <a:prstGeom prst="rect">
            <a:avLst/>
          </a:prstGeom>
          <a:noFill/>
          <a:ln/>
        </p:spPr>
        <p:txBody>
          <a:bodyPr wrap="square" lIns="0" tIns="0" rIns="0" bIns="0" rtlCol="0" anchor="ctr"/>
          <a:lstStyle/>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Cvor ne glasa automatski — prima PROPOSAL i tek onda proverava uslove.</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(B1) vr = -1 : glasaj PREVOTE(id(v)) ako vrednost vazi </a:t>
            </a:r>
            <a:r>
              <a:rPr lang="en-US" sz="1070" dirty="0" err="1">
                <a:solidFill>
                  <a:srgbClr val="44556A"/>
                </a:solidFill>
                <a:latin typeface="Calibri" pitchFamily="34" charset="0"/>
                <a:ea typeface="Calibri" pitchFamily="34" charset="-122"/>
                <a:cs typeface="Calibri" pitchFamily="34" charset="-120"/>
              </a:rPr>
              <a:t>i</a:t>
            </a:r>
            <a:r>
              <a:rPr lang="en-US" sz="1070" dirty="0">
                <a:solidFill>
                  <a:srgbClr val="44556A"/>
                </a:solidFill>
                <a:latin typeface="Calibri" pitchFamily="34" charset="0"/>
                <a:ea typeface="Calibri" pitchFamily="34" charset="-122"/>
                <a:cs typeface="Calibri" pitchFamily="34" charset="-120"/>
              </a:rPr>
              <a:t> nisi zakljucan ni na sta, ili si zakljucan bas na tu </a:t>
            </a:r>
            <a:r>
              <a:rPr lang="en-US" sz="1070" dirty="0" err="1">
                <a:solidFill>
                  <a:srgbClr val="44556A"/>
                </a:solidFill>
                <a:latin typeface="Calibri" pitchFamily="34" charset="0"/>
                <a:ea typeface="Calibri" pitchFamily="34" charset="-122"/>
                <a:cs typeface="Calibri" pitchFamily="34" charset="-120"/>
              </a:rPr>
              <a:t>vrednost</a:t>
            </a:r>
            <a:r>
              <a:rPr lang="en-US" sz="1070" dirty="0">
                <a:solidFill>
                  <a:srgbClr val="44556A"/>
                </a:solidFill>
                <a:latin typeface="Calibri" pitchFamily="34" charset="0"/>
                <a:ea typeface="Calibri" pitchFamily="34" charset="-122"/>
                <a:cs typeface="Calibri" pitchFamily="34" charset="-120"/>
              </a:rPr>
              <a:t>.</a:t>
            </a:r>
            <a:r>
              <a:rPr lang="pl-PL" sz="1070" dirty="0">
                <a:solidFill>
                  <a:srgbClr val="44556A"/>
                </a:solidFill>
                <a:latin typeface="Calibri" pitchFamily="34" charset="0"/>
                <a:ea typeface="Calibri" pitchFamily="34" charset="-122"/>
                <a:cs typeface="Calibri" pitchFamily="34" charset="-120"/>
              </a:rPr>
              <a:t> </a:t>
            </a:r>
            <a:r>
              <a:rPr lang="en-US" sz="1070" dirty="0">
                <a:solidFill>
                  <a:srgbClr val="44556A"/>
                </a:solidFill>
                <a:latin typeface="Calibri" pitchFamily="34" charset="0"/>
                <a:ea typeface="Calibri" pitchFamily="34" charset="-122"/>
                <a:cs typeface="Calibri" pitchFamily="34" charset="-120"/>
              </a:rPr>
              <a:t>A</a:t>
            </a:r>
            <a:r>
              <a:rPr lang="pl-PL" sz="1070" dirty="0">
                <a:solidFill>
                  <a:srgbClr val="44556A"/>
                </a:solidFill>
                <a:latin typeface="Calibri" pitchFamily="34" charset="0"/>
                <a:ea typeface="Calibri" pitchFamily="34" charset="-122"/>
                <a:cs typeface="Calibri" pitchFamily="34" charset="-120"/>
              </a:rPr>
              <a:t>ko sam zaključan na drugu vrednost, ne smem da glasam za ovaj proposal.</a:t>
            </a:r>
            <a:endParaRPr lang="en-US" sz="1070" dirty="0"/>
          </a:p>
          <a:p>
            <a:pPr>
              <a:lnSpc>
                <a:spcPct val="105000"/>
              </a:lnSpc>
              <a:spcAft>
                <a:spcPts val="700"/>
              </a:spcAft>
            </a:pPr>
            <a:r>
              <a:rPr lang="en-US" sz="1070" dirty="0">
                <a:solidFill>
                  <a:srgbClr val="44556A"/>
                </a:solidFill>
                <a:latin typeface="Calibri" pitchFamily="34" charset="0"/>
                <a:ea typeface="Calibri" pitchFamily="34" charset="-122"/>
                <a:cs typeface="Calibri" pitchFamily="34" charset="-120"/>
              </a:rPr>
              <a:t>•  (B2) vr ≥ 0: proposer tvrdi da vrednost vec ima 2f+1 PREVOTE dokaz. Prihvati ako lockedRound ≤ vr ili lockedValue = v.</a:t>
            </a:r>
            <a:r>
              <a:rPr lang="en-US" sz="1100" dirty="0"/>
              <a:t> Ako je proposal </a:t>
            </a:r>
            <a:r>
              <a:rPr lang="en-US" sz="1100" dirty="0" err="1"/>
              <a:t>zasnovan</a:t>
            </a:r>
            <a:r>
              <a:rPr lang="en-US" sz="1100" dirty="0"/>
              <a:t> </a:t>
            </a:r>
            <a:r>
              <a:rPr lang="en-US" sz="1100" dirty="0" err="1"/>
              <a:t>na</a:t>
            </a:r>
            <a:r>
              <a:rPr lang="en-US" sz="1100" dirty="0"/>
              <a:t> </a:t>
            </a:r>
            <a:r>
              <a:rPr lang="en-US" sz="1100" dirty="0" err="1"/>
              <a:t>novijoj</a:t>
            </a:r>
            <a:r>
              <a:rPr lang="en-US" sz="1100" dirty="0"/>
              <a:t> </a:t>
            </a:r>
            <a:r>
              <a:rPr lang="en-US" sz="1100" dirty="0" err="1"/>
              <a:t>ili</a:t>
            </a:r>
            <a:r>
              <a:rPr lang="en-US" sz="1100" dirty="0"/>
              <a:t> </a:t>
            </a:r>
            <a:r>
              <a:rPr lang="en-US" sz="1100" dirty="0" err="1"/>
              <a:t>jednako</a:t>
            </a:r>
            <a:r>
              <a:rPr lang="en-US" sz="1100" dirty="0"/>
              <a:t> </a:t>
            </a:r>
            <a:r>
              <a:rPr lang="en-US" sz="1100" dirty="0" err="1"/>
              <a:t>novoj</a:t>
            </a:r>
            <a:r>
              <a:rPr lang="en-US" sz="1100" dirty="0"/>
              <a:t> </a:t>
            </a:r>
            <a:r>
              <a:rPr lang="en-US" sz="1100" dirty="0" err="1"/>
              <a:t>rundi</a:t>
            </a:r>
            <a:r>
              <a:rPr lang="en-US" sz="1100" dirty="0"/>
              <a:t> od </a:t>
            </a:r>
            <a:r>
              <a:rPr lang="en-US" sz="1100" dirty="0" err="1"/>
              <a:t>moje</a:t>
            </a:r>
            <a:r>
              <a:rPr lang="en-US" sz="1100" dirty="0"/>
              <a:t> </a:t>
            </a:r>
            <a:r>
              <a:rPr lang="en-US" sz="1100" dirty="0" err="1"/>
              <a:t>zaključane</a:t>
            </a:r>
            <a:r>
              <a:rPr lang="en-US" sz="1100" dirty="0"/>
              <a:t> </a:t>
            </a:r>
            <a:r>
              <a:rPr lang="en-US" sz="1100" dirty="0" err="1"/>
              <a:t>runde</a:t>
            </a:r>
            <a:r>
              <a:rPr lang="en-US" sz="1100" dirty="0"/>
              <a:t>, </a:t>
            </a:r>
            <a:r>
              <a:rPr lang="en-US" sz="1100" dirty="0" err="1"/>
              <a:t>onda</a:t>
            </a:r>
            <a:r>
              <a:rPr lang="en-US" sz="1100" dirty="0"/>
              <a:t> </a:t>
            </a:r>
            <a:r>
              <a:rPr lang="en-US" sz="1100" dirty="0" err="1"/>
              <a:t>mogu</a:t>
            </a:r>
            <a:r>
              <a:rPr lang="en-US" sz="1100" dirty="0"/>
              <a:t> da </a:t>
            </a:r>
            <a:r>
              <a:rPr lang="en-US" sz="1100" dirty="0" err="1"/>
              <a:t>prihvatim</a:t>
            </a:r>
            <a:r>
              <a:rPr lang="en-US" sz="1100" dirty="0"/>
              <a:t> </a:t>
            </a:r>
            <a:endParaRPr lang="en-US" sz="1070" dirty="0"/>
          </a:p>
        </p:txBody>
      </p:sp>
      <p:sp>
        <p:nvSpPr>
          <p:cNvPr id="11" name="Text 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13</a:t>
            </a:r>
            <a:endParaRPr lang="en-US" sz="900" dirty="0"/>
          </a:p>
        </p:txBody>
      </p:sp>
      <p:sp>
        <p:nvSpPr>
          <p:cNvPr id="12" name="Text 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(D) Zakljucavanje + (E) PRECOMMIT nil</a:t>
            </a:r>
            <a:endParaRPr lang="en-US" sz="3000" dirty="0"/>
          </a:p>
        </p:txBody>
      </p:sp>
      <p:sp>
        <p:nvSpPr>
          <p:cNvPr id="4" name="Shape 2"/>
          <p:cNvSpPr/>
          <p:nvPr/>
        </p:nvSpPr>
        <p:spPr>
          <a:xfrm>
            <a:off x="502920" y="1481328"/>
            <a:ext cx="5440680" cy="3246120"/>
          </a:xfrm>
          <a:prstGeom prst="roundRect">
            <a:avLst>
              <a:gd name="adj" fmla="val 2817"/>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581912"/>
            <a:ext cx="5029200" cy="274320"/>
          </a:xfrm>
          <a:prstGeom prst="rect">
            <a:avLst/>
          </a:prstGeom>
          <a:noFill/>
          <a:ln/>
        </p:spPr>
        <p:txBody>
          <a:bodyPr wrap="square" lIns="0" tIns="0" rIns="0" bIns="0" rtlCol="0" anchor="ctr"/>
          <a:lstStyle/>
          <a:p>
            <a:pPr marL="0" indent="0">
              <a:buNone/>
            </a:pPr>
            <a:r>
              <a:rPr lang="en-US" sz="1000" b="1" kern="0" spc="100" dirty="0">
                <a:solidFill>
                  <a:srgbClr val="5EEAD4"/>
                </a:solidFill>
                <a:latin typeface="Calibri" pitchFamily="34" charset="0"/>
                <a:ea typeface="Calibri" pitchFamily="34" charset="-122"/>
                <a:cs typeface="Calibri" pitchFamily="34" charset="-120"/>
              </a:rPr>
              <a:t>Algoritam 1 — centralno pravilo (D)</a:t>
            </a:r>
            <a:endParaRPr lang="en-US" sz="1000" dirty="0"/>
          </a:p>
        </p:txBody>
      </p:sp>
      <p:sp>
        <p:nvSpPr>
          <p:cNvPr id="6" name="Text 4"/>
          <p:cNvSpPr/>
          <p:nvPr/>
        </p:nvSpPr>
        <p:spPr>
          <a:xfrm>
            <a:off x="731520" y="1819656"/>
            <a:ext cx="5074920" cy="2926080"/>
          </a:xfrm>
          <a:prstGeom prst="rect">
            <a:avLst/>
          </a:prstGeom>
          <a:noFill/>
          <a:ln/>
        </p:spPr>
        <p:txBody>
          <a:bodyPr wrap="square" lIns="0" tIns="0" rIns="0" bIns="0" rtlCol="0" anchor="t"/>
          <a:lstStyle/>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(D) zakljucaj + PRECOMMIT  (KLJUCNO) </a:t>
            </a:r>
            <a:r>
              <a:rPr lang="en-US" sz="900" dirty="0" err="1">
                <a:solidFill>
                  <a:srgbClr val="86A6C7"/>
                </a:solidFill>
                <a:latin typeface="Courier New" pitchFamily="34" charset="0"/>
                <a:ea typeface="Courier New" pitchFamily="34" charset="-122"/>
                <a:cs typeface="Courier New" pitchFamily="34" charset="-120"/>
              </a:rPr>
              <a:t>Bezdbednost+zivost</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PROPOSAL(.., v, *) from proposer</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and 2f+1 PREVOTE(.., roundp, id(v))</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valid(v) and stepp &gt;= prevote: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stepp = prevote then</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lockedValue &lt;- v;  lockedRound &lt;- roundp</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broadcast PRECOMMIT(.., id(v))</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stepp &lt;- precommit</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validValue &lt;- v;  validRound &lt;- roundp</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(E) svi PREVOTE za nil</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2f+1 PREVOTE(.., roundp, nil)</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stepp = prevote:</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broadcast PRECOMMIT(.., nil)</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stepp &lt;- precommit</a:t>
            </a:r>
            <a:endParaRPr lang="en-US" sz="900" dirty="0"/>
          </a:p>
        </p:txBody>
      </p:sp>
      <p:sp>
        <p:nvSpPr>
          <p:cNvPr id="7" name="Shape 5"/>
          <p:cNvSpPr/>
          <p:nvPr/>
        </p:nvSpPr>
        <p:spPr>
          <a:xfrm>
            <a:off x="6053328" y="1481328"/>
            <a:ext cx="2587752" cy="3246120"/>
          </a:xfrm>
          <a:prstGeom prst="roundRect">
            <a:avLst>
              <a:gd name="adj" fmla="val 3534"/>
            </a:avLst>
          </a:prstGeom>
          <a:solidFill>
            <a:srgbClr val="FFFFFF"/>
          </a:solidFill>
          <a:ln/>
          <a:effectLst>
            <a:outerShdw blurRad="114300" dist="38100" dir="5400000" algn="bl" rotWithShape="0">
              <a:srgbClr val="0B1A2E">
                <a:alpha val="13000"/>
              </a:srgbClr>
            </a:outerShdw>
          </a:effectLst>
        </p:spPr>
      </p:sp>
      <p:sp>
        <p:nvSpPr>
          <p:cNvPr id="8" name="Text 6"/>
          <p:cNvSpPr/>
          <p:nvPr/>
        </p:nvSpPr>
        <p:spPr>
          <a:xfrm>
            <a:off x="6254496" y="1645920"/>
            <a:ext cx="2194560" cy="32004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Sta radi</a:t>
            </a:r>
            <a:endParaRPr lang="en-US" sz="1400" dirty="0"/>
          </a:p>
        </p:txBody>
      </p:sp>
      <p:sp>
        <p:nvSpPr>
          <p:cNvPr id="9" name="Text 7"/>
          <p:cNvSpPr/>
          <p:nvPr/>
        </p:nvSpPr>
        <p:spPr>
          <a:xfrm>
            <a:off x="6254496" y="2029968"/>
            <a:ext cx="2240280" cy="2606040"/>
          </a:xfrm>
          <a:prstGeom prst="rect">
            <a:avLst/>
          </a:prstGeom>
          <a:noFill/>
          <a:ln/>
        </p:spPr>
        <p:txBody>
          <a:bodyPr wrap="square" lIns="0" tIns="0" rIns="0" bIns="0" rtlCol="0" anchor="ctr"/>
          <a:lstStyle/>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(D) 2f+1 PREVOTE(id(v)) → zaklucava: lockedValue = v, lockedRound = rp, salje PRECOMMIT(id(v)).</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Istovremeno azurira validValue = v i validRound — osigurava da ce u buducim rundama proposer imati bezbednu vrednost.</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(E) 2f+1 PREVOTE(nil) → PRECOMMIT(nil), runda nece odluciti — nije bilo dovoljno podrske za konkretnu vrednost.</a:t>
            </a:r>
            <a:endParaRPr lang="en-US" sz="1070" dirty="0"/>
          </a:p>
        </p:txBody>
      </p:sp>
      <p:sp>
        <p:nvSpPr>
          <p:cNvPr id="11" name="Text 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14</a:t>
            </a:r>
            <a:endParaRPr lang="en-US" sz="900" dirty="0"/>
          </a:p>
        </p:txBody>
      </p:sp>
      <p:sp>
        <p:nvSpPr>
          <p:cNvPr id="12" name="Text 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(G) Odluka + (H) Preskakanje runde</a:t>
            </a:r>
            <a:endParaRPr lang="en-US" sz="3000" dirty="0"/>
          </a:p>
        </p:txBody>
      </p:sp>
      <p:sp>
        <p:nvSpPr>
          <p:cNvPr id="4" name="Shape 2"/>
          <p:cNvSpPr/>
          <p:nvPr/>
        </p:nvSpPr>
        <p:spPr>
          <a:xfrm>
            <a:off x="502920" y="1481328"/>
            <a:ext cx="5440680" cy="3246120"/>
          </a:xfrm>
          <a:prstGeom prst="roundRect">
            <a:avLst>
              <a:gd name="adj" fmla="val 2817"/>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581912"/>
            <a:ext cx="5029200" cy="274320"/>
          </a:xfrm>
          <a:prstGeom prst="rect">
            <a:avLst/>
          </a:prstGeom>
          <a:noFill/>
          <a:ln/>
        </p:spPr>
        <p:txBody>
          <a:bodyPr wrap="square" lIns="0" tIns="0" rIns="0" bIns="0" rtlCol="0" anchor="ctr"/>
          <a:lstStyle/>
          <a:p>
            <a:pPr marL="0" indent="0">
              <a:buNone/>
            </a:pPr>
            <a:r>
              <a:rPr lang="en-US" sz="1000" b="1" kern="0" spc="100" dirty="0">
                <a:solidFill>
                  <a:srgbClr val="5EEAD4"/>
                </a:solidFill>
                <a:latin typeface="Calibri" pitchFamily="34" charset="0"/>
                <a:ea typeface="Calibri" pitchFamily="34" charset="-122"/>
                <a:cs typeface="Calibri" pitchFamily="34" charset="-120"/>
              </a:rPr>
              <a:t>Algoritam 1 — odluka i sinhronizacija</a:t>
            </a:r>
            <a:endParaRPr lang="en-US" sz="1000" dirty="0"/>
          </a:p>
        </p:txBody>
      </p:sp>
      <p:sp>
        <p:nvSpPr>
          <p:cNvPr id="6" name="Text 4"/>
          <p:cNvSpPr/>
          <p:nvPr/>
        </p:nvSpPr>
        <p:spPr>
          <a:xfrm>
            <a:off x="731520" y="1819656"/>
            <a:ext cx="5074920" cy="2926080"/>
          </a:xfrm>
          <a:prstGeom prst="rect">
            <a:avLst/>
          </a:prstGeom>
          <a:noFill/>
          <a:ln/>
        </p:spPr>
        <p:txBody>
          <a:bodyPr wrap="square" lIns="0" tIns="0" rIns="0" bIns="0" rtlCol="0" anchor="t"/>
          <a:lstStyle/>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(G) ODLUKA  (cilj svega)</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PROPOSAL(.., r, v, *) from proposer</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and 2f+1 PRECOMMIT(.., r, id(v))</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decision[hp] = nil:</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if valid(v) then</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decision[hp] &lt;- v</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hp &lt;- hp + 1</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reset locked*/valid*;  clear log</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StartRound(0)</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(H) preskakanje runde</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f+1 (.., hp, round, ..) with round&gt;roundp:</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  StartRound(round)</a:t>
            </a:r>
            <a:endParaRPr lang="en-US" sz="900" dirty="0"/>
          </a:p>
        </p:txBody>
      </p:sp>
      <p:sp>
        <p:nvSpPr>
          <p:cNvPr id="7" name="Shape 5"/>
          <p:cNvSpPr/>
          <p:nvPr/>
        </p:nvSpPr>
        <p:spPr>
          <a:xfrm>
            <a:off x="6053327" y="1500692"/>
            <a:ext cx="2821731" cy="3264408"/>
          </a:xfrm>
          <a:prstGeom prst="roundRect">
            <a:avLst>
              <a:gd name="adj" fmla="val 3534"/>
            </a:avLst>
          </a:prstGeom>
          <a:solidFill>
            <a:srgbClr val="FFFFFF"/>
          </a:solidFill>
          <a:ln/>
          <a:effectLst>
            <a:outerShdw blurRad="114300" dist="38100" dir="5400000" algn="bl" rotWithShape="0">
              <a:srgbClr val="0B1A2E">
                <a:alpha val="13000"/>
              </a:srgbClr>
            </a:outerShdw>
          </a:effectLst>
        </p:spPr>
      </p:sp>
      <p:sp>
        <p:nvSpPr>
          <p:cNvPr id="8" name="Text 6"/>
          <p:cNvSpPr/>
          <p:nvPr/>
        </p:nvSpPr>
        <p:spPr>
          <a:xfrm>
            <a:off x="6254496" y="1645920"/>
            <a:ext cx="2194560" cy="32004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Sta radi</a:t>
            </a:r>
            <a:endParaRPr lang="en-US" sz="1400" dirty="0"/>
          </a:p>
        </p:txBody>
      </p:sp>
      <p:sp>
        <p:nvSpPr>
          <p:cNvPr id="9" name="Text 7"/>
          <p:cNvSpPr/>
          <p:nvPr/>
        </p:nvSpPr>
        <p:spPr>
          <a:xfrm>
            <a:off x="6225180" y="1874521"/>
            <a:ext cx="2478024" cy="2606040"/>
          </a:xfrm>
          <a:prstGeom prst="rect">
            <a:avLst/>
          </a:prstGeom>
          <a:noFill/>
          <a:ln/>
        </p:spPr>
        <p:txBody>
          <a:bodyPr wrap="square" lIns="0" tIns="0" rIns="0" bIns="0" rtlCol="0" anchor="ctr"/>
          <a:lstStyle/>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Odluka se NE donosi posle PREVOTE — PREVOTE je samo preliminarna podrska za vrednost.</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Tek 2f+1 PRECOMMIT(id(v)) uz odgovarajuci PROPOSAL → decision[height] = v, pa height++, reset svih promenljivih.</a:t>
            </a:r>
            <a:endParaRPr lang="en-US" sz="1070" dirty="0"/>
          </a:p>
          <a:p>
            <a:r>
              <a:rPr lang="en-US" sz="1070" dirty="0">
                <a:solidFill>
                  <a:srgbClr val="44556A"/>
                </a:solidFill>
                <a:latin typeface="Calibri" pitchFamily="34" charset="0"/>
                <a:ea typeface="Calibri" pitchFamily="34" charset="-122"/>
                <a:cs typeface="Calibri" pitchFamily="34" charset="-120"/>
              </a:rPr>
              <a:t>•  (H) f+1 poruka iz vise runde → skoci odmah, jer bar jedna mora biti od ispravnog cvora — nema smisla ostati </a:t>
            </a:r>
            <a:r>
              <a:rPr lang="en-US" sz="1070" dirty="0" err="1">
                <a:solidFill>
                  <a:srgbClr val="44556A"/>
                </a:solidFill>
                <a:latin typeface="Calibri" pitchFamily="34" charset="0"/>
                <a:ea typeface="Calibri" pitchFamily="34" charset="-122"/>
                <a:cs typeface="Calibri" pitchFamily="34" charset="-120"/>
              </a:rPr>
              <a:t>zaglavljen</a:t>
            </a:r>
            <a:r>
              <a:rPr lang="en-US" sz="1070" dirty="0">
                <a:solidFill>
                  <a:srgbClr val="44556A"/>
                </a:solidFill>
                <a:latin typeface="Calibri" pitchFamily="34" charset="0"/>
                <a:ea typeface="Calibri" pitchFamily="34" charset="-122"/>
                <a:cs typeface="Calibri" pitchFamily="34" charset="-120"/>
              </a:rPr>
              <a:t>.</a:t>
            </a:r>
            <a:r>
              <a:rPr lang="en-US" sz="1100" dirty="0"/>
              <a:t> Ako </a:t>
            </a:r>
            <a:r>
              <a:rPr lang="en-US" sz="1100" dirty="0" err="1"/>
              <a:t>čvor</a:t>
            </a:r>
            <a:r>
              <a:rPr lang="en-US" sz="1100" dirty="0"/>
              <a:t> </a:t>
            </a:r>
            <a:r>
              <a:rPr lang="en-US" sz="1100" dirty="0" err="1"/>
              <a:t>vidi</a:t>
            </a:r>
            <a:r>
              <a:rPr lang="en-US" sz="1100" dirty="0"/>
              <a:t> 2 </a:t>
            </a:r>
            <a:r>
              <a:rPr lang="en-US" sz="1100" dirty="0" err="1"/>
              <a:t>poruke</a:t>
            </a:r>
            <a:r>
              <a:rPr lang="en-US" sz="1100" dirty="0"/>
              <a:t> </a:t>
            </a:r>
            <a:r>
              <a:rPr lang="en-US" sz="1100" dirty="0" err="1"/>
              <a:t>iz</a:t>
            </a:r>
            <a:r>
              <a:rPr lang="en-US" sz="1100" dirty="0"/>
              <a:t> </a:t>
            </a:r>
            <a:r>
              <a:rPr lang="en-US" sz="1100" dirty="0" err="1"/>
              <a:t>runde</a:t>
            </a:r>
            <a:r>
              <a:rPr lang="en-US" sz="1100" dirty="0"/>
              <a:t> 3, a on je </a:t>
            </a:r>
            <a:r>
              <a:rPr lang="en-US" sz="1100" dirty="0" err="1"/>
              <a:t>još</a:t>
            </a:r>
            <a:r>
              <a:rPr lang="en-US" sz="1100" dirty="0"/>
              <a:t> u </a:t>
            </a:r>
            <a:r>
              <a:rPr lang="en-US" sz="1100" dirty="0" err="1"/>
              <a:t>rundi</a:t>
            </a:r>
            <a:r>
              <a:rPr lang="en-US" sz="1100" dirty="0"/>
              <a:t> 1, on </a:t>
            </a:r>
            <a:r>
              <a:rPr lang="en-US" sz="1100" dirty="0" err="1"/>
              <a:t>prelazi</a:t>
            </a:r>
            <a:r>
              <a:rPr lang="en-US" sz="1100" dirty="0"/>
              <a:t> u </a:t>
            </a:r>
            <a:r>
              <a:rPr lang="en-US" sz="1100" dirty="0" err="1"/>
              <a:t>rundu</a:t>
            </a:r>
            <a:r>
              <a:rPr lang="en-US" sz="1100" dirty="0"/>
              <a:t> 3.</a:t>
            </a:r>
          </a:p>
          <a:p>
            <a:r>
              <a:rPr lang="en-US" sz="1100" dirty="0"/>
              <a:t>Ovo </a:t>
            </a:r>
            <a:r>
              <a:rPr lang="en-US" sz="1100" dirty="0" err="1"/>
              <a:t>pomaže</a:t>
            </a:r>
            <a:r>
              <a:rPr lang="en-US" sz="1100" dirty="0"/>
              <a:t> da se </a:t>
            </a:r>
            <a:r>
              <a:rPr lang="en-US" sz="1100" dirty="0" err="1"/>
              <a:t>čvorovi</a:t>
            </a:r>
            <a:r>
              <a:rPr lang="en-US" sz="1100" dirty="0"/>
              <a:t> </a:t>
            </a:r>
            <a:r>
              <a:rPr lang="en-US" sz="1100" dirty="0" err="1"/>
              <a:t>sinhronizuju</a:t>
            </a:r>
            <a:r>
              <a:rPr lang="en-US" sz="1100" dirty="0"/>
              <a:t> </a:t>
            </a:r>
            <a:r>
              <a:rPr lang="en-US" sz="1100" dirty="0" err="1"/>
              <a:t>i</a:t>
            </a:r>
            <a:r>
              <a:rPr lang="en-US" sz="1100" dirty="0"/>
              <a:t> da </a:t>
            </a:r>
            <a:r>
              <a:rPr lang="en-US" sz="1100" dirty="0" err="1"/>
              <a:t>sporiji</a:t>
            </a:r>
            <a:r>
              <a:rPr lang="en-US" sz="1100" dirty="0"/>
              <a:t> </a:t>
            </a:r>
            <a:r>
              <a:rPr lang="en-US" sz="1100" dirty="0" err="1"/>
              <a:t>čvorovi</a:t>
            </a:r>
            <a:r>
              <a:rPr lang="en-US" sz="1100" dirty="0"/>
              <a:t> </a:t>
            </a:r>
            <a:r>
              <a:rPr lang="en-US" sz="1100" dirty="0" err="1"/>
              <a:t>uhvate</a:t>
            </a:r>
            <a:r>
              <a:rPr lang="en-US" sz="1100" dirty="0"/>
              <a:t> </a:t>
            </a:r>
            <a:r>
              <a:rPr lang="en-US" sz="1100" dirty="0" err="1"/>
              <a:t>korak</a:t>
            </a:r>
            <a:r>
              <a:rPr lang="en-US" sz="1100" dirty="0"/>
              <a:t> </a:t>
            </a:r>
            <a:r>
              <a:rPr lang="en-US" sz="1100" dirty="0" err="1"/>
              <a:t>sa</a:t>
            </a:r>
            <a:r>
              <a:rPr lang="en-US" sz="1100" dirty="0"/>
              <a:t> </a:t>
            </a:r>
            <a:r>
              <a:rPr lang="en-US" sz="1100" dirty="0" err="1"/>
              <a:t>mrežom</a:t>
            </a:r>
            <a:endParaRPr lang="en-US" sz="1070" dirty="0"/>
          </a:p>
        </p:txBody>
      </p:sp>
      <p:sp>
        <p:nvSpPr>
          <p:cNvPr id="11" name="Text 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15</a:t>
            </a:r>
            <a:endParaRPr lang="en-US" sz="900" dirty="0"/>
          </a:p>
        </p:txBody>
      </p:sp>
      <p:sp>
        <p:nvSpPr>
          <p:cNvPr id="12" name="Text 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a:solidFill>
                  <a:srgbClr val="0E2138"/>
                </a:solidFill>
                <a:latin typeface="Cambria" pitchFamily="34" charset="0"/>
                <a:ea typeface="Cambria" pitchFamily="34" charset="-122"/>
                <a:cs typeface="Cambria" pitchFamily="34" charset="-120"/>
              </a:rPr>
              <a:t>(C)(F) Okidaci i (I) tajmaut funkcije</a:t>
            </a:r>
            <a:endParaRPr lang="en-US" sz="3000" dirty="0"/>
          </a:p>
        </p:txBody>
      </p:sp>
      <p:sp>
        <p:nvSpPr>
          <p:cNvPr id="4" name="Shape 2"/>
          <p:cNvSpPr/>
          <p:nvPr/>
        </p:nvSpPr>
        <p:spPr>
          <a:xfrm>
            <a:off x="502920" y="1481328"/>
            <a:ext cx="5440680" cy="3246120"/>
          </a:xfrm>
          <a:prstGeom prst="roundRect">
            <a:avLst>
              <a:gd name="adj" fmla="val 2817"/>
            </a:avLst>
          </a:prstGeom>
          <a:solidFill>
            <a:srgbClr val="0E2A47"/>
          </a:solidFill>
          <a:ln/>
          <a:effectLst>
            <a:outerShdw blurRad="114300" dist="38100" dir="5400000" algn="bl" rotWithShape="0">
              <a:srgbClr val="0B1A2E">
                <a:alpha val="13000"/>
              </a:srgbClr>
            </a:outerShdw>
          </a:effectLst>
        </p:spPr>
      </p:sp>
      <p:sp>
        <p:nvSpPr>
          <p:cNvPr id="5" name="Text 3"/>
          <p:cNvSpPr/>
          <p:nvPr/>
        </p:nvSpPr>
        <p:spPr>
          <a:xfrm>
            <a:off x="731520" y="1581912"/>
            <a:ext cx="5029200" cy="274320"/>
          </a:xfrm>
          <a:prstGeom prst="rect">
            <a:avLst/>
          </a:prstGeom>
          <a:noFill/>
          <a:ln/>
        </p:spPr>
        <p:txBody>
          <a:bodyPr wrap="square" lIns="0" tIns="0" rIns="0" bIns="0" rtlCol="0" anchor="ctr"/>
          <a:lstStyle/>
          <a:p>
            <a:pPr marL="0" indent="0">
              <a:buNone/>
            </a:pPr>
            <a:r>
              <a:rPr lang="en-US" sz="1000" b="1" kern="0" spc="100" dirty="0">
                <a:solidFill>
                  <a:srgbClr val="5EEAD4"/>
                </a:solidFill>
                <a:latin typeface="Calibri" pitchFamily="34" charset="0"/>
                <a:ea typeface="Calibri" pitchFamily="34" charset="-122"/>
                <a:cs typeface="Calibri" pitchFamily="34" charset="-120"/>
              </a:rPr>
              <a:t>Algoritam 1 — tajmauti ('motor')</a:t>
            </a:r>
            <a:endParaRPr lang="en-US" sz="1000" dirty="0"/>
          </a:p>
        </p:txBody>
      </p:sp>
      <p:sp>
        <p:nvSpPr>
          <p:cNvPr id="6" name="Text 4"/>
          <p:cNvSpPr/>
          <p:nvPr/>
        </p:nvSpPr>
        <p:spPr>
          <a:xfrm>
            <a:off x="731520" y="1819656"/>
            <a:ext cx="5074920" cy="2926080"/>
          </a:xfrm>
          <a:prstGeom prst="rect">
            <a:avLst/>
          </a:prstGeom>
          <a:noFill/>
          <a:ln/>
        </p:spPr>
        <p:txBody>
          <a:bodyPr wrap="square" lIns="0" tIns="0" rIns="0" bIns="0" rtlCol="0" anchor="t"/>
          <a:lstStyle/>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(C) okidac za timeoutPrevote</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2f+1 PREVOTE(.., roundp, *)  [1. put]</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     while stepp = prevote:</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schedule timeoutPrevote(roundp)</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(F) okidac za timeoutPrecommit</a:t>
            </a:r>
            <a:endParaRPr lang="en-US" sz="900" dirty="0"/>
          </a:p>
          <a:p>
            <a:pPr marL="0" indent="0">
              <a:lnSpc>
                <a:spcPct val="112000"/>
              </a:lnSpc>
              <a:buNone/>
            </a:pPr>
            <a:r>
              <a:rPr lang="en-US" sz="900" dirty="0">
                <a:solidFill>
                  <a:srgbClr val="5EEAD4"/>
                </a:solidFill>
                <a:latin typeface="Courier New" pitchFamily="34" charset="0"/>
                <a:ea typeface="Courier New" pitchFamily="34" charset="-122"/>
                <a:cs typeface="Courier New" pitchFamily="34" charset="-120"/>
              </a:rPr>
              <a:t>upon 2f+1 PRECOMMIT(.., roundp, *)  [1. put]:</a:t>
            </a:r>
            <a:endParaRPr lang="en-US" sz="900" dirty="0"/>
          </a:p>
          <a:p>
            <a:pPr marL="0" indent="0">
              <a:lnSpc>
                <a:spcPct val="112000"/>
              </a:lnSpc>
              <a:buNone/>
            </a:pPr>
            <a:r>
              <a:rPr lang="en-US" sz="900" dirty="0">
                <a:solidFill>
                  <a:srgbClr val="FFD7A8"/>
                </a:solidFill>
                <a:latin typeface="Courier New" pitchFamily="34" charset="0"/>
                <a:ea typeface="Courier New" pitchFamily="34" charset="-122"/>
                <a:cs typeface="Courier New" pitchFamily="34" charset="-120"/>
              </a:rPr>
              <a:t>  schedule timeoutPrecommit(roundp)</a:t>
            </a:r>
            <a:endParaRPr lang="en-US" sz="900" dirty="0"/>
          </a:p>
          <a:p>
            <a:pPr marL="0" indent="0">
              <a:lnSpc>
                <a:spcPct val="112000"/>
              </a:lnSpc>
              <a:buNone/>
            </a:pPr>
            <a:r>
              <a:rPr lang="en-US" sz="6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2000"/>
              </a:lnSpc>
              <a:buNone/>
            </a:pPr>
            <a:r>
              <a:rPr lang="en-US" sz="900" dirty="0">
                <a:solidFill>
                  <a:srgbClr val="86A6C7"/>
                </a:solidFill>
                <a:latin typeface="Courier New" pitchFamily="34" charset="0"/>
                <a:ea typeface="Courier New" pitchFamily="34" charset="-122"/>
                <a:cs typeface="Courier New" pitchFamily="34" charset="-120"/>
              </a:rPr>
              <a:t># (I) kad tajmaut istekne (proveri h, round)</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OnTimeoutPropose :  PREVOTE nil;  step&lt;-prevote</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OnTimeoutPrevote :  PRECOMMIT nil; step&lt;-precom.</a:t>
            </a:r>
            <a:endParaRPr lang="en-US" sz="900" dirty="0"/>
          </a:p>
          <a:p>
            <a:pPr marL="0" indent="0">
              <a:lnSpc>
                <a:spcPct val="112000"/>
              </a:lnSpc>
              <a:buNone/>
            </a:pPr>
            <a:r>
              <a:rPr lang="en-US" sz="900" dirty="0">
                <a:solidFill>
                  <a:srgbClr val="FFFFFF"/>
                </a:solidFill>
                <a:latin typeface="Courier New" pitchFamily="34" charset="0"/>
                <a:ea typeface="Courier New" pitchFamily="34" charset="-122"/>
                <a:cs typeface="Courier New" pitchFamily="34" charset="-120"/>
              </a:rPr>
              <a:t>OnTimeoutPrecommit: StartRound(roundp+1)</a:t>
            </a:r>
            <a:endParaRPr lang="en-US" sz="900" dirty="0"/>
          </a:p>
        </p:txBody>
      </p:sp>
      <p:sp>
        <p:nvSpPr>
          <p:cNvPr id="7" name="Shape 5"/>
          <p:cNvSpPr/>
          <p:nvPr/>
        </p:nvSpPr>
        <p:spPr>
          <a:xfrm>
            <a:off x="6053328" y="1481328"/>
            <a:ext cx="2587752" cy="3246120"/>
          </a:xfrm>
          <a:prstGeom prst="roundRect">
            <a:avLst>
              <a:gd name="adj" fmla="val 3534"/>
            </a:avLst>
          </a:prstGeom>
          <a:solidFill>
            <a:srgbClr val="FFFFFF"/>
          </a:solidFill>
          <a:ln/>
          <a:effectLst>
            <a:outerShdw blurRad="114300" dist="38100" dir="5400000" algn="bl" rotWithShape="0">
              <a:srgbClr val="0B1A2E">
                <a:alpha val="13000"/>
              </a:srgbClr>
            </a:outerShdw>
          </a:effectLst>
        </p:spPr>
      </p:sp>
      <p:sp>
        <p:nvSpPr>
          <p:cNvPr id="8" name="Text 6"/>
          <p:cNvSpPr/>
          <p:nvPr/>
        </p:nvSpPr>
        <p:spPr>
          <a:xfrm>
            <a:off x="6254496" y="1645920"/>
            <a:ext cx="2194560" cy="320040"/>
          </a:xfrm>
          <a:prstGeom prst="rect">
            <a:avLst/>
          </a:prstGeom>
          <a:noFill/>
          <a:ln/>
        </p:spPr>
        <p:txBody>
          <a:bodyPr wrap="square" lIns="0" tIns="0" rIns="0" bIns="0" rtlCol="0" anchor="ctr"/>
          <a:lstStyle/>
          <a:p>
            <a:pPr marL="0" indent="0">
              <a:buNone/>
            </a:pPr>
            <a:r>
              <a:rPr lang="en-US" sz="1400" b="1" dirty="0">
                <a:solidFill>
                  <a:srgbClr val="0E2138"/>
                </a:solidFill>
                <a:latin typeface="Cambria" pitchFamily="34" charset="0"/>
                <a:ea typeface="Cambria" pitchFamily="34" charset="-122"/>
                <a:cs typeface="Cambria" pitchFamily="34" charset="-120"/>
              </a:rPr>
              <a:t>Sta radi</a:t>
            </a:r>
            <a:endParaRPr lang="en-US" sz="1400" dirty="0"/>
          </a:p>
        </p:txBody>
      </p:sp>
      <p:sp>
        <p:nvSpPr>
          <p:cNvPr id="9" name="Text 7"/>
          <p:cNvSpPr/>
          <p:nvPr/>
        </p:nvSpPr>
        <p:spPr>
          <a:xfrm>
            <a:off x="6254496" y="2029968"/>
            <a:ext cx="2240280" cy="2606040"/>
          </a:xfrm>
          <a:prstGeom prst="rect">
            <a:avLst/>
          </a:prstGeom>
          <a:noFill/>
          <a:ln/>
        </p:spPr>
        <p:txBody>
          <a:bodyPr wrap="square" lIns="0" tIns="0" rIns="0" bIns="0" rtlCol="0" anchor="ctr"/>
          <a:lstStyle/>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timeoutPropose: nema proposal-a na vreme → PREVOTE(nil). Resava slucaj gde proposer ne odgovara ili kasni.</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timeoutPrevote: nema 2f+1 PREVOTE na vreme → PRECOMMIT(nil). timeoutPrecommit: nema 2f+1 PRECOMMIT → StartRound(r+1).</a:t>
            </a:r>
            <a:endParaRPr lang="en-US" sz="1070" dirty="0"/>
          </a:p>
          <a:p>
            <a:pPr marL="0" indent="0">
              <a:lnSpc>
                <a:spcPct val="105000"/>
              </a:lnSpc>
              <a:spcAft>
                <a:spcPts val="700"/>
              </a:spcAft>
              <a:buNone/>
            </a:pPr>
            <a:r>
              <a:rPr lang="en-US" sz="1070" dirty="0">
                <a:solidFill>
                  <a:srgbClr val="44556A"/>
                </a:solidFill>
                <a:latin typeface="Calibri" pitchFamily="34" charset="0"/>
                <a:ea typeface="Calibri" pitchFamily="34" charset="-122"/>
                <a:cs typeface="Calibri" pitchFamily="34" charset="-120"/>
              </a:rPr>
              <a:t>•  Tajmauti rastu sa rundom — jer algoritam ne zna kad ce GST nastupiti, ali posle stabilizacije mreze bice dovoljno dugi za odluku.</a:t>
            </a:r>
            <a:endParaRPr lang="en-US" sz="1070" dirty="0"/>
          </a:p>
        </p:txBody>
      </p:sp>
      <p:sp>
        <p:nvSpPr>
          <p:cNvPr id="11" name="Text 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16</a:t>
            </a:r>
            <a:endParaRPr lang="en-US" sz="900" dirty="0"/>
          </a:p>
        </p:txBody>
      </p:sp>
      <p:sp>
        <p:nvSpPr>
          <p:cNvPr id="12" name="Text 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
        <p:nvSpPr>
          <p:cNvPr id="13" name="TextBox 12">
            <a:extLst>
              <a:ext uri="{FF2B5EF4-FFF2-40B4-BE49-F238E27FC236}">
                <a16:creationId xmlns:a16="http://schemas.microsoft.com/office/drawing/2014/main" id="{0ECEF4C5-A239-DEDF-2DCB-0D041574B18F}"/>
              </a:ext>
            </a:extLst>
          </p:cNvPr>
          <p:cNvSpPr txBox="1"/>
          <p:nvPr/>
        </p:nvSpPr>
        <p:spPr>
          <a:xfrm>
            <a:off x="502920" y="1160320"/>
            <a:ext cx="4572000" cy="369332"/>
          </a:xfrm>
          <a:prstGeom prst="rect">
            <a:avLst/>
          </a:prstGeom>
          <a:noFill/>
        </p:spPr>
        <p:txBody>
          <a:bodyPr wrap="square">
            <a:spAutoFit/>
          </a:bodyPr>
          <a:lstStyle/>
          <a:p>
            <a:r>
              <a:rPr lang="en-US" dirty="0"/>
              <a:t>Timeout-</a:t>
            </a:r>
            <a:r>
              <a:rPr lang="en-US" dirty="0" err="1"/>
              <a:t>i</a:t>
            </a:r>
            <a:r>
              <a:rPr lang="en-US" dirty="0"/>
              <a:t> </a:t>
            </a:r>
            <a:r>
              <a:rPr lang="en-US" dirty="0" err="1"/>
              <a:t>sprečavaju</a:t>
            </a:r>
            <a:r>
              <a:rPr lang="en-US" dirty="0"/>
              <a:t> da </a:t>
            </a:r>
            <a:r>
              <a:rPr lang="en-US" dirty="0" err="1"/>
              <a:t>algoritam</a:t>
            </a:r>
            <a:r>
              <a:rPr lang="en-US" dirty="0"/>
              <a:t> </a:t>
            </a:r>
            <a:r>
              <a:rPr lang="en-US" dirty="0" err="1"/>
              <a:t>zauvek</a:t>
            </a:r>
            <a:r>
              <a:rPr lang="en-US" dirty="0"/>
              <a:t> </a:t>
            </a:r>
            <a:r>
              <a:rPr lang="en-US" dirty="0" err="1"/>
              <a:t>čeka</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ANALIZA KROZ PSEUDOKOD</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Sinteza: jedna runda od pocetka do kraja</a:t>
            </a:r>
            <a:endParaRPr lang="en-US" sz="3000" dirty="0"/>
          </a:p>
        </p:txBody>
      </p:sp>
      <p:sp>
        <p:nvSpPr>
          <p:cNvPr id="4" name="Shape 2"/>
          <p:cNvSpPr/>
          <p:nvPr/>
        </p:nvSpPr>
        <p:spPr>
          <a:xfrm>
            <a:off x="548640" y="1783080"/>
            <a:ext cx="2377440" cy="2331720"/>
          </a:xfrm>
          <a:prstGeom prst="roundRect">
            <a:avLst>
              <a:gd name="adj" fmla="val 3922"/>
            </a:avLst>
          </a:prstGeom>
          <a:solidFill>
            <a:srgbClr val="FFFFFF"/>
          </a:solidFill>
          <a:ln/>
          <a:effectLst>
            <a:outerShdw blurRad="114300" dist="38100" dir="5400000" algn="bl" rotWithShape="0">
              <a:srgbClr val="0B1A2E">
                <a:alpha val="13000"/>
              </a:srgbClr>
            </a:outerShdw>
          </a:effectLst>
        </p:spPr>
      </p:sp>
      <p:sp>
        <p:nvSpPr>
          <p:cNvPr id="5" name="Shape 3"/>
          <p:cNvSpPr/>
          <p:nvPr/>
        </p:nvSpPr>
        <p:spPr>
          <a:xfrm>
            <a:off x="1444752" y="1984248"/>
            <a:ext cx="585216" cy="585216"/>
          </a:xfrm>
          <a:prstGeom prst="ellipse">
            <a:avLst/>
          </a:prstGeom>
          <a:solidFill>
            <a:srgbClr val="0D9488"/>
          </a:solidFill>
          <a:ln/>
          <a:effectLst>
            <a:outerShdw blurRad="88900" dist="25400" dir="5400000" algn="bl" rotWithShape="0">
              <a:srgbClr val="0B1A2E">
                <a:alpha val="16000"/>
              </a:srgbClr>
            </a:outerShdw>
          </a:effectLst>
        </p:spPr>
      </p:sp>
      <p:sp>
        <p:nvSpPr>
          <p:cNvPr id="6" name="Text 4"/>
          <p:cNvSpPr/>
          <p:nvPr/>
        </p:nvSpPr>
        <p:spPr>
          <a:xfrm>
            <a:off x="1444752" y="1984248"/>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685800" y="2697480"/>
            <a:ext cx="2103120" cy="365760"/>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PROPOSE</a:t>
            </a:r>
            <a:endParaRPr lang="en-US" sz="1500" dirty="0"/>
          </a:p>
        </p:txBody>
      </p:sp>
      <p:sp>
        <p:nvSpPr>
          <p:cNvPr id="8" name="Text 6"/>
          <p:cNvSpPr/>
          <p:nvPr/>
        </p:nvSpPr>
        <p:spPr>
          <a:xfrm>
            <a:off x="713232" y="3081528"/>
            <a:ext cx="2048256" cy="713232"/>
          </a:xfrm>
          <a:prstGeom prst="rect">
            <a:avLst/>
          </a:prstGeom>
          <a:noFill/>
          <a:ln/>
        </p:spPr>
        <p:txBody>
          <a:bodyPr wrap="square" lIns="0" tIns="0" rIns="0" bIns="0" rtlCol="0" anchor="ctr"/>
          <a:lstStyle/>
          <a:p>
            <a:pPr marL="0" indent="0" algn="ctr">
              <a:lnSpc>
                <a:spcPct val="98000"/>
              </a:lnSpc>
              <a:buNone/>
            </a:pPr>
            <a:r>
              <a:rPr lang="en-US" sz="1000" dirty="0">
                <a:solidFill>
                  <a:srgbClr val="44556A"/>
                </a:solidFill>
                <a:latin typeface="Calibri" pitchFamily="34" charset="0"/>
                <a:ea typeface="Calibri" pitchFamily="34" charset="-122"/>
                <a:cs typeface="Calibri" pitchFamily="34" charset="-120"/>
              </a:rPr>
              <a:t>(A) predlagac salje PROPOSAL(v).</a:t>
            </a:r>
            <a:endParaRPr lang="en-US" sz="1000" dirty="0"/>
          </a:p>
        </p:txBody>
      </p:sp>
      <p:sp>
        <p:nvSpPr>
          <p:cNvPr id="9" name="Shape 7"/>
          <p:cNvSpPr/>
          <p:nvPr/>
        </p:nvSpPr>
        <p:spPr>
          <a:xfrm>
            <a:off x="777240" y="3730752"/>
            <a:ext cx="1920240" cy="310896"/>
          </a:xfrm>
          <a:prstGeom prst="roundRect">
            <a:avLst>
              <a:gd name="adj" fmla="val 50000"/>
            </a:avLst>
          </a:prstGeom>
          <a:solidFill>
            <a:srgbClr val="EFFAF8"/>
          </a:solidFill>
          <a:ln/>
        </p:spPr>
      </p:sp>
      <p:sp>
        <p:nvSpPr>
          <p:cNvPr id="10" name="Text 8"/>
          <p:cNvSpPr/>
          <p:nvPr/>
        </p:nvSpPr>
        <p:spPr>
          <a:xfrm>
            <a:off x="777240" y="3721608"/>
            <a:ext cx="192024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svi vide predlog</a:t>
            </a:r>
            <a:endParaRPr lang="en-US" sz="950" dirty="0"/>
          </a:p>
        </p:txBody>
      </p:sp>
      <p:pic>
        <p:nvPicPr>
          <p:cNvPr id="11" name="Image 0" descr="preencoded.png"/>
          <p:cNvPicPr>
            <a:picLocks noChangeAspect="1"/>
          </p:cNvPicPr>
          <p:nvPr/>
        </p:nvPicPr>
        <p:blipFill>
          <a:blip r:embed="rId3"/>
          <a:stretch>
            <a:fillRect/>
          </a:stretch>
        </p:blipFill>
        <p:spPr>
          <a:xfrm>
            <a:off x="3008376" y="2802636"/>
            <a:ext cx="292608" cy="292608"/>
          </a:xfrm>
          <a:prstGeom prst="rect">
            <a:avLst/>
          </a:prstGeom>
        </p:spPr>
      </p:pic>
      <p:sp>
        <p:nvSpPr>
          <p:cNvPr id="12" name="Shape 9"/>
          <p:cNvSpPr/>
          <p:nvPr/>
        </p:nvSpPr>
        <p:spPr>
          <a:xfrm>
            <a:off x="3383280" y="1783080"/>
            <a:ext cx="2377440" cy="2331720"/>
          </a:xfrm>
          <a:prstGeom prst="roundRect">
            <a:avLst>
              <a:gd name="adj" fmla="val 3922"/>
            </a:avLst>
          </a:prstGeom>
          <a:solidFill>
            <a:srgbClr val="FFFFFF"/>
          </a:solidFill>
          <a:ln/>
          <a:effectLst>
            <a:outerShdw blurRad="114300" dist="38100" dir="5400000" algn="bl" rotWithShape="0">
              <a:srgbClr val="0B1A2E">
                <a:alpha val="13000"/>
              </a:srgbClr>
            </a:outerShdw>
          </a:effectLst>
        </p:spPr>
      </p:sp>
      <p:sp>
        <p:nvSpPr>
          <p:cNvPr id="13" name="Shape 10"/>
          <p:cNvSpPr/>
          <p:nvPr/>
        </p:nvSpPr>
        <p:spPr>
          <a:xfrm>
            <a:off x="4279392" y="1984248"/>
            <a:ext cx="585216" cy="585216"/>
          </a:xfrm>
          <a:prstGeom prst="ellipse">
            <a:avLst/>
          </a:prstGeom>
          <a:solidFill>
            <a:srgbClr val="1E466E"/>
          </a:solidFill>
          <a:ln/>
          <a:effectLst>
            <a:outerShdw blurRad="88900" dist="25400" dir="5400000" algn="bl" rotWithShape="0">
              <a:srgbClr val="0B1A2E">
                <a:alpha val="16000"/>
              </a:srgbClr>
            </a:outerShdw>
          </a:effectLst>
        </p:spPr>
      </p:sp>
      <p:sp>
        <p:nvSpPr>
          <p:cNvPr id="14" name="Text 11"/>
          <p:cNvSpPr/>
          <p:nvPr/>
        </p:nvSpPr>
        <p:spPr>
          <a:xfrm>
            <a:off x="4279392" y="1984248"/>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5" name="Text 12"/>
          <p:cNvSpPr/>
          <p:nvPr/>
        </p:nvSpPr>
        <p:spPr>
          <a:xfrm>
            <a:off x="3520440" y="2697480"/>
            <a:ext cx="2103120" cy="365760"/>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PREVOTE</a:t>
            </a:r>
            <a:endParaRPr lang="en-US" sz="1500" dirty="0"/>
          </a:p>
        </p:txBody>
      </p:sp>
      <p:sp>
        <p:nvSpPr>
          <p:cNvPr id="16" name="Text 13"/>
          <p:cNvSpPr/>
          <p:nvPr/>
        </p:nvSpPr>
        <p:spPr>
          <a:xfrm>
            <a:off x="3547872" y="3081528"/>
            <a:ext cx="2048256" cy="713232"/>
          </a:xfrm>
          <a:prstGeom prst="rect">
            <a:avLst/>
          </a:prstGeom>
          <a:noFill/>
          <a:ln/>
        </p:spPr>
        <p:txBody>
          <a:bodyPr wrap="square" lIns="0" tIns="0" rIns="0" bIns="0" rtlCol="0" anchor="ctr"/>
          <a:lstStyle/>
          <a:p>
            <a:pPr marL="0" indent="0" algn="ctr">
              <a:lnSpc>
                <a:spcPct val="98000"/>
              </a:lnSpc>
              <a:buNone/>
            </a:pPr>
            <a:r>
              <a:rPr lang="en-US" sz="1000" dirty="0">
                <a:solidFill>
                  <a:srgbClr val="44556A"/>
                </a:solidFill>
                <a:latin typeface="Calibri" pitchFamily="34" charset="0"/>
                <a:ea typeface="Calibri" pitchFamily="34" charset="-122"/>
                <a:cs typeface="Calibri" pitchFamily="34" charset="-120"/>
              </a:rPr>
              <a:t>(B) glasas PREVOTE(id(v)). 2f+1 → (D) ZAKLJUCAS i salji PRECOMMIT.</a:t>
            </a:r>
            <a:endParaRPr lang="en-US" sz="1000" dirty="0"/>
          </a:p>
        </p:txBody>
      </p:sp>
      <p:sp>
        <p:nvSpPr>
          <p:cNvPr id="17" name="Shape 14"/>
          <p:cNvSpPr/>
          <p:nvPr/>
        </p:nvSpPr>
        <p:spPr>
          <a:xfrm>
            <a:off x="3611880" y="3730752"/>
            <a:ext cx="1920240" cy="310896"/>
          </a:xfrm>
          <a:prstGeom prst="roundRect">
            <a:avLst>
              <a:gd name="adj" fmla="val 50000"/>
            </a:avLst>
          </a:prstGeom>
          <a:solidFill>
            <a:srgbClr val="EFFAF8"/>
          </a:solidFill>
          <a:ln/>
        </p:spPr>
      </p:sp>
      <p:sp>
        <p:nvSpPr>
          <p:cNvPr id="18" name="Text 15"/>
          <p:cNvSpPr/>
          <p:nvPr/>
        </p:nvSpPr>
        <p:spPr>
          <a:xfrm>
            <a:off x="3611880" y="3721608"/>
            <a:ext cx="192024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lock + validValue=v</a:t>
            </a:r>
            <a:endParaRPr lang="en-US" sz="950" dirty="0"/>
          </a:p>
        </p:txBody>
      </p:sp>
      <p:pic>
        <p:nvPicPr>
          <p:cNvPr id="19" name="Image 1" descr="preencoded.png"/>
          <p:cNvPicPr>
            <a:picLocks noChangeAspect="1"/>
          </p:cNvPicPr>
          <p:nvPr/>
        </p:nvPicPr>
        <p:blipFill>
          <a:blip r:embed="rId3"/>
          <a:stretch>
            <a:fillRect/>
          </a:stretch>
        </p:blipFill>
        <p:spPr>
          <a:xfrm>
            <a:off x="5843016" y="2802636"/>
            <a:ext cx="292608" cy="292608"/>
          </a:xfrm>
          <a:prstGeom prst="rect">
            <a:avLst/>
          </a:prstGeom>
        </p:spPr>
      </p:pic>
      <p:sp>
        <p:nvSpPr>
          <p:cNvPr id="20" name="Shape 16"/>
          <p:cNvSpPr/>
          <p:nvPr/>
        </p:nvSpPr>
        <p:spPr>
          <a:xfrm>
            <a:off x="6217920" y="1783080"/>
            <a:ext cx="2377440" cy="2331720"/>
          </a:xfrm>
          <a:prstGeom prst="roundRect">
            <a:avLst>
              <a:gd name="adj" fmla="val 3922"/>
            </a:avLst>
          </a:prstGeom>
          <a:solidFill>
            <a:srgbClr val="FFFFFF"/>
          </a:solidFill>
          <a:ln/>
          <a:effectLst>
            <a:outerShdw blurRad="114300" dist="38100" dir="5400000" algn="bl" rotWithShape="0">
              <a:srgbClr val="0B1A2E">
                <a:alpha val="13000"/>
              </a:srgbClr>
            </a:outerShdw>
          </a:effectLst>
        </p:spPr>
      </p:sp>
      <p:sp>
        <p:nvSpPr>
          <p:cNvPr id="21" name="Shape 17"/>
          <p:cNvSpPr/>
          <p:nvPr/>
        </p:nvSpPr>
        <p:spPr>
          <a:xfrm>
            <a:off x="7114032" y="1984248"/>
            <a:ext cx="585216" cy="585216"/>
          </a:xfrm>
          <a:prstGeom prst="ellipse">
            <a:avLst/>
          </a:prstGeom>
          <a:solidFill>
            <a:srgbClr val="0E2A47"/>
          </a:solidFill>
          <a:ln/>
          <a:effectLst>
            <a:outerShdw blurRad="88900" dist="25400" dir="5400000" algn="bl" rotWithShape="0">
              <a:srgbClr val="0B1A2E">
                <a:alpha val="16000"/>
              </a:srgbClr>
            </a:outerShdw>
          </a:effectLst>
        </p:spPr>
      </p:sp>
      <p:sp>
        <p:nvSpPr>
          <p:cNvPr id="22" name="Text 18"/>
          <p:cNvSpPr/>
          <p:nvPr/>
        </p:nvSpPr>
        <p:spPr>
          <a:xfrm>
            <a:off x="7114032" y="1984248"/>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3" name="Text 19"/>
          <p:cNvSpPr/>
          <p:nvPr/>
        </p:nvSpPr>
        <p:spPr>
          <a:xfrm>
            <a:off x="6355080" y="2697480"/>
            <a:ext cx="2103120" cy="365760"/>
          </a:xfrm>
          <a:prstGeom prst="rect">
            <a:avLst/>
          </a:prstGeom>
          <a:noFill/>
          <a:ln/>
        </p:spPr>
        <p:txBody>
          <a:bodyPr wrap="square" lIns="0" tIns="0" rIns="0" bIns="0" rtlCol="0" anchor="ctr"/>
          <a:lstStyle/>
          <a:p>
            <a:pPr marL="0" indent="0" algn="ctr">
              <a:buNone/>
            </a:pPr>
            <a:r>
              <a:rPr lang="en-US" sz="1500" b="1" dirty="0">
                <a:solidFill>
                  <a:srgbClr val="0E2138"/>
                </a:solidFill>
                <a:latin typeface="Cambria" pitchFamily="34" charset="0"/>
                <a:ea typeface="Cambria" pitchFamily="34" charset="-122"/>
                <a:cs typeface="Cambria" pitchFamily="34" charset="-120"/>
              </a:rPr>
              <a:t>PRECOMMIT</a:t>
            </a:r>
            <a:endParaRPr lang="en-US" sz="1500" dirty="0"/>
          </a:p>
        </p:txBody>
      </p:sp>
      <p:sp>
        <p:nvSpPr>
          <p:cNvPr id="24" name="Text 20"/>
          <p:cNvSpPr/>
          <p:nvPr/>
        </p:nvSpPr>
        <p:spPr>
          <a:xfrm>
            <a:off x="6382512" y="3081528"/>
            <a:ext cx="2048256" cy="713232"/>
          </a:xfrm>
          <a:prstGeom prst="rect">
            <a:avLst/>
          </a:prstGeom>
          <a:noFill/>
          <a:ln/>
        </p:spPr>
        <p:txBody>
          <a:bodyPr wrap="square" lIns="0" tIns="0" rIns="0" bIns="0" rtlCol="0" anchor="ctr"/>
          <a:lstStyle/>
          <a:p>
            <a:pPr marL="0" indent="0" algn="ctr">
              <a:lnSpc>
                <a:spcPct val="98000"/>
              </a:lnSpc>
              <a:buNone/>
            </a:pPr>
            <a:r>
              <a:rPr lang="en-US" sz="1000" dirty="0">
                <a:solidFill>
                  <a:srgbClr val="44556A"/>
                </a:solidFill>
                <a:latin typeface="Calibri" pitchFamily="34" charset="0"/>
                <a:ea typeface="Calibri" pitchFamily="34" charset="-122"/>
                <a:cs typeface="Calibri" pitchFamily="34" charset="-120"/>
              </a:rPr>
              <a:t>(G) 2f+1 PRECOMMIT za id(v) → ODLUCI.</a:t>
            </a:r>
            <a:endParaRPr lang="en-US" sz="1000" dirty="0"/>
          </a:p>
        </p:txBody>
      </p:sp>
      <p:sp>
        <p:nvSpPr>
          <p:cNvPr id="25" name="Shape 21"/>
          <p:cNvSpPr/>
          <p:nvPr/>
        </p:nvSpPr>
        <p:spPr>
          <a:xfrm>
            <a:off x="6446520" y="3730752"/>
            <a:ext cx="1920240" cy="310896"/>
          </a:xfrm>
          <a:prstGeom prst="roundRect">
            <a:avLst>
              <a:gd name="adj" fmla="val 50000"/>
            </a:avLst>
          </a:prstGeom>
          <a:solidFill>
            <a:srgbClr val="EFFAF8"/>
          </a:solidFill>
          <a:ln/>
        </p:spPr>
      </p:sp>
      <p:sp>
        <p:nvSpPr>
          <p:cNvPr id="26" name="Text 22"/>
          <p:cNvSpPr/>
          <p:nvPr/>
        </p:nvSpPr>
        <p:spPr>
          <a:xfrm>
            <a:off x="6446520" y="3721608"/>
            <a:ext cx="1920240" cy="329184"/>
          </a:xfrm>
          <a:prstGeom prst="rect">
            <a:avLst/>
          </a:prstGeom>
          <a:noFill/>
          <a:ln/>
        </p:spPr>
        <p:txBody>
          <a:bodyPr wrap="square" lIns="0" tIns="0" rIns="0" bIns="0" rtlCol="0" anchor="ctr"/>
          <a:lstStyle/>
          <a:p>
            <a:pPr marL="0" indent="0" algn="ctr">
              <a:buNone/>
            </a:pPr>
            <a:r>
              <a:rPr lang="en-US" sz="950" b="1" dirty="0">
                <a:solidFill>
                  <a:srgbClr val="0D9488"/>
                </a:solidFill>
                <a:latin typeface="Calibri" pitchFamily="34" charset="0"/>
                <a:ea typeface="Calibri" pitchFamily="34" charset="-122"/>
                <a:cs typeface="Calibri" pitchFamily="34" charset="-120"/>
              </a:rPr>
              <a:t>odluka donesena!</a:t>
            </a:r>
            <a:endParaRPr lang="en-US" sz="950" dirty="0"/>
          </a:p>
        </p:txBody>
      </p:sp>
      <p:sp>
        <p:nvSpPr>
          <p:cNvPr id="27" name="Text 23"/>
          <p:cNvSpPr/>
          <p:nvPr/>
        </p:nvSpPr>
        <p:spPr>
          <a:xfrm>
            <a:off x="502920" y="4389120"/>
            <a:ext cx="8138160" cy="457200"/>
          </a:xfrm>
          <a:prstGeom prst="rect">
            <a:avLst/>
          </a:prstGeom>
          <a:noFill/>
          <a:ln/>
        </p:spPr>
        <p:txBody>
          <a:bodyPr wrap="square" lIns="0" tIns="0" rIns="0" bIns="0" rtlCol="0" anchor="ctr"/>
          <a:lstStyle/>
          <a:p>
            <a:pPr marL="0" indent="0" algn="ctr">
              <a:lnSpc>
                <a:spcPct val="95000"/>
              </a:lnSpc>
              <a:buNone/>
            </a:pPr>
            <a:r>
              <a:rPr lang="en-US" sz="1150" i="1" dirty="0">
                <a:solidFill>
                  <a:srgbClr val="6B7C93"/>
                </a:solidFill>
                <a:latin typeface="Calibri" pitchFamily="34" charset="0"/>
                <a:ea typeface="Calibri" pitchFamily="34" charset="-122"/>
                <a:cs typeface="Calibri" pitchFamily="34" charset="-120"/>
              </a:rPr>
              <a:t>Ako bilo gde nema 2f+1 → tajmaut (I) → PREVOTE/PRECOMMIT nil → sledeca runda (novi predlagac).</a:t>
            </a:r>
            <a:endParaRPr lang="en-US" sz="1150" dirty="0"/>
          </a:p>
        </p:txBody>
      </p:sp>
      <p:sp>
        <p:nvSpPr>
          <p:cNvPr id="29" name="Text 24"/>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17</a:t>
            </a:r>
            <a:endParaRPr lang="en-US" sz="900" dirty="0"/>
          </a:p>
        </p:txBody>
      </p:sp>
      <p:sp>
        <p:nvSpPr>
          <p:cNvPr id="30" name="Text 25"/>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Analiza kroz pseudokod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OSOBINE ALGORITMA</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Dve klase: bezbednost i zivost</a:t>
            </a:r>
            <a:endParaRPr lang="en-US" sz="3000" dirty="0"/>
          </a:p>
        </p:txBody>
      </p:sp>
      <p:sp>
        <p:nvSpPr>
          <p:cNvPr id="4" name="Shape 2"/>
          <p:cNvSpPr/>
          <p:nvPr/>
        </p:nvSpPr>
        <p:spPr>
          <a:xfrm>
            <a:off x="472395" y="1605579"/>
            <a:ext cx="3977640" cy="2697480"/>
          </a:xfrm>
          <a:prstGeom prst="roundRect">
            <a:avLst>
              <a:gd name="adj" fmla="val 3390"/>
            </a:avLst>
          </a:prstGeom>
          <a:solidFill>
            <a:srgbClr val="0E2A47"/>
          </a:solidFill>
          <a:ln/>
          <a:effectLst>
            <a:outerShdw blurRad="114300" dist="38100" dir="5400000" algn="bl" rotWithShape="0">
              <a:srgbClr val="0B1A2E">
                <a:alpha val="13000"/>
              </a:srgbClr>
            </a:outerShdw>
          </a:effectLst>
        </p:spPr>
      </p:sp>
      <p:sp>
        <p:nvSpPr>
          <p:cNvPr id="5" name="Shape 3"/>
          <p:cNvSpPr/>
          <p:nvPr/>
        </p:nvSpPr>
        <p:spPr>
          <a:xfrm>
            <a:off x="731520" y="1828800"/>
            <a:ext cx="566928" cy="566928"/>
          </a:xfrm>
          <a:prstGeom prst="ellipse">
            <a:avLst/>
          </a:prstGeom>
          <a:solidFill>
            <a:srgbClr val="16BFA6"/>
          </a:solidFill>
          <a:ln/>
          <a:effectLst>
            <a:outerShdw blurRad="88900" dist="25400" dir="5400000" algn="bl" rotWithShape="0">
              <a:srgbClr val="0B1A2E">
                <a:alpha val="16000"/>
              </a:srgbClr>
            </a:outerShdw>
          </a:effectLst>
        </p:spPr>
      </p:sp>
      <p:pic>
        <p:nvPicPr>
          <p:cNvPr id="6" name="Image 0" descr="preencoded.png"/>
          <p:cNvPicPr>
            <a:picLocks noChangeAspect="1"/>
          </p:cNvPicPr>
          <p:nvPr/>
        </p:nvPicPr>
        <p:blipFill>
          <a:blip r:embed="rId3"/>
          <a:stretch>
            <a:fillRect/>
          </a:stretch>
        </p:blipFill>
        <p:spPr>
          <a:xfrm>
            <a:off x="873252" y="1970532"/>
            <a:ext cx="283464" cy="283464"/>
          </a:xfrm>
          <a:prstGeom prst="rect">
            <a:avLst/>
          </a:prstGeom>
        </p:spPr>
      </p:pic>
      <p:sp>
        <p:nvSpPr>
          <p:cNvPr id="7" name="Text 4"/>
          <p:cNvSpPr/>
          <p:nvPr/>
        </p:nvSpPr>
        <p:spPr>
          <a:xfrm>
            <a:off x="1463040" y="1856232"/>
            <a:ext cx="283464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Bezbednost (safety)</a:t>
            </a:r>
            <a:endParaRPr lang="en-US" sz="1600" dirty="0"/>
          </a:p>
        </p:txBody>
      </p:sp>
      <p:sp>
        <p:nvSpPr>
          <p:cNvPr id="8" name="Text 5"/>
          <p:cNvSpPr/>
          <p:nvPr/>
        </p:nvSpPr>
        <p:spPr>
          <a:xfrm>
            <a:off x="1531620" y="2140503"/>
            <a:ext cx="3566160" cy="320040"/>
          </a:xfrm>
          <a:prstGeom prst="rect">
            <a:avLst/>
          </a:prstGeom>
          <a:noFill/>
          <a:ln/>
        </p:spPr>
        <p:txBody>
          <a:bodyPr wrap="square" lIns="0" tIns="0" rIns="0" bIns="0" rtlCol="0" anchor="ctr"/>
          <a:lstStyle/>
          <a:p>
            <a:pPr marL="0" indent="0">
              <a:buNone/>
            </a:pPr>
            <a:r>
              <a:rPr lang="en-US" sz="1200" i="1" dirty="0">
                <a:solidFill>
                  <a:srgbClr val="5EEAD4"/>
                </a:solidFill>
                <a:latin typeface="Calibri" pitchFamily="34" charset="0"/>
                <a:ea typeface="Calibri" pitchFamily="34" charset="-122"/>
                <a:cs typeface="Calibri" pitchFamily="34" charset="-120"/>
              </a:rPr>
              <a:t>'Nista lose se NIKAD ne desi.'</a:t>
            </a:r>
            <a:endParaRPr lang="en-US" sz="1200" dirty="0"/>
          </a:p>
        </p:txBody>
      </p:sp>
      <p:sp>
        <p:nvSpPr>
          <p:cNvPr id="9" name="Text 6"/>
          <p:cNvSpPr/>
          <p:nvPr/>
        </p:nvSpPr>
        <p:spPr>
          <a:xfrm>
            <a:off x="558994" y="2695732"/>
            <a:ext cx="3804442" cy="1181458"/>
          </a:xfrm>
          <a:prstGeom prst="rect">
            <a:avLst/>
          </a:prstGeom>
          <a:noFill/>
          <a:ln/>
        </p:spPr>
        <p:txBody>
          <a:bodyPr wrap="square" lIns="0" tIns="0" rIns="0" bIns="0" rtlCol="0" anchor="ctr"/>
          <a:lstStyle/>
          <a:p>
            <a:pPr marL="0" indent="0">
              <a:lnSpc>
                <a:spcPct val="105000"/>
              </a:lnSpc>
              <a:spcAft>
                <a:spcPts val="400"/>
              </a:spcAft>
              <a:buNone/>
            </a:pPr>
            <a:r>
              <a:rPr lang="en-US" sz="1200" dirty="0">
                <a:solidFill>
                  <a:srgbClr val="FFFFFF"/>
                </a:solidFill>
                <a:latin typeface="Calibri" pitchFamily="34" charset="0"/>
                <a:ea typeface="Calibri" pitchFamily="34" charset="-122"/>
                <a:cs typeface="Calibri" pitchFamily="34" charset="-120"/>
              </a:rPr>
              <a:t>•  Saglasnost  (Agreement) da se </a:t>
            </a:r>
            <a:r>
              <a:rPr lang="en-US" sz="1200" dirty="0" err="1">
                <a:solidFill>
                  <a:srgbClr val="FFFFFF"/>
                </a:solidFill>
                <a:latin typeface="Calibri" pitchFamily="34" charset="0"/>
                <a:ea typeface="Calibri" pitchFamily="34" charset="-122"/>
                <a:cs typeface="Calibri" pitchFamily="34" charset="-120"/>
              </a:rPr>
              <a:t>dva</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postena</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nikad</a:t>
            </a:r>
            <a:r>
              <a:rPr lang="en-US" sz="1200" dirty="0">
                <a:solidFill>
                  <a:srgbClr val="FFFFFF"/>
                </a:solidFill>
                <a:latin typeface="Calibri" pitchFamily="34" charset="0"/>
                <a:ea typeface="Calibri" pitchFamily="34" charset="-122"/>
                <a:cs typeface="Calibri" pitchFamily="34" charset="-120"/>
              </a:rPr>
              <a:t> ne </a:t>
            </a:r>
            <a:r>
              <a:rPr lang="en-US" sz="1200" dirty="0" err="1">
                <a:solidFill>
                  <a:srgbClr val="FFFFFF"/>
                </a:solidFill>
                <a:latin typeface="Calibri" pitchFamily="34" charset="0"/>
                <a:ea typeface="Calibri" pitchFamily="34" charset="-122"/>
                <a:cs typeface="Calibri" pitchFamily="34" charset="-120"/>
              </a:rPr>
              <a:t>razidu</a:t>
            </a:r>
            <a:r>
              <a:rPr lang="en-US" sz="1200" dirty="0">
                <a:solidFill>
                  <a:srgbClr val="FFFFFF"/>
                </a:solidFill>
                <a:latin typeface="Calibri" pitchFamily="34" charset="0"/>
                <a:ea typeface="Calibri" pitchFamily="34" charset="-122"/>
                <a:cs typeface="Calibri" pitchFamily="34" charset="-120"/>
              </a:rPr>
              <a:t> u </a:t>
            </a:r>
            <a:r>
              <a:rPr lang="en-US" sz="1200" dirty="0" err="1">
                <a:solidFill>
                  <a:srgbClr val="FFFFFF"/>
                </a:solidFill>
                <a:latin typeface="Calibri" pitchFamily="34" charset="0"/>
                <a:ea typeface="Calibri" pitchFamily="34" charset="-122"/>
                <a:cs typeface="Calibri" pitchFamily="34" charset="-120"/>
              </a:rPr>
              <a:t>odluci</a:t>
            </a:r>
            <a:r>
              <a:rPr lang="en-US" sz="1200" dirty="0">
                <a:solidFill>
                  <a:srgbClr val="FFFFFF"/>
                </a:solidFill>
                <a:latin typeface="Calibri" pitchFamily="34" charset="0"/>
                <a:ea typeface="Calibri" pitchFamily="34" charset="-122"/>
                <a:cs typeface="Calibri" pitchFamily="34" charset="-120"/>
              </a:rPr>
              <a:t>
</a:t>
            </a:r>
            <a:endParaRPr lang="en-US" sz="1200" dirty="0"/>
          </a:p>
          <a:p>
            <a:pPr marL="0" indent="0">
              <a:lnSpc>
                <a:spcPct val="105000"/>
              </a:lnSpc>
              <a:spcAft>
                <a:spcPts val="400"/>
              </a:spcAft>
              <a:buNone/>
            </a:pPr>
            <a:r>
              <a:rPr lang="en-US" sz="1200" dirty="0">
                <a:solidFill>
                  <a:srgbClr val="FFFFFF"/>
                </a:solidFill>
                <a:latin typeface="Calibri" pitchFamily="34" charset="0"/>
                <a:ea typeface="Calibri" pitchFamily="34" charset="-122"/>
                <a:cs typeface="Calibri" pitchFamily="34" charset="-120"/>
              </a:rPr>
              <a:t>•  Validnost  (Validity) - da je </a:t>
            </a:r>
            <a:r>
              <a:rPr lang="en-US" sz="1200" dirty="0" err="1">
                <a:solidFill>
                  <a:srgbClr val="FFFFFF"/>
                </a:solidFill>
                <a:latin typeface="Calibri" pitchFamily="34" charset="0"/>
                <a:ea typeface="Calibri" pitchFamily="34" charset="-122"/>
                <a:cs typeface="Calibri" pitchFamily="34" charset="-120"/>
              </a:rPr>
              <a:t>odluceno</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uvek</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nesto</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ispravno</a:t>
            </a:r>
            <a:r>
              <a:rPr lang="en-US" sz="1200" dirty="0">
                <a:solidFill>
                  <a:srgbClr val="FFFFFF"/>
                </a:solidFill>
                <a:latin typeface="Calibri" pitchFamily="34" charset="0"/>
                <a:ea typeface="Calibri" pitchFamily="34" charset="-122"/>
                <a:cs typeface="Calibri" pitchFamily="34" charset="-120"/>
              </a:rPr>
              <a:t>
</a:t>
            </a:r>
            <a:endParaRPr lang="en-US" sz="1200" dirty="0"/>
          </a:p>
          <a:p>
            <a:pPr marL="0" indent="0">
              <a:lnSpc>
                <a:spcPct val="105000"/>
              </a:lnSpc>
              <a:buNone/>
            </a:pPr>
            <a:r>
              <a:rPr lang="en-US" sz="1200" b="1" dirty="0">
                <a:solidFill>
                  <a:srgbClr val="5EEAD4"/>
                </a:solidFill>
                <a:latin typeface="Calibri" pitchFamily="34" charset="0"/>
                <a:ea typeface="Calibri" pitchFamily="34" charset="-122"/>
                <a:cs typeface="Calibri" pitchFamily="34" charset="-120"/>
              </a:rPr>
              <a:t>Vazi UVEK — cak i pre GST, u potpunom mreznom haosu.</a:t>
            </a:r>
            <a:endParaRPr lang="en-US" sz="1200" dirty="0"/>
          </a:p>
        </p:txBody>
      </p:sp>
      <p:sp>
        <p:nvSpPr>
          <p:cNvPr id="10" name="Shape 7"/>
          <p:cNvSpPr/>
          <p:nvPr/>
        </p:nvSpPr>
        <p:spPr>
          <a:xfrm>
            <a:off x="4686300" y="1600200"/>
            <a:ext cx="3977640" cy="2697480"/>
          </a:xfrm>
          <a:prstGeom prst="roundRect">
            <a:avLst>
              <a:gd name="adj" fmla="val 3390"/>
            </a:avLst>
          </a:prstGeom>
          <a:solidFill>
            <a:srgbClr val="FFFFFF"/>
          </a:solidFill>
          <a:ln/>
          <a:effectLst>
            <a:outerShdw blurRad="114300" dist="38100" dir="5400000" algn="bl" rotWithShape="0">
              <a:srgbClr val="0B1A2E">
                <a:alpha val="13000"/>
              </a:srgbClr>
            </a:outerShdw>
          </a:effectLst>
        </p:spPr>
      </p:sp>
      <p:sp>
        <p:nvSpPr>
          <p:cNvPr id="11" name="Shape 8"/>
          <p:cNvSpPr/>
          <p:nvPr/>
        </p:nvSpPr>
        <p:spPr>
          <a:xfrm>
            <a:off x="4892040" y="1828800"/>
            <a:ext cx="566928" cy="566928"/>
          </a:xfrm>
          <a:prstGeom prst="ellipse">
            <a:avLst/>
          </a:prstGeom>
          <a:solidFill>
            <a:srgbClr val="C9772A"/>
          </a:solidFill>
          <a:ln/>
          <a:effectLst>
            <a:outerShdw blurRad="88900" dist="25400" dir="5400000" algn="bl" rotWithShape="0">
              <a:srgbClr val="0B1A2E">
                <a:alpha val="16000"/>
              </a:srgbClr>
            </a:outerShdw>
          </a:effectLst>
        </p:spPr>
      </p:sp>
      <p:pic>
        <p:nvPicPr>
          <p:cNvPr id="12" name="Image 1" descr="preencoded.png"/>
          <p:cNvPicPr>
            <a:picLocks noChangeAspect="1"/>
          </p:cNvPicPr>
          <p:nvPr/>
        </p:nvPicPr>
        <p:blipFill>
          <a:blip r:embed="rId4"/>
          <a:stretch>
            <a:fillRect/>
          </a:stretch>
        </p:blipFill>
        <p:spPr>
          <a:xfrm>
            <a:off x="5033772" y="1970532"/>
            <a:ext cx="283464" cy="283464"/>
          </a:xfrm>
          <a:prstGeom prst="rect">
            <a:avLst/>
          </a:prstGeom>
        </p:spPr>
      </p:pic>
      <p:sp>
        <p:nvSpPr>
          <p:cNvPr id="13" name="Text 9"/>
          <p:cNvSpPr/>
          <p:nvPr/>
        </p:nvSpPr>
        <p:spPr>
          <a:xfrm>
            <a:off x="5623560" y="1856232"/>
            <a:ext cx="2834640" cy="502920"/>
          </a:xfrm>
          <a:prstGeom prst="rect">
            <a:avLst/>
          </a:prstGeom>
          <a:noFill/>
          <a:ln/>
        </p:spPr>
        <p:txBody>
          <a:bodyPr wrap="square" lIns="0" tIns="0" rIns="0" bIns="0" rtlCol="0" anchor="ctr"/>
          <a:lstStyle/>
          <a:p>
            <a:pPr marL="0" indent="0">
              <a:buNone/>
            </a:pPr>
            <a:r>
              <a:rPr lang="en-US" sz="1600" b="1" dirty="0">
                <a:solidFill>
                  <a:srgbClr val="0E2138"/>
                </a:solidFill>
                <a:latin typeface="Cambria" pitchFamily="34" charset="0"/>
                <a:ea typeface="Cambria" pitchFamily="34" charset="-122"/>
                <a:cs typeface="Cambria" pitchFamily="34" charset="-120"/>
              </a:rPr>
              <a:t>Zivost (liveness)</a:t>
            </a:r>
            <a:endParaRPr lang="en-US" sz="1600" dirty="0"/>
          </a:p>
        </p:txBody>
      </p:sp>
      <p:sp>
        <p:nvSpPr>
          <p:cNvPr id="14" name="Text 10"/>
          <p:cNvSpPr/>
          <p:nvPr/>
        </p:nvSpPr>
        <p:spPr>
          <a:xfrm>
            <a:off x="5577840" y="2144268"/>
            <a:ext cx="3566160" cy="320040"/>
          </a:xfrm>
          <a:prstGeom prst="rect">
            <a:avLst/>
          </a:prstGeom>
          <a:noFill/>
          <a:ln/>
        </p:spPr>
        <p:txBody>
          <a:bodyPr wrap="square" lIns="0" tIns="0" rIns="0" bIns="0" rtlCol="0" anchor="ctr"/>
          <a:lstStyle/>
          <a:p>
            <a:pPr marL="0" indent="0">
              <a:buNone/>
            </a:pPr>
            <a:r>
              <a:rPr lang="en-US" sz="1200" i="1" dirty="0">
                <a:solidFill>
                  <a:srgbClr val="C9772A"/>
                </a:solidFill>
                <a:latin typeface="Calibri" pitchFamily="34" charset="0"/>
                <a:ea typeface="Calibri" pitchFamily="34" charset="-122"/>
                <a:cs typeface="Calibri" pitchFamily="34" charset="-120"/>
              </a:rPr>
              <a:t>'Nesto dobro se na KRAJU desi.'</a:t>
            </a:r>
            <a:endParaRPr lang="en-US" sz="1200" dirty="0"/>
          </a:p>
        </p:txBody>
      </p:sp>
      <p:sp>
        <p:nvSpPr>
          <p:cNvPr id="15" name="Text 11"/>
          <p:cNvSpPr/>
          <p:nvPr/>
        </p:nvSpPr>
        <p:spPr>
          <a:xfrm>
            <a:off x="4892040" y="2852928"/>
            <a:ext cx="3611880" cy="1371600"/>
          </a:xfrm>
          <a:prstGeom prst="rect">
            <a:avLst/>
          </a:prstGeom>
          <a:noFill/>
          <a:ln/>
        </p:spPr>
        <p:txBody>
          <a:bodyPr wrap="square" lIns="0" tIns="0" rIns="0" bIns="0" rtlCol="0" anchor="ctr"/>
          <a:lstStyle/>
          <a:p>
            <a:pPr>
              <a:lnSpc>
                <a:spcPct val="105000"/>
              </a:lnSpc>
              <a:spcAft>
                <a:spcPts val="400"/>
              </a:spcAft>
            </a:pPr>
            <a:r>
              <a:rPr lang="en-US" sz="1200" dirty="0">
                <a:solidFill>
                  <a:srgbClr val="44556A"/>
                </a:solidFill>
                <a:latin typeface="Calibri" pitchFamily="34" charset="0"/>
                <a:ea typeface="Calibri" pitchFamily="34" charset="-122"/>
                <a:cs typeface="Calibri" pitchFamily="34" charset="-120"/>
              </a:rPr>
              <a:t>•  Terminacija  (Termination)</a:t>
            </a:r>
            <a:r>
              <a:rPr lang="en-US" sz="1200" dirty="0"/>
              <a:t> </a:t>
            </a:r>
            <a:r>
              <a:rPr lang="en-US" sz="1200" dirty="0" err="1"/>
              <a:t>svi</a:t>
            </a:r>
            <a:r>
              <a:rPr lang="en-US" sz="1200" dirty="0"/>
              <a:t> </a:t>
            </a:r>
            <a:r>
              <a:rPr lang="en-US" sz="1200" dirty="0" err="1"/>
              <a:t>na</a:t>
            </a:r>
            <a:r>
              <a:rPr lang="en-US" sz="1200" dirty="0"/>
              <a:t> </a:t>
            </a:r>
            <a:r>
              <a:rPr lang="en-US" sz="1200" dirty="0" err="1"/>
              <a:t>kraju</a:t>
            </a:r>
            <a:r>
              <a:rPr lang="en-US" sz="1200" dirty="0"/>
              <a:t> </a:t>
            </a:r>
            <a:r>
              <a:rPr lang="en-US" sz="1200" dirty="0" err="1"/>
              <a:t>odluce</a:t>
            </a:r>
            <a:r>
              <a:rPr lang="en-US" sz="1200" dirty="0">
                <a:solidFill>
                  <a:srgbClr val="44556A"/>
                </a:solidFill>
                <a:latin typeface="Calibri" pitchFamily="34" charset="0"/>
                <a:ea typeface="Calibri" pitchFamily="34" charset="-122"/>
                <a:cs typeface="Calibri" pitchFamily="34" charset="-120"/>
              </a:rPr>
              <a:t>
</a:t>
            </a:r>
            <a:endParaRPr lang="en-US" sz="1200" dirty="0"/>
          </a:p>
          <a:p>
            <a:pPr marL="0" indent="0">
              <a:lnSpc>
                <a:spcPct val="105000"/>
              </a:lnSpc>
              <a:buNone/>
            </a:pPr>
            <a:r>
              <a:rPr lang="en-US" sz="1200" b="1" dirty="0">
                <a:solidFill>
                  <a:srgbClr val="C9772A"/>
                </a:solidFill>
                <a:latin typeface="Calibri" pitchFamily="34" charset="0"/>
                <a:ea typeface="Calibri" pitchFamily="34" charset="-122"/>
                <a:cs typeface="Calibri" pitchFamily="34" charset="-120"/>
              </a:rPr>
              <a:t>Garantuje se TEK posle GST (kad se mreza smiri). Pre GST: algoritam radije ceka nego da pogresi.</a:t>
            </a:r>
            <a:endParaRPr lang="en-US" sz="1200" dirty="0"/>
          </a:p>
        </p:txBody>
      </p:sp>
      <p:sp>
        <p:nvSpPr>
          <p:cNvPr id="16" name="Shape 12"/>
          <p:cNvSpPr/>
          <p:nvPr/>
        </p:nvSpPr>
        <p:spPr>
          <a:xfrm>
            <a:off x="502920" y="4370832"/>
            <a:ext cx="8138160" cy="384048"/>
          </a:xfrm>
          <a:prstGeom prst="roundRect">
            <a:avLst>
              <a:gd name="adj" fmla="val 14286"/>
            </a:avLst>
          </a:prstGeom>
          <a:solidFill>
            <a:srgbClr val="EFFAF8"/>
          </a:solidFill>
          <a:ln/>
        </p:spPr>
      </p:sp>
      <p:sp>
        <p:nvSpPr>
          <p:cNvPr id="17" name="Text 13"/>
          <p:cNvSpPr/>
          <p:nvPr/>
        </p:nvSpPr>
        <p:spPr>
          <a:xfrm>
            <a:off x="457200" y="4466844"/>
            <a:ext cx="7680960" cy="365760"/>
          </a:xfrm>
          <a:prstGeom prst="rect">
            <a:avLst/>
          </a:prstGeom>
          <a:noFill/>
          <a:ln/>
        </p:spPr>
        <p:txBody>
          <a:bodyPr wrap="square" lIns="0" tIns="0" rIns="0" bIns="0" rtlCol="0" anchor="ctr"/>
          <a:lstStyle/>
          <a:p>
            <a:pPr algn="ctr"/>
            <a:r>
              <a:rPr lang="en-US" sz="1200" dirty="0">
                <a:solidFill>
                  <a:srgbClr val="44556A"/>
                </a:solidFill>
                <a:latin typeface="Calibri" pitchFamily="34" charset="0"/>
                <a:ea typeface="Calibri" pitchFamily="34" charset="-122"/>
                <a:cs typeface="Calibri" pitchFamily="34" charset="-120"/>
              </a:rPr>
              <a:t>Bas ova podela je nacin na koji Tendermint zaobilazi FLP </a:t>
            </a:r>
            <a:r>
              <a:rPr lang="en-US" sz="1200" dirty="0" err="1">
                <a:solidFill>
                  <a:srgbClr val="44556A"/>
                </a:solidFill>
                <a:latin typeface="Calibri" pitchFamily="34" charset="0"/>
                <a:ea typeface="Calibri" pitchFamily="34" charset="-122"/>
                <a:cs typeface="Calibri" pitchFamily="34" charset="-120"/>
              </a:rPr>
              <a:t>teoremu</a:t>
            </a:r>
            <a:r>
              <a:rPr lang="en-US" sz="1200" dirty="0">
                <a:solidFill>
                  <a:srgbClr val="44556A"/>
                </a:solidFill>
                <a:latin typeface="Calibri" pitchFamily="34" charset="0"/>
                <a:ea typeface="Calibri" pitchFamily="34" charset="-122"/>
                <a:cs typeface="Calibri" pitchFamily="34" charset="-120"/>
              </a:rPr>
              <a:t> (</a:t>
            </a:r>
            <a:r>
              <a:rPr lang="en-US" sz="1200" dirty="0"/>
              <a:t>da je </a:t>
            </a:r>
            <a:r>
              <a:rPr lang="en-US" sz="1200" dirty="0" err="1"/>
              <a:t>konsenzus</a:t>
            </a:r>
            <a:r>
              <a:rPr lang="en-US" sz="1200" dirty="0"/>
              <a:t> </a:t>
            </a:r>
            <a:r>
              <a:rPr lang="en-US" sz="1200" dirty="0" err="1"/>
              <a:t>nemoguc</a:t>
            </a:r>
            <a:r>
              <a:rPr lang="en-US" sz="1200" dirty="0"/>
              <a:t> u </a:t>
            </a:r>
            <a:r>
              <a:rPr lang="en-US" sz="1200" dirty="0" err="1"/>
              <a:t>potpuno</a:t>
            </a:r>
            <a:r>
              <a:rPr lang="en-US" sz="1200" dirty="0"/>
              <a:t> </a:t>
            </a:r>
            <a:r>
              <a:rPr lang="en-US" sz="1200" dirty="0" err="1"/>
              <a:t>asinhronoj</a:t>
            </a:r>
            <a:r>
              <a:rPr lang="en-US" sz="1200" dirty="0"/>
              <a:t> </a:t>
            </a:r>
            <a:r>
              <a:rPr lang="en-US" sz="1200" dirty="0" err="1"/>
              <a:t>mrezi</a:t>
            </a:r>
            <a:r>
              <a:rPr lang="en-US" sz="1200" dirty="0">
                <a:solidFill>
                  <a:srgbClr val="44556A"/>
                </a:solidFill>
                <a:latin typeface="Calibri" pitchFamily="34" charset="0"/>
                <a:ea typeface="Calibri" pitchFamily="34" charset="-122"/>
                <a:cs typeface="Calibri" pitchFamily="34" charset="-120"/>
              </a:rPr>
              <a:t>)— </a:t>
            </a:r>
            <a:r>
              <a:rPr lang="en-US" sz="1200" b="1" dirty="0">
                <a:solidFill>
                  <a:srgbClr val="0D9488"/>
                </a:solidFill>
                <a:latin typeface="Calibri" pitchFamily="34" charset="0"/>
                <a:ea typeface="Calibri" pitchFamily="34" charset="-122"/>
                <a:cs typeface="Calibri" pitchFamily="34" charset="-120"/>
              </a:rPr>
              <a:t>safety bez ikakvih uslova, liveness vezana za </a:t>
            </a:r>
            <a:r>
              <a:rPr lang="en-US" sz="1200" b="1" dirty="0" err="1">
                <a:solidFill>
                  <a:srgbClr val="0D9488"/>
                </a:solidFill>
                <a:latin typeface="Calibri" pitchFamily="34" charset="0"/>
                <a:ea typeface="Calibri" pitchFamily="34" charset="-122"/>
                <a:cs typeface="Calibri" pitchFamily="34" charset="-120"/>
              </a:rPr>
              <a:t>sinhroni</a:t>
            </a:r>
            <a:r>
              <a:rPr lang="en-US" sz="1200" b="1" dirty="0">
                <a:solidFill>
                  <a:srgbClr val="0D9488"/>
                </a:solidFill>
                <a:latin typeface="Calibri" pitchFamily="34" charset="0"/>
                <a:ea typeface="Calibri" pitchFamily="34" charset="-122"/>
                <a:cs typeface="Calibri" pitchFamily="34" charset="-120"/>
              </a:rPr>
              <a:t> period </a:t>
            </a:r>
            <a:r>
              <a:rPr lang="en-US" sz="1200" b="1" dirty="0" err="1">
                <a:solidFill>
                  <a:srgbClr val="0D9488"/>
                </a:solidFill>
                <a:latin typeface="Calibri" pitchFamily="34" charset="0"/>
                <a:ea typeface="Calibri" pitchFamily="34" charset="-122"/>
                <a:cs typeface="Calibri" pitchFamily="34" charset="-120"/>
              </a:rPr>
              <a:t>posle</a:t>
            </a:r>
            <a:r>
              <a:rPr lang="en-US" sz="1200" b="1" dirty="0">
                <a:solidFill>
                  <a:srgbClr val="0D9488"/>
                </a:solidFill>
                <a:latin typeface="Calibri" pitchFamily="34" charset="0"/>
                <a:ea typeface="Calibri" pitchFamily="34" charset="-122"/>
                <a:cs typeface="Calibri" pitchFamily="34" charset="-120"/>
              </a:rPr>
              <a:t> GST.</a:t>
            </a:r>
            <a:endParaRPr lang="en-US" sz="1200" dirty="0"/>
          </a:p>
        </p:txBody>
      </p:sp>
      <p:sp>
        <p:nvSpPr>
          <p:cNvPr id="19" name="Text 14"/>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18</a:t>
            </a:r>
            <a:endParaRPr lang="en-US" sz="900" dirty="0"/>
          </a:p>
        </p:txBody>
      </p:sp>
      <p:sp>
        <p:nvSpPr>
          <p:cNvPr id="20" name="Text 15"/>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Osobine algoritma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OSOBINE — TEMELJ</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Lema 1: presek kvoruma</a:t>
            </a:r>
            <a:endParaRPr lang="en-US" sz="3000" dirty="0"/>
          </a:p>
        </p:txBody>
      </p:sp>
      <p:sp>
        <p:nvSpPr>
          <p:cNvPr id="4" name="Shape 2"/>
          <p:cNvSpPr/>
          <p:nvPr/>
        </p:nvSpPr>
        <p:spPr>
          <a:xfrm>
            <a:off x="1109433" y="1554480"/>
            <a:ext cx="1828800" cy="1828800"/>
          </a:xfrm>
          <a:prstGeom prst="ellipse">
            <a:avLst/>
          </a:prstGeom>
          <a:solidFill>
            <a:srgbClr val="1E466E">
              <a:alpha val="70000"/>
            </a:srgbClr>
          </a:solidFill>
          <a:ln/>
        </p:spPr>
        <p:txBody>
          <a:bodyPr/>
          <a:lstStyle/>
          <a:p>
            <a:endParaRPr lang="en-US" dirty="0"/>
          </a:p>
        </p:txBody>
      </p:sp>
      <p:sp>
        <p:nvSpPr>
          <p:cNvPr id="5" name="Shape 3"/>
          <p:cNvSpPr/>
          <p:nvPr/>
        </p:nvSpPr>
        <p:spPr>
          <a:xfrm>
            <a:off x="2331720" y="1554480"/>
            <a:ext cx="1828800" cy="1828800"/>
          </a:xfrm>
          <a:prstGeom prst="ellipse">
            <a:avLst/>
          </a:prstGeom>
          <a:solidFill>
            <a:srgbClr val="16BFA6">
              <a:alpha val="75000"/>
            </a:srgbClr>
          </a:solidFill>
          <a:ln/>
        </p:spPr>
      </p:sp>
      <p:sp>
        <p:nvSpPr>
          <p:cNvPr id="6" name="Text 4"/>
          <p:cNvSpPr/>
          <p:nvPr/>
        </p:nvSpPr>
        <p:spPr>
          <a:xfrm>
            <a:off x="960120" y="2103120"/>
            <a:ext cx="1097280" cy="731520"/>
          </a:xfrm>
          <a:prstGeom prst="rect">
            <a:avLst/>
          </a:prstGeom>
          <a:noFill/>
          <a:ln/>
        </p:spPr>
        <p:txBody>
          <a:bodyPr wrap="square" lIns="0" tIns="0" rIns="0" bIns="0" rtlCol="0" anchor="ctr"/>
          <a:lstStyle/>
          <a:p>
            <a:pPr marL="0" indent="0" algn="ctr">
              <a:lnSpc>
                <a:spcPct val="90000"/>
              </a:lnSpc>
              <a:buNone/>
            </a:pPr>
            <a:r>
              <a:rPr lang="en-US" sz="1200" b="1" dirty="0">
                <a:solidFill>
                  <a:srgbClr val="FFFFFF"/>
                </a:solidFill>
                <a:latin typeface="Calibri" pitchFamily="34" charset="0"/>
                <a:ea typeface="Calibri" pitchFamily="34" charset="-122"/>
                <a:cs typeface="Calibri" pitchFamily="34" charset="-120"/>
              </a:rPr>
              <a:t>Kvorum A</a:t>
            </a:r>
            <a:endParaRPr lang="en-US" sz="1200" dirty="0"/>
          </a:p>
          <a:p>
            <a:pPr marL="0" indent="0" algn="ctr">
              <a:lnSpc>
                <a:spcPct val="90000"/>
              </a:lnSpc>
              <a:buNone/>
            </a:pPr>
            <a:r>
              <a:rPr lang="en-US" sz="1200" b="1" dirty="0">
                <a:solidFill>
                  <a:srgbClr val="FFFFFF"/>
                </a:solidFill>
                <a:latin typeface="Calibri" pitchFamily="34" charset="0"/>
                <a:ea typeface="Calibri" pitchFamily="34" charset="-122"/>
                <a:cs typeface="Calibri" pitchFamily="34" charset="-120"/>
              </a:rPr>
              <a:t>2f+1</a:t>
            </a:r>
            <a:endParaRPr lang="en-US" sz="1200" dirty="0"/>
          </a:p>
        </p:txBody>
      </p:sp>
      <p:sp>
        <p:nvSpPr>
          <p:cNvPr id="7" name="Text 5"/>
          <p:cNvSpPr/>
          <p:nvPr/>
        </p:nvSpPr>
        <p:spPr>
          <a:xfrm>
            <a:off x="3212553" y="2097140"/>
            <a:ext cx="1097280" cy="731520"/>
          </a:xfrm>
          <a:prstGeom prst="rect">
            <a:avLst/>
          </a:prstGeom>
          <a:noFill/>
          <a:ln/>
        </p:spPr>
        <p:txBody>
          <a:bodyPr wrap="square" lIns="0" tIns="0" rIns="0" bIns="0" rtlCol="0" anchor="ctr"/>
          <a:lstStyle/>
          <a:p>
            <a:pPr marL="0" indent="0" algn="ctr">
              <a:lnSpc>
                <a:spcPct val="90000"/>
              </a:lnSpc>
              <a:buNone/>
            </a:pPr>
            <a:r>
              <a:rPr lang="en-US" sz="1200" b="1" dirty="0">
                <a:solidFill>
                  <a:srgbClr val="06403A"/>
                </a:solidFill>
                <a:latin typeface="Calibri" pitchFamily="34" charset="0"/>
                <a:ea typeface="Calibri" pitchFamily="34" charset="-122"/>
                <a:cs typeface="Calibri" pitchFamily="34" charset="-120"/>
              </a:rPr>
              <a:t>Kvorum B</a:t>
            </a:r>
            <a:endParaRPr lang="en-US" sz="1200" dirty="0"/>
          </a:p>
          <a:p>
            <a:pPr marL="0" indent="0" algn="ctr">
              <a:lnSpc>
                <a:spcPct val="90000"/>
              </a:lnSpc>
              <a:buNone/>
            </a:pPr>
            <a:r>
              <a:rPr lang="en-US" sz="1200" b="1" dirty="0">
                <a:solidFill>
                  <a:srgbClr val="06403A"/>
                </a:solidFill>
                <a:latin typeface="Calibri" pitchFamily="34" charset="0"/>
                <a:ea typeface="Calibri" pitchFamily="34" charset="-122"/>
                <a:cs typeface="Calibri" pitchFamily="34" charset="-120"/>
              </a:rPr>
              <a:t>2f+1</a:t>
            </a:r>
            <a:endParaRPr lang="en-US" sz="1200" dirty="0"/>
          </a:p>
        </p:txBody>
      </p:sp>
      <p:sp>
        <p:nvSpPr>
          <p:cNvPr id="8" name="Text 6"/>
          <p:cNvSpPr/>
          <p:nvPr/>
        </p:nvSpPr>
        <p:spPr>
          <a:xfrm>
            <a:off x="2206713" y="2008690"/>
            <a:ext cx="914400" cy="731520"/>
          </a:xfrm>
          <a:prstGeom prst="rect">
            <a:avLst/>
          </a:prstGeom>
          <a:noFill/>
          <a:ln/>
        </p:spPr>
        <p:txBody>
          <a:bodyPr wrap="square" lIns="0" tIns="0" rIns="0" bIns="0" rtlCol="0" anchor="ctr"/>
          <a:lstStyle/>
          <a:p>
            <a:pPr marL="0" indent="0" algn="ctr">
              <a:lnSpc>
                <a:spcPct val="90000"/>
              </a:lnSpc>
              <a:buNone/>
            </a:pPr>
            <a:r>
              <a:rPr lang="en-US" sz="1050" b="1" dirty="0">
                <a:solidFill>
                  <a:srgbClr val="08332D"/>
                </a:solidFill>
                <a:latin typeface="Calibri" pitchFamily="34" charset="0"/>
                <a:ea typeface="Calibri" pitchFamily="34" charset="-122"/>
                <a:cs typeface="Calibri" pitchFamily="34" charset="-120"/>
              </a:rPr>
              <a:t>presek</a:t>
            </a:r>
            <a:endParaRPr lang="en-US" sz="1050" dirty="0"/>
          </a:p>
          <a:p>
            <a:pPr marL="0" indent="0" algn="ctr">
              <a:lnSpc>
                <a:spcPct val="90000"/>
              </a:lnSpc>
              <a:buNone/>
            </a:pPr>
            <a:r>
              <a:rPr lang="en-US" sz="1050" b="1" dirty="0">
                <a:solidFill>
                  <a:srgbClr val="08332D"/>
                </a:solidFill>
                <a:latin typeface="Calibri" pitchFamily="34" charset="0"/>
                <a:ea typeface="Calibri" pitchFamily="34" charset="-122"/>
                <a:cs typeface="Calibri" pitchFamily="34" charset="-120"/>
              </a:rPr>
              <a:t>≥ 1 posten</a:t>
            </a:r>
            <a:endParaRPr lang="en-US" sz="1050" dirty="0"/>
          </a:p>
        </p:txBody>
      </p:sp>
      <p:sp>
        <p:nvSpPr>
          <p:cNvPr id="9" name="Text 7"/>
          <p:cNvSpPr/>
          <p:nvPr/>
        </p:nvSpPr>
        <p:spPr>
          <a:xfrm>
            <a:off x="594360" y="3886200"/>
            <a:ext cx="4114800" cy="548640"/>
          </a:xfrm>
          <a:prstGeom prst="rect">
            <a:avLst/>
          </a:prstGeom>
          <a:noFill/>
          <a:ln/>
        </p:spPr>
        <p:txBody>
          <a:bodyPr wrap="square" lIns="0" tIns="0" rIns="0" bIns="0" rtlCol="0" anchor="ctr"/>
          <a:lstStyle/>
          <a:p>
            <a:pPr marL="0" indent="0" algn="ctr">
              <a:lnSpc>
                <a:spcPct val="100000"/>
              </a:lnSpc>
              <a:buNone/>
            </a:pPr>
            <a:r>
              <a:rPr lang="en-US" sz="1150" i="1" dirty="0">
                <a:solidFill>
                  <a:srgbClr val="44556A"/>
                </a:solidFill>
                <a:latin typeface="Calibri" pitchFamily="34" charset="0"/>
                <a:ea typeface="Calibri" pitchFamily="34" charset="-122"/>
                <a:cs typeface="Calibri" pitchFamily="34" charset="-120"/>
              </a:rPr>
              <a:t>Bilo koja dva kvoruma 2f+1 dele bar jedan POSTEN cvor</a:t>
            </a:r>
            <a:endParaRPr lang="en-US" sz="1150" dirty="0"/>
          </a:p>
        </p:txBody>
      </p:sp>
      <p:sp>
        <p:nvSpPr>
          <p:cNvPr id="10" name="Shape 8"/>
          <p:cNvSpPr/>
          <p:nvPr/>
        </p:nvSpPr>
        <p:spPr>
          <a:xfrm>
            <a:off x="4892040" y="1600200"/>
            <a:ext cx="3749040" cy="3063240"/>
          </a:xfrm>
          <a:prstGeom prst="roundRect">
            <a:avLst>
              <a:gd name="adj" fmla="val 2985"/>
            </a:avLst>
          </a:prstGeom>
          <a:solidFill>
            <a:srgbClr val="0E2A47"/>
          </a:solidFill>
          <a:ln/>
          <a:effectLst>
            <a:outerShdw blurRad="114300" dist="38100" dir="5400000" algn="bl" rotWithShape="0">
              <a:srgbClr val="0B1A2E">
                <a:alpha val="13000"/>
              </a:srgbClr>
            </a:outerShdw>
          </a:effectLst>
        </p:spPr>
      </p:sp>
      <p:sp>
        <p:nvSpPr>
          <p:cNvPr id="11" name="Text 9"/>
          <p:cNvSpPr/>
          <p:nvPr/>
        </p:nvSpPr>
        <p:spPr>
          <a:xfrm>
            <a:off x="5120640" y="1783080"/>
            <a:ext cx="3291840" cy="365760"/>
          </a:xfrm>
          <a:prstGeom prst="rect">
            <a:avLst/>
          </a:prstGeom>
          <a:noFill/>
          <a:ln/>
        </p:spPr>
        <p:txBody>
          <a:bodyPr wrap="square" lIns="0" tIns="0" rIns="0" bIns="0" rtlCol="0" anchor="ctr"/>
          <a:lstStyle/>
          <a:p>
            <a:pPr marL="0" indent="0">
              <a:buNone/>
            </a:pPr>
            <a:r>
              <a:rPr lang="en-US" sz="1500" b="1" dirty="0">
                <a:solidFill>
                  <a:srgbClr val="5EEAD4"/>
                </a:solidFill>
                <a:latin typeface="Cambria" pitchFamily="34" charset="0"/>
                <a:ea typeface="Cambria" pitchFamily="34" charset="-122"/>
                <a:cs typeface="Cambria" pitchFamily="34" charset="-120"/>
              </a:rPr>
              <a:t>Dokaz (n = 3f+1)</a:t>
            </a:r>
            <a:endParaRPr lang="en-US" sz="1500" dirty="0"/>
          </a:p>
        </p:txBody>
      </p:sp>
      <p:sp>
        <p:nvSpPr>
          <p:cNvPr id="12" name="Text 10"/>
          <p:cNvSpPr/>
          <p:nvPr/>
        </p:nvSpPr>
        <p:spPr>
          <a:xfrm>
            <a:off x="5120640" y="2194560"/>
            <a:ext cx="3291840" cy="914400"/>
          </a:xfrm>
          <a:prstGeom prst="rect">
            <a:avLst/>
          </a:prstGeom>
          <a:noFill/>
          <a:ln/>
        </p:spPr>
        <p:txBody>
          <a:bodyPr wrap="square" lIns="0" tIns="0" rIns="0" bIns="0" rtlCol="0" anchor="t"/>
          <a:lstStyle/>
          <a:p>
            <a:pPr marL="0" indent="0">
              <a:lnSpc>
                <a:spcPct val="120000"/>
              </a:lnSpc>
              <a:buNone/>
            </a:pPr>
            <a:r>
              <a:rPr lang="en-US" sz="1250" dirty="0">
                <a:solidFill>
                  <a:srgbClr val="FFFFFF"/>
                </a:solidFill>
                <a:latin typeface="Courier New" pitchFamily="34" charset="0"/>
                <a:ea typeface="Courier New" pitchFamily="34" charset="-122"/>
                <a:cs typeface="Courier New" pitchFamily="34" charset="-120"/>
              </a:rPr>
              <a:t>2 × (2f+1) = 4f+2</a:t>
            </a:r>
            <a:endParaRPr lang="en-US" sz="1250" dirty="0"/>
          </a:p>
          <a:p>
            <a:pPr marL="0" indent="0">
              <a:lnSpc>
                <a:spcPct val="120000"/>
              </a:lnSpc>
              <a:buNone/>
            </a:pPr>
            <a:r>
              <a:rPr lang="en-US" sz="1250" dirty="0">
                <a:solidFill>
                  <a:srgbClr val="FFFFFF"/>
                </a:solidFill>
                <a:latin typeface="Courier New" pitchFamily="34" charset="0"/>
                <a:ea typeface="Courier New" pitchFamily="34" charset="-122"/>
                <a:cs typeface="Courier New" pitchFamily="34" charset="-120"/>
              </a:rPr>
              <a:t>           = (3f+1) + (f+1)</a:t>
            </a:r>
            <a:endParaRPr lang="en-US" sz="1250" dirty="0"/>
          </a:p>
          <a:p>
            <a:pPr marL="0" indent="0">
              <a:lnSpc>
                <a:spcPct val="120000"/>
              </a:lnSpc>
              <a:buNone/>
            </a:pPr>
            <a:r>
              <a:rPr lang="en-US" sz="1250" dirty="0">
                <a:solidFill>
                  <a:srgbClr val="FFFFFF"/>
                </a:solidFill>
                <a:latin typeface="Courier New" pitchFamily="34" charset="0"/>
                <a:ea typeface="Courier New" pitchFamily="34" charset="-122"/>
                <a:cs typeface="Courier New" pitchFamily="34" charset="-120"/>
              </a:rPr>
              <a:t>           = n + (f+1)</a:t>
            </a:r>
            <a:endParaRPr lang="en-US" sz="1250" dirty="0"/>
          </a:p>
        </p:txBody>
      </p:sp>
      <p:sp>
        <p:nvSpPr>
          <p:cNvPr id="13" name="Text 11"/>
          <p:cNvSpPr/>
          <p:nvPr/>
        </p:nvSpPr>
        <p:spPr>
          <a:xfrm>
            <a:off x="5120640" y="3246120"/>
            <a:ext cx="3291840" cy="1371600"/>
          </a:xfrm>
          <a:prstGeom prst="rect">
            <a:avLst/>
          </a:prstGeom>
          <a:noFill/>
          <a:ln/>
        </p:spPr>
        <p:txBody>
          <a:bodyPr wrap="square" lIns="0" tIns="0" rIns="0" bIns="0" rtlCol="0" anchor="ctr"/>
          <a:lstStyle/>
          <a:p>
            <a:pPr marL="0" indent="0">
              <a:lnSpc>
                <a:spcPct val="105000"/>
              </a:lnSpc>
              <a:spcAft>
                <a:spcPts val="500"/>
              </a:spcAft>
              <a:buNone/>
            </a:pPr>
            <a:r>
              <a:rPr lang="en-US" sz="1150" b="1" dirty="0">
                <a:solidFill>
                  <a:srgbClr val="5EEAD4"/>
                </a:solidFill>
                <a:latin typeface="Calibri" pitchFamily="34" charset="0"/>
                <a:ea typeface="Calibri" pitchFamily="34" charset="-122"/>
                <a:cs typeface="Calibri" pitchFamily="34" charset="-120"/>
              </a:rPr>
              <a:t>→ presek ima ≥ f+1 moci.
</a:t>
            </a:r>
            <a:endParaRPr lang="en-US" sz="1150" dirty="0"/>
          </a:p>
          <a:p>
            <a:pPr marL="0" indent="0">
              <a:lnSpc>
                <a:spcPct val="105000"/>
              </a:lnSpc>
              <a:buNone/>
            </a:pPr>
            <a:r>
              <a:rPr lang="en-US" sz="1150" dirty="0">
                <a:solidFill>
                  <a:srgbClr val="CFE0F2"/>
                </a:solidFill>
                <a:latin typeface="Calibri" pitchFamily="34" charset="0"/>
                <a:ea typeface="Calibri" pitchFamily="34" charset="-122"/>
                <a:cs typeface="Calibri" pitchFamily="34" charset="-120"/>
              </a:rPr>
              <a:t>Neispravnih je najvise f → u preseku je bar JEDAN posten. On ne moze glasati za dve razlicite stvari → odatle saglasnost.</a:t>
            </a:r>
            <a:endParaRPr lang="en-US" sz="1150" dirty="0"/>
          </a:p>
        </p:txBody>
      </p:sp>
      <p:sp>
        <p:nvSpPr>
          <p:cNvPr id="15" name="Text 12"/>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19</a:t>
            </a:r>
            <a:endParaRPr lang="en-US" sz="900" dirty="0"/>
          </a:p>
        </p:txBody>
      </p:sp>
      <p:sp>
        <p:nvSpPr>
          <p:cNvPr id="16" name="Text 13"/>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Osobine — temelj</a:t>
            </a:r>
            <a:endParaRPr lang="en-US" sz="900" dirty="0"/>
          </a:p>
        </p:txBody>
      </p:sp>
      <p:pic>
        <p:nvPicPr>
          <p:cNvPr id="17" name="Picture 16">
            <a:extLst>
              <a:ext uri="{FF2B5EF4-FFF2-40B4-BE49-F238E27FC236}">
                <a16:creationId xmlns:a16="http://schemas.microsoft.com/office/drawing/2014/main" id="{66DEC306-417C-4B87-7931-F043FCAA4834}"/>
              </a:ext>
            </a:extLst>
          </p:cNvPr>
          <p:cNvPicPr>
            <a:picLocks noChangeAspect="1"/>
          </p:cNvPicPr>
          <p:nvPr/>
        </p:nvPicPr>
        <p:blipFill>
          <a:blip r:embed="rId3"/>
          <a:stretch>
            <a:fillRect/>
          </a:stretch>
        </p:blipFill>
        <p:spPr>
          <a:xfrm>
            <a:off x="3977640" y="833828"/>
            <a:ext cx="8212227" cy="76039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OSOBINE — BEZBEDNOST</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Saglasnost i validnost</a:t>
            </a:r>
            <a:endParaRPr lang="en-US" sz="3000" dirty="0"/>
          </a:p>
        </p:txBody>
      </p:sp>
      <p:sp>
        <p:nvSpPr>
          <p:cNvPr id="4" name="Shape 2"/>
          <p:cNvSpPr/>
          <p:nvPr/>
        </p:nvSpPr>
        <p:spPr>
          <a:xfrm>
            <a:off x="484979" y="1547767"/>
            <a:ext cx="3749040" cy="2331720"/>
          </a:xfrm>
          <a:prstGeom prst="roundRect">
            <a:avLst>
              <a:gd name="adj" fmla="val 3922"/>
            </a:avLst>
          </a:prstGeom>
          <a:solidFill>
            <a:srgbClr val="FFFFFF"/>
          </a:solidFill>
          <a:ln/>
          <a:effectLst>
            <a:outerShdw blurRad="114300" dist="38100" dir="5400000" algn="bl" rotWithShape="0">
              <a:srgbClr val="0B1A2E">
                <a:alpha val="13000"/>
              </a:srgbClr>
            </a:outerShdw>
          </a:effectLst>
        </p:spPr>
      </p:sp>
      <p:sp>
        <p:nvSpPr>
          <p:cNvPr id="5" name="Shape 3"/>
          <p:cNvSpPr/>
          <p:nvPr/>
        </p:nvSpPr>
        <p:spPr>
          <a:xfrm>
            <a:off x="713232" y="1737360"/>
            <a:ext cx="1234440" cy="310896"/>
          </a:xfrm>
          <a:prstGeom prst="roundRect">
            <a:avLst>
              <a:gd name="adj" fmla="val 50000"/>
            </a:avLst>
          </a:prstGeom>
          <a:solidFill>
            <a:srgbClr val="EAF1F8"/>
          </a:solidFill>
          <a:ln/>
        </p:spPr>
      </p:sp>
      <p:sp>
        <p:nvSpPr>
          <p:cNvPr id="6" name="Text 4"/>
          <p:cNvSpPr/>
          <p:nvPr/>
        </p:nvSpPr>
        <p:spPr>
          <a:xfrm>
            <a:off x="713232" y="1728216"/>
            <a:ext cx="1234440" cy="329184"/>
          </a:xfrm>
          <a:prstGeom prst="rect">
            <a:avLst/>
          </a:prstGeom>
          <a:noFill/>
          <a:ln/>
        </p:spPr>
        <p:txBody>
          <a:bodyPr wrap="square" lIns="0" tIns="0" rIns="0" bIns="0" rtlCol="0" anchor="ctr"/>
          <a:lstStyle/>
          <a:p>
            <a:pPr marL="0" indent="0" algn="ctr">
              <a:buNone/>
            </a:pPr>
            <a:r>
              <a:rPr lang="en-US" sz="1100" b="1" dirty="0">
                <a:solidFill>
                  <a:srgbClr val="1E466E"/>
                </a:solidFill>
                <a:latin typeface="Calibri" pitchFamily="34" charset="0"/>
                <a:ea typeface="Calibri" pitchFamily="34" charset="-122"/>
                <a:cs typeface="Calibri" pitchFamily="34" charset="-120"/>
              </a:rPr>
              <a:t>LEMA 1</a:t>
            </a:r>
            <a:endParaRPr lang="en-US" sz="1100" dirty="0"/>
          </a:p>
        </p:txBody>
      </p:sp>
      <p:sp>
        <p:nvSpPr>
          <p:cNvPr id="7" name="Text 5"/>
          <p:cNvSpPr/>
          <p:nvPr/>
        </p:nvSpPr>
        <p:spPr>
          <a:xfrm>
            <a:off x="2057400" y="1709928"/>
            <a:ext cx="2103120" cy="310896"/>
          </a:xfrm>
          <a:prstGeom prst="rect">
            <a:avLst/>
          </a:prstGeom>
          <a:noFill/>
          <a:ln/>
        </p:spPr>
        <p:txBody>
          <a:bodyPr wrap="square" lIns="0" tIns="0" rIns="0" bIns="0" rtlCol="0" anchor="ctr"/>
          <a:lstStyle/>
          <a:p>
            <a:pPr marL="0" indent="0">
              <a:buNone/>
            </a:pPr>
            <a:r>
              <a:rPr lang="en-US" sz="1100" i="1" dirty="0">
                <a:solidFill>
                  <a:srgbClr val="6B7C93"/>
                </a:solidFill>
                <a:latin typeface="Calibri" pitchFamily="34" charset="0"/>
                <a:ea typeface="Calibri" pitchFamily="34" charset="-122"/>
                <a:cs typeface="Calibri" pitchFamily="34" charset="-120"/>
              </a:rPr>
              <a:t>presek kvoruma</a:t>
            </a:r>
            <a:endParaRPr lang="en-US" sz="1100" dirty="0"/>
          </a:p>
        </p:txBody>
      </p:sp>
      <p:sp>
        <p:nvSpPr>
          <p:cNvPr id="8" name="Shape 6"/>
          <p:cNvSpPr/>
          <p:nvPr/>
        </p:nvSpPr>
        <p:spPr>
          <a:xfrm>
            <a:off x="713232" y="2212848"/>
            <a:ext cx="1234440" cy="310896"/>
          </a:xfrm>
          <a:prstGeom prst="roundRect">
            <a:avLst>
              <a:gd name="adj" fmla="val 50000"/>
            </a:avLst>
          </a:prstGeom>
          <a:solidFill>
            <a:srgbClr val="EAF1F8"/>
          </a:solidFill>
          <a:ln/>
        </p:spPr>
      </p:sp>
      <p:sp>
        <p:nvSpPr>
          <p:cNvPr id="9" name="Text 7"/>
          <p:cNvSpPr/>
          <p:nvPr/>
        </p:nvSpPr>
        <p:spPr>
          <a:xfrm>
            <a:off x="713232" y="2203704"/>
            <a:ext cx="1234440" cy="329184"/>
          </a:xfrm>
          <a:prstGeom prst="rect">
            <a:avLst/>
          </a:prstGeom>
          <a:noFill/>
          <a:ln/>
        </p:spPr>
        <p:txBody>
          <a:bodyPr wrap="square" lIns="0" tIns="0" rIns="0" bIns="0" rtlCol="0" anchor="ctr"/>
          <a:lstStyle/>
          <a:p>
            <a:pPr marL="0" indent="0" algn="ctr">
              <a:buNone/>
            </a:pPr>
            <a:r>
              <a:rPr lang="en-US" sz="1100" b="1" dirty="0">
                <a:solidFill>
                  <a:srgbClr val="1E466E"/>
                </a:solidFill>
                <a:latin typeface="Calibri" pitchFamily="34" charset="0"/>
                <a:ea typeface="Calibri" pitchFamily="34" charset="-122"/>
                <a:cs typeface="Calibri" pitchFamily="34" charset="-120"/>
              </a:rPr>
              <a:t>LEMA 2</a:t>
            </a:r>
            <a:endParaRPr lang="en-US" sz="1100" dirty="0"/>
          </a:p>
        </p:txBody>
      </p:sp>
      <p:sp>
        <p:nvSpPr>
          <p:cNvPr id="10" name="Text 8"/>
          <p:cNvSpPr/>
          <p:nvPr/>
        </p:nvSpPr>
        <p:spPr>
          <a:xfrm>
            <a:off x="2057400" y="2176272"/>
            <a:ext cx="2331720" cy="457200"/>
          </a:xfrm>
          <a:prstGeom prst="rect">
            <a:avLst/>
          </a:prstGeom>
          <a:noFill/>
          <a:ln/>
        </p:spPr>
        <p:txBody>
          <a:bodyPr wrap="square" lIns="0" tIns="0" rIns="0" bIns="0" rtlCol="0" anchor="ctr"/>
          <a:lstStyle/>
          <a:p>
            <a:pPr marL="0" indent="0">
              <a:lnSpc>
                <a:spcPct val="92000"/>
              </a:lnSpc>
              <a:buNone/>
            </a:pPr>
            <a:r>
              <a:rPr lang="en-US" sz="1050" dirty="0">
                <a:solidFill>
                  <a:srgbClr val="44556A"/>
                </a:solidFill>
                <a:latin typeface="Calibri" pitchFamily="34" charset="0"/>
                <a:ea typeface="Calibri" pitchFamily="34" charset="-122"/>
                <a:cs typeface="Calibri" pitchFamily="34" charset="-120"/>
              </a:rPr>
              <a:t>zakljucani glasaju dosledno (samo svoju vrednost / nil)</a:t>
            </a:r>
            <a:endParaRPr lang="en-US" sz="1050" dirty="0"/>
          </a:p>
        </p:txBody>
      </p:sp>
      <p:pic>
        <p:nvPicPr>
          <p:cNvPr id="11" name="Image 0" descr="preencoded.png"/>
          <p:cNvPicPr>
            <a:picLocks noChangeAspect="1"/>
          </p:cNvPicPr>
          <p:nvPr/>
        </p:nvPicPr>
        <p:blipFill>
          <a:blip r:embed="rId3"/>
          <a:stretch>
            <a:fillRect/>
          </a:stretch>
        </p:blipFill>
        <p:spPr>
          <a:xfrm>
            <a:off x="1828800" y="2788920"/>
            <a:ext cx="365760" cy="365760"/>
          </a:xfrm>
          <a:prstGeom prst="rect">
            <a:avLst/>
          </a:prstGeom>
        </p:spPr>
      </p:pic>
      <p:sp>
        <p:nvSpPr>
          <p:cNvPr id="12" name="Shape 9"/>
          <p:cNvSpPr/>
          <p:nvPr/>
        </p:nvSpPr>
        <p:spPr>
          <a:xfrm>
            <a:off x="2331720" y="2857500"/>
            <a:ext cx="1417320" cy="310896"/>
          </a:xfrm>
          <a:prstGeom prst="roundRect">
            <a:avLst>
              <a:gd name="adj" fmla="val 50000"/>
            </a:avLst>
          </a:prstGeom>
          <a:solidFill>
            <a:srgbClr val="FBEEDD"/>
          </a:solidFill>
          <a:ln/>
        </p:spPr>
      </p:sp>
      <p:sp>
        <p:nvSpPr>
          <p:cNvPr id="13" name="Text 10"/>
          <p:cNvSpPr/>
          <p:nvPr/>
        </p:nvSpPr>
        <p:spPr>
          <a:xfrm>
            <a:off x="2331720" y="2825496"/>
            <a:ext cx="1417320" cy="329184"/>
          </a:xfrm>
          <a:prstGeom prst="rect">
            <a:avLst/>
          </a:prstGeom>
          <a:noFill/>
          <a:ln/>
        </p:spPr>
        <p:txBody>
          <a:bodyPr wrap="square" lIns="0" tIns="0" rIns="0" bIns="0" rtlCol="0" anchor="ctr"/>
          <a:lstStyle/>
          <a:p>
            <a:pPr marL="0" indent="0" algn="ctr">
              <a:buNone/>
            </a:pPr>
            <a:r>
              <a:rPr lang="en-US" sz="1100" b="1" dirty="0">
                <a:solidFill>
                  <a:srgbClr val="C9772A"/>
                </a:solidFill>
                <a:latin typeface="Calibri" pitchFamily="34" charset="0"/>
                <a:ea typeface="Calibri" pitchFamily="34" charset="-122"/>
                <a:cs typeface="Calibri" pitchFamily="34" charset="-120"/>
              </a:rPr>
              <a:t>LEMA 3</a:t>
            </a:r>
            <a:endParaRPr lang="en-US" sz="1100" dirty="0"/>
          </a:p>
        </p:txBody>
      </p:sp>
      <p:sp>
        <p:nvSpPr>
          <p:cNvPr id="14" name="Text 11"/>
          <p:cNvSpPr/>
          <p:nvPr/>
        </p:nvSpPr>
        <p:spPr>
          <a:xfrm>
            <a:off x="2194560" y="3108960"/>
            <a:ext cx="1937718" cy="713232"/>
          </a:xfrm>
          <a:prstGeom prst="rect">
            <a:avLst/>
          </a:prstGeom>
          <a:noFill/>
          <a:ln/>
        </p:spPr>
        <p:txBody>
          <a:bodyPr wrap="square" lIns="0" tIns="0" rIns="0" bIns="0" rtlCol="0" anchor="ctr"/>
          <a:lstStyle/>
          <a:p>
            <a:r>
              <a:rPr lang="en-US" sz="1500" b="1" dirty="0">
                <a:solidFill>
                  <a:srgbClr val="0E2138"/>
                </a:solidFill>
                <a:latin typeface="Cambria" pitchFamily="34" charset="0"/>
                <a:ea typeface="Cambria" pitchFamily="34" charset="-122"/>
                <a:cs typeface="Cambria" pitchFamily="34" charset="-120"/>
              </a:rPr>
              <a:t>→  SAGLASNOST</a:t>
            </a:r>
            <a:r>
              <a:rPr lang="en-US" sz="1600" dirty="0"/>
              <a:t> = </a:t>
            </a:r>
            <a:r>
              <a:rPr lang="en-US" sz="1600" dirty="0" err="1"/>
              <a:t>presek</a:t>
            </a:r>
            <a:r>
              <a:rPr lang="en-US" sz="1600" dirty="0"/>
              <a:t> </a:t>
            </a:r>
            <a:r>
              <a:rPr lang="en-US" sz="1600" dirty="0" err="1"/>
              <a:t>kvoruma</a:t>
            </a:r>
            <a:r>
              <a:rPr lang="en-US" sz="1600" dirty="0"/>
              <a:t>+ </a:t>
            </a:r>
            <a:r>
              <a:rPr lang="en-US" sz="1600" dirty="0" err="1"/>
              <a:t>dosledno</a:t>
            </a:r>
            <a:r>
              <a:rPr lang="en-US" sz="1600" dirty="0"/>
              <a:t> </a:t>
            </a:r>
            <a:r>
              <a:rPr lang="en-US" sz="1600" dirty="0" err="1"/>
              <a:t>zakljucavanje</a:t>
            </a:r>
            <a:endParaRPr lang="en-US" sz="1500" dirty="0"/>
          </a:p>
        </p:txBody>
      </p:sp>
      <p:sp>
        <p:nvSpPr>
          <p:cNvPr id="15" name="Text 12"/>
          <p:cNvSpPr/>
          <p:nvPr/>
        </p:nvSpPr>
        <p:spPr>
          <a:xfrm>
            <a:off x="2081128" y="2587752"/>
            <a:ext cx="3880413" cy="402336"/>
          </a:xfrm>
          <a:prstGeom prst="rect">
            <a:avLst/>
          </a:prstGeom>
          <a:noFill/>
          <a:ln/>
        </p:spPr>
        <p:txBody>
          <a:bodyPr wrap="square" lIns="0" tIns="0" rIns="0" bIns="0" rtlCol="0" anchor="ctr"/>
          <a:lstStyle/>
          <a:p>
            <a:pPr marL="0" indent="0">
              <a:buNone/>
            </a:pPr>
            <a:r>
              <a:rPr lang="en-US" sz="1050" dirty="0">
                <a:solidFill>
                  <a:srgbClr val="44556A"/>
                </a:solidFill>
                <a:latin typeface="Calibri" pitchFamily="34" charset="0"/>
                <a:ea typeface="Calibri" pitchFamily="34" charset="-122"/>
                <a:cs typeface="Calibri" pitchFamily="34" charset="-120"/>
              </a:rPr>
              <a:t>Dva postena ne mogu odluciti razlicito.</a:t>
            </a:r>
            <a:endParaRPr lang="en-US" sz="1050" dirty="0"/>
          </a:p>
        </p:txBody>
      </p:sp>
      <p:sp>
        <p:nvSpPr>
          <p:cNvPr id="16" name="Shape 13"/>
          <p:cNvSpPr/>
          <p:nvPr/>
        </p:nvSpPr>
        <p:spPr>
          <a:xfrm>
            <a:off x="4434840" y="1554480"/>
            <a:ext cx="4206240" cy="2331720"/>
          </a:xfrm>
          <a:prstGeom prst="roundRect">
            <a:avLst>
              <a:gd name="adj" fmla="val 3922"/>
            </a:avLst>
          </a:prstGeom>
          <a:solidFill>
            <a:srgbClr val="0E2A47"/>
          </a:solidFill>
          <a:ln/>
          <a:effectLst>
            <a:outerShdw blurRad="114300" dist="38100" dir="5400000" algn="bl" rotWithShape="0">
              <a:srgbClr val="0B1A2E">
                <a:alpha val="13000"/>
              </a:srgbClr>
            </a:outerShdw>
          </a:effectLst>
        </p:spPr>
      </p:sp>
      <p:sp>
        <p:nvSpPr>
          <p:cNvPr id="17" name="Shape 14"/>
          <p:cNvSpPr/>
          <p:nvPr/>
        </p:nvSpPr>
        <p:spPr>
          <a:xfrm>
            <a:off x="4663440" y="1755648"/>
            <a:ext cx="512064" cy="512064"/>
          </a:xfrm>
          <a:prstGeom prst="ellipse">
            <a:avLst/>
          </a:prstGeom>
          <a:solidFill>
            <a:srgbClr val="16BFA6"/>
          </a:solidFill>
          <a:ln/>
          <a:effectLst>
            <a:outerShdw blurRad="88900" dist="25400" dir="5400000" algn="bl" rotWithShape="0">
              <a:srgbClr val="0B1A2E">
                <a:alpha val="16000"/>
              </a:srgbClr>
            </a:outerShdw>
          </a:effectLst>
        </p:spPr>
      </p:sp>
      <p:pic>
        <p:nvPicPr>
          <p:cNvPr id="18" name="Image 1" descr="preencoded.png"/>
          <p:cNvPicPr>
            <a:picLocks noChangeAspect="1"/>
          </p:cNvPicPr>
          <p:nvPr/>
        </p:nvPicPr>
        <p:blipFill>
          <a:blip r:embed="rId4"/>
          <a:stretch>
            <a:fillRect/>
          </a:stretch>
        </p:blipFill>
        <p:spPr>
          <a:xfrm>
            <a:off x="4791456" y="1883664"/>
            <a:ext cx="256032" cy="256032"/>
          </a:xfrm>
          <a:prstGeom prst="rect">
            <a:avLst/>
          </a:prstGeom>
        </p:spPr>
      </p:pic>
      <p:sp>
        <p:nvSpPr>
          <p:cNvPr id="19" name="Text 15"/>
          <p:cNvSpPr/>
          <p:nvPr/>
        </p:nvSpPr>
        <p:spPr>
          <a:xfrm>
            <a:off x="5303520" y="1783080"/>
            <a:ext cx="3108960" cy="45720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Dokaz saglasnosti</a:t>
            </a:r>
            <a:endParaRPr lang="en-US" sz="1450" dirty="0"/>
          </a:p>
        </p:txBody>
      </p:sp>
      <p:sp>
        <p:nvSpPr>
          <p:cNvPr id="20" name="Text 16"/>
          <p:cNvSpPr/>
          <p:nvPr/>
        </p:nvSpPr>
        <p:spPr>
          <a:xfrm>
            <a:off x="4663440" y="2286000"/>
            <a:ext cx="3749040" cy="1554480"/>
          </a:xfrm>
          <a:prstGeom prst="rect">
            <a:avLst/>
          </a:prstGeom>
          <a:noFill/>
          <a:ln/>
        </p:spPr>
        <p:txBody>
          <a:bodyPr wrap="square" lIns="0" tIns="0" rIns="0" bIns="0" rtlCol="0" anchor="ctr"/>
          <a:lstStyle/>
          <a:p>
            <a:pPr marL="0" indent="0">
              <a:lnSpc>
                <a:spcPct val="105000"/>
              </a:lnSpc>
              <a:spcAft>
                <a:spcPts val="500"/>
              </a:spcAft>
              <a:buNone/>
            </a:pPr>
            <a:r>
              <a:rPr lang="en-US" sz="1130" dirty="0">
                <a:solidFill>
                  <a:srgbClr val="FFFFFF"/>
                </a:solidFill>
                <a:latin typeface="Calibri" pitchFamily="34" charset="0"/>
                <a:ea typeface="Calibri" pitchFamily="34" charset="-122"/>
                <a:cs typeface="Calibri" pitchFamily="34" charset="-120"/>
              </a:rPr>
              <a:t>p odluci v, q odluci v' → oba imaju 2f+1 PRECOMMIT.
</a:t>
            </a:r>
            <a:endParaRPr lang="en-US" sz="1130" dirty="0"/>
          </a:p>
          <a:p>
            <a:pPr marL="0" indent="0">
              <a:lnSpc>
                <a:spcPct val="105000"/>
              </a:lnSpc>
              <a:spcAft>
                <a:spcPts val="500"/>
              </a:spcAft>
              <a:buNone/>
            </a:pPr>
            <a:r>
              <a:rPr lang="en-US" sz="1130" dirty="0">
                <a:solidFill>
                  <a:srgbClr val="CFE0F2"/>
                </a:solidFill>
                <a:latin typeface="Calibri" pitchFamily="34" charset="0"/>
                <a:ea typeface="Calibri" pitchFamily="34" charset="-122"/>
                <a:cs typeface="Calibri" pitchFamily="34" charset="-120"/>
              </a:rPr>
              <a:t>Po Lemi 1 dele postenog; on salje samo 1 PRECOMMIT → v = v’.
</a:t>
            </a:r>
            <a:endParaRPr lang="en-US" sz="1130" dirty="0"/>
          </a:p>
          <a:p>
            <a:pPr marL="0" indent="0">
              <a:lnSpc>
                <a:spcPct val="105000"/>
              </a:lnSpc>
              <a:buNone/>
            </a:pPr>
            <a:r>
              <a:rPr lang="en-US" sz="1130" dirty="0">
                <a:solidFill>
                  <a:srgbClr val="CFE0F2"/>
                </a:solidFill>
                <a:latin typeface="Calibri" pitchFamily="34" charset="0"/>
                <a:ea typeface="Calibri" pitchFamily="34" charset="-122"/>
                <a:cs typeface="Calibri" pitchFamily="34" charset="-120"/>
              </a:rPr>
              <a:t>Za </a:t>
            </a:r>
            <a:r>
              <a:rPr lang="en-US" sz="1130" dirty="0" err="1">
                <a:solidFill>
                  <a:srgbClr val="CFE0F2"/>
                </a:solidFill>
                <a:latin typeface="Calibri" pitchFamily="34" charset="0"/>
                <a:ea typeface="Calibri" pitchFamily="34" charset="-122"/>
                <a:cs typeface="Calibri" pitchFamily="34" charset="-120"/>
              </a:rPr>
              <a:t>odluke</a:t>
            </a:r>
            <a:r>
              <a:rPr lang="en-US" sz="1130" dirty="0">
                <a:solidFill>
                  <a:srgbClr val="CFE0F2"/>
                </a:solidFill>
                <a:latin typeface="Calibri" pitchFamily="34" charset="0"/>
                <a:ea typeface="Calibri" pitchFamily="34" charset="-122"/>
                <a:cs typeface="Calibri" pitchFamily="34" charset="-120"/>
              </a:rPr>
              <a:t> u </a:t>
            </a:r>
            <a:r>
              <a:rPr lang="en-US" sz="1130" dirty="0" err="1">
                <a:solidFill>
                  <a:srgbClr val="CFE0F2"/>
                </a:solidFill>
                <a:latin typeface="Calibri" pitchFamily="34" charset="0"/>
                <a:ea typeface="Calibri" pitchFamily="34" charset="-122"/>
                <a:cs typeface="Calibri" pitchFamily="34" charset="-120"/>
              </a:rPr>
              <a:t>razlicitim</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rundama</a:t>
            </a:r>
            <a:r>
              <a:rPr lang="en-US" sz="1130" dirty="0">
                <a:solidFill>
                  <a:srgbClr val="CFE0F2"/>
                </a:solidFill>
                <a:latin typeface="Calibri" pitchFamily="34" charset="0"/>
                <a:ea typeface="Calibri" pitchFamily="34" charset="-122"/>
                <a:cs typeface="Calibri" pitchFamily="34" charset="-120"/>
              </a:rPr>
              <a:t>: Lema 2 </a:t>
            </a:r>
            <a:r>
              <a:rPr lang="en-US" sz="1130" dirty="0" err="1">
                <a:solidFill>
                  <a:srgbClr val="CFE0F2"/>
                </a:solidFill>
                <a:latin typeface="Calibri" pitchFamily="34" charset="0"/>
                <a:ea typeface="Calibri" pitchFamily="34" charset="-122"/>
                <a:cs typeface="Calibri" pitchFamily="34" charset="-120"/>
              </a:rPr>
              <a:t>sprecava</a:t>
            </a:r>
            <a:r>
              <a:rPr lang="en-US" sz="1130" dirty="0">
                <a:solidFill>
                  <a:srgbClr val="CFE0F2"/>
                </a:solidFill>
                <a:latin typeface="Calibri" pitchFamily="34" charset="0"/>
                <a:ea typeface="Calibri" pitchFamily="34" charset="-122"/>
                <a:cs typeface="Calibri" pitchFamily="34" charset="-120"/>
              </a:rPr>
              <a:t> da v’(</a:t>
            </a:r>
            <a:r>
              <a:rPr lang="en-US" sz="1130" dirty="0" err="1">
                <a:solidFill>
                  <a:srgbClr val="CFE0F2"/>
                </a:solidFill>
                <a:latin typeface="Calibri" pitchFamily="34" charset="0"/>
                <a:ea typeface="Calibri" pitchFamily="34" charset="-122"/>
                <a:cs typeface="Calibri" pitchFamily="34" charset="-120"/>
              </a:rPr>
              <a:t>druga</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vrednost</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uopste</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skupi</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glasove</a:t>
            </a:r>
            <a:r>
              <a:rPr lang="en-US" sz="1130" dirty="0">
                <a:solidFill>
                  <a:srgbClr val="CFE0F2"/>
                </a:solidFill>
                <a:latin typeface="Calibri" pitchFamily="34" charset="0"/>
                <a:ea typeface="Calibri" pitchFamily="34" charset="-122"/>
                <a:cs typeface="Calibri" pitchFamily="34" charset="-120"/>
              </a:rPr>
              <a:t> </a:t>
            </a:r>
            <a:r>
              <a:rPr lang="en-US" sz="1130" dirty="0" err="1">
                <a:solidFill>
                  <a:srgbClr val="CFE0F2"/>
                </a:solidFill>
                <a:latin typeface="Calibri" pitchFamily="34" charset="0"/>
                <a:ea typeface="Calibri" pitchFamily="34" charset="-122"/>
                <a:cs typeface="Calibri" pitchFamily="34" charset="-120"/>
              </a:rPr>
              <a:t>ako</a:t>
            </a:r>
            <a:r>
              <a:rPr lang="en-US" sz="1130" dirty="0">
                <a:solidFill>
                  <a:srgbClr val="CFE0F2"/>
                </a:solidFill>
                <a:latin typeface="Calibri" pitchFamily="34" charset="0"/>
                <a:ea typeface="Calibri" pitchFamily="34" charset="-122"/>
                <a:cs typeface="Calibri" pitchFamily="34" charset="-120"/>
              </a:rPr>
              <a:t> bi </a:t>
            </a:r>
            <a:r>
              <a:rPr lang="en-US" sz="1130" dirty="0" err="1">
                <a:solidFill>
                  <a:srgbClr val="CFE0F2"/>
                </a:solidFill>
                <a:latin typeface="Calibri" pitchFamily="34" charset="0"/>
                <a:ea typeface="Calibri" pitchFamily="34" charset="-122"/>
                <a:cs typeface="Calibri" pitchFamily="34" charset="-120"/>
              </a:rPr>
              <a:t>bila</a:t>
            </a:r>
            <a:r>
              <a:rPr lang="en-US" sz="1130" dirty="0">
                <a:solidFill>
                  <a:srgbClr val="CFE0F2"/>
                </a:solidFill>
                <a:latin typeface="Calibri" pitchFamily="34" charset="0"/>
                <a:ea typeface="Calibri" pitchFamily="34" charset="-122"/>
                <a:cs typeface="Calibri" pitchFamily="34" charset="-120"/>
              </a:rPr>
              <a:t> u </a:t>
            </a:r>
            <a:r>
              <a:rPr lang="en-US" sz="1130" dirty="0" err="1">
                <a:solidFill>
                  <a:srgbClr val="CFE0F2"/>
                </a:solidFill>
                <a:latin typeface="Calibri" pitchFamily="34" charset="0"/>
                <a:ea typeface="Calibri" pitchFamily="34" charset="-122"/>
                <a:cs typeface="Calibri" pitchFamily="34" charset="-120"/>
              </a:rPr>
              <a:t>sukobu</a:t>
            </a:r>
            <a:r>
              <a:rPr lang="en-US" sz="1130" dirty="0">
                <a:solidFill>
                  <a:srgbClr val="CFE0F2"/>
                </a:solidFill>
                <a:latin typeface="Calibri" pitchFamily="34" charset="0"/>
                <a:ea typeface="Calibri" pitchFamily="34" charset="-122"/>
                <a:cs typeface="Calibri" pitchFamily="34" charset="-120"/>
              </a:rPr>
              <a:t>.</a:t>
            </a:r>
            <a:endParaRPr lang="en-US" sz="1130" dirty="0"/>
          </a:p>
        </p:txBody>
      </p:sp>
      <p:sp>
        <p:nvSpPr>
          <p:cNvPr id="21" name="Shape 17"/>
          <p:cNvSpPr/>
          <p:nvPr/>
        </p:nvSpPr>
        <p:spPr>
          <a:xfrm>
            <a:off x="502920" y="4023360"/>
            <a:ext cx="8138160" cy="685800"/>
          </a:xfrm>
          <a:prstGeom prst="roundRect">
            <a:avLst>
              <a:gd name="adj" fmla="val 13333"/>
            </a:avLst>
          </a:prstGeom>
          <a:solidFill>
            <a:srgbClr val="EFFAF8"/>
          </a:solidFill>
          <a:ln/>
        </p:spPr>
      </p:sp>
      <p:sp>
        <p:nvSpPr>
          <p:cNvPr id="22" name="Shape 18"/>
          <p:cNvSpPr/>
          <p:nvPr/>
        </p:nvSpPr>
        <p:spPr>
          <a:xfrm>
            <a:off x="731520" y="4114800"/>
            <a:ext cx="457200" cy="457200"/>
          </a:xfrm>
          <a:prstGeom prst="ellipse">
            <a:avLst/>
          </a:prstGeom>
          <a:solidFill>
            <a:srgbClr val="0D9488"/>
          </a:solidFill>
          <a:ln/>
          <a:effectLst>
            <a:outerShdw blurRad="88900" dist="25400" dir="5400000" algn="bl" rotWithShape="0">
              <a:srgbClr val="0B1A2E">
                <a:alpha val="16000"/>
              </a:srgbClr>
            </a:outerShdw>
          </a:effectLst>
        </p:spPr>
      </p:sp>
      <p:pic>
        <p:nvPicPr>
          <p:cNvPr id="23" name="Image 2" descr="preencoded.png"/>
          <p:cNvPicPr>
            <a:picLocks noChangeAspect="1"/>
          </p:cNvPicPr>
          <p:nvPr/>
        </p:nvPicPr>
        <p:blipFill>
          <a:blip r:embed="rId5"/>
          <a:stretch>
            <a:fillRect/>
          </a:stretch>
        </p:blipFill>
        <p:spPr>
          <a:xfrm>
            <a:off x="845820" y="4229100"/>
            <a:ext cx="228600" cy="228600"/>
          </a:xfrm>
          <a:prstGeom prst="rect">
            <a:avLst/>
          </a:prstGeom>
        </p:spPr>
      </p:pic>
      <p:sp>
        <p:nvSpPr>
          <p:cNvPr id="24" name="Text 19"/>
          <p:cNvSpPr/>
          <p:nvPr/>
        </p:nvSpPr>
        <p:spPr>
          <a:xfrm>
            <a:off x="1325880" y="4096512"/>
            <a:ext cx="7178040" cy="548640"/>
          </a:xfrm>
          <a:prstGeom prst="rect">
            <a:avLst/>
          </a:prstGeom>
          <a:noFill/>
          <a:ln/>
        </p:spPr>
        <p:txBody>
          <a:bodyPr wrap="square" lIns="0" tIns="0" rIns="0" bIns="0" rtlCol="0" anchor="ctr"/>
          <a:lstStyle/>
          <a:p>
            <a:pPr marL="0" indent="0">
              <a:lnSpc>
                <a:spcPct val="100000"/>
              </a:lnSpc>
              <a:buNone/>
            </a:pPr>
            <a:r>
              <a:rPr lang="en-US" sz="1150" b="1" dirty="0">
                <a:solidFill>
                  <a:srgbClr val="0D9488"/>
                </a:solidFill>
                <a:latin typeface="Calibri" pitchFamily="34" charset="0"/>
                <a:ea typeface="Calibri" pitchFamily="34" charset="-122"/>
                <a:cs typeface="Calibri" pitchFamily="34" charset="-120"/>
              </a:rPr>
              <a:t>Validnost (Lema 4) — trivijalno:  </a:t>
            </a:r>
            <a:r>
              <a:rPr lang="en-US" sz="1150" dirty="0">
                <a:solidFill>
                  <a:srgbClr val="44556A"/>
                </a:solidFill>
                <a:latin typeface="Calibri" pitchFamily="34" charset="0"/>
                <a:ea typeface="Calibri" pitchFamily="34" charset="-122"/>
                <a:cs typeface="Calibri" pitchFamily="34" charset="-120"/>
              </a:rPr>
              <a:t>odluka se desava SAMO unutar provere valid(v), pa je svaka odlucena vrednost po definiciji validna.</a:t>
            </a:r>
            <a:endParaRPr lang="en-US" sz="1150" dirty="0"/>
          </a:p>
        </p:txBody>
      </p:sp>
      <p:sp>
        <p:nvSpPr>
          <p:cNvPr id="26" name="Text 20"/>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20</a:t>
            </a:r>
            <a:endParaRPr lang="en-US" sz="900" dirty="0"/>
          </a:p>
        </p:txBody>
      </p:sp>
      <p:sp>
        <p:nvSpPr>
          <p:cNvPr id="27" name="Text 21"/>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Osobine — bezbednost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OSOBINE — ZIVOST</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Terminacija: zasto algoritam uvek zavrsi</a:t>
            </a:r>
            <a:endParaRPr lang="en-US" sz="3000" dirty="0"/>
          </a:p>
        </p:txBody>
      </p:sp>
      <p:sp>
        <p:nvSpPr>
          <p:cNvPr id="4" name="Shape 2"/>
          <p:cNvSpPr/>
          <p:nvPr/>
        </p:nvSpPr>
        <p:spPr>
          <a:xfrm>
            <a:off x="502920" y="1645920"/>
            <a:ext cx="8138160" cy="914400"/>
          </a:xfrm>
          <a:prstGeom prst="roundRect">
            <a:avLst>
              <a:gd name="adj" fmla="val 9000"/>
            </a:avLst>
          </a:prstGeom>
          <a:solidFill>
            <a:srgbClr val="FFFFFF"/>
          </a:solidFill>
          <a:ln/>
          <a:effectLst>
            <a:outerShdw blurRad="114300" dist="38100" dir="5400000" algn="bl" rotWithShape="0">
              <a:srgbClr val="0B1A2E">
                <a:alpha val="13000"/>
              </a:srgbClr>
            </a:outerShdw>
          </a:effectLst>
        </p:spPr>
      </p:sp>
      <p:sp>
        <p:nvSpPr>
          <p:cNvPr id="5" name="Shape 3"/>
          <p:cNvSpPr/>
          <p:nvPr/>
        </p:nvSpPr>
        <p:spPr>
          <a:xfrm>
            <a:off x="704088" y="1947672"/>
            <a:ext cx="1280160" cy="310896"/>
          </a:xfrm>
          <a:prstGeom prst="roundRect">
            <a:avLst>
              <a:gd name="adj" fmla="val 50000"/>
            </a:avLst>
          </a:prstGeom>
          <a:solidFill>
            <a:srgbClr val="EAF1F8"/>
          </a:solidFill>
          <a:ln/>
        </p:spPr>
      </p:sp>
      <p:sp>
        <p:nvSpPr>
          <p:cNvPr id="6" name="Text 4"/>
          <p:cNvSpPr/>
          <p:nvPr/>
        </p:nvSpPr>
        <p:spPr>
          <a:xfrm>
            <a:off x="704088" y="1938528"/>
            <a:ext cx="1280160" cy="329184"/>
          </a:xfrm>
          <a:prstGeom prst="rect">
            <a:avLst/>
          </a:prstGeom>
          <a:noFill/>
          <a:ln/>
        </p:spPr>
        <p:txBody>
          <a:bodyPr wrap="square" lIns="0" tIns="0" rIns="0" bIns="0" rtlCol="0" anchor="ctr"/>
          <a:lstStyle/>
          <a:p>
            <a:pPr marL="0" indent="0" algn="ctr">
              <a:buNone/>
            </a:pPr>
            <a:r>
              <a:rPr lang="en-US" sz="1100" b="1" dirty="0">
                <a:solidFill>
                  <a:srgbClr val="1E466E"/>
                </a:solidFill>
                <a:latin typeface="Calibri" pitchFamily="34" charset="0"/>
                <a:ea typeface="Calibri" pitchFamily="34" charset="-122"/>
                <a:cs typeface="Calibri" pitchFamily="34" charset="-120"/>
              </a:rPr>
              <a:t>LEMA 5</a:t>
            </a:r>
            <a:endParaRPr lang="en-US" sz="1100" dirty="0"/>
          </a:p>
        </p:txBody>
      </p:sp>
      <p:sp>
        <p:nvSpPr>
          <p:cNvPr id="7" name="Text 5"/>
          <p:cNvSpPr/>
          <p:nvPr/>
        </p:nvSpPr>
        <p:spPr>
          <a:xfrm>
            <a:off x="2194560" y="1773936"/>
            <a:ext cx="6217920" cy="658368"/>
          </a:xfrm>
          <a:prstGeom prst="rect">
            <a:avLst/>
          </a:prstGeom>
          <a:noFill/>
          <a:ln/>
        </p:spPr>
        <p:txBody>
          <a:bodyPr wrap="square" lIns="0" tIns="0" rIns="0" bIns="0" rtlCol="0" anchor="ctr"/>
          <a:lstStyle/>
          <a:p>
            <a:pPr marL="0" indent="0">
              <a:lnSpc>
                <a:spcPct val="100000"/>
              </a:lnSpc>
              <a:buNone/>
            </a:pPr>
            <a:r>
              <a:rPr lang="en-US" sz="1200" dirty="0">
                <a:solidFill>
                  <a:srgbClr val="44556A"/>
                </a:solidFill>
                <a:latin typeface="Calibri" pitchFamily="34" charset="0"/>
                <a:ea typeface="Calibri" pitchFamily="34" charset="-122"/>
                <a:cs typeface="Calibri" pitchFamily="34" charset="-120"/>
              </a:rPr>
              <a:t>Pod dobrim uslovima (posle GST, posten lider, tajmauti &gt; 2Δ) SVI odluce u toj rundi — za nekoliko koraka Δ.</a:t>
            </a:r>
            <a:endParaRPr lang="en-US" sz="1200" dirty="0"/>
          </a:p>
        </p:txBody>
      </p:sp>
      <p:sp>
        <p:nvSpPr>
          <p:cNvPr id="8" name="Shape 6"/>
          <p:cNvSpPr/>
          <p:nvPr/>
        </p:nvSpPr>
        <p:spPr>
          <a:xfrm>
            <a:off x="502920" y="2679192"/>
            <a:ext cx="8138160" cy="914400"/>
          </a:xfrm>
          <a:prstGeom prst="roundRect">
            <a:avLst>
              <a:gd name="adj" fmla="val 9000"/>
            </a:avLst>
          </a:prstGeom>
          <a:solidFill>
            <a:srgbClr val="FFFFFF"/>
          </a:solidFill>
          <a:ln/>
          <a:effectLst>
            <a:outerShdw blurRad="114300" dist="38100" dir="5400000" algn="bl" rotWithShape="0">
              <a:srgbClr val="0B1A2E">
                <a:alpha val="13000"/>
              </a:srgbClr>
            </a:outerShdw>
          </a:effectLst>
        </p:spPr>
      </p:sp>
      <p:sp>
        <p:nvSpPr>
          <p:cNvPr id="9" name="Shape 7"/>
          <p:cNvSpPr/>
          <p:nvPr/>
        </p:nvSpPr>
        <p:spPr>
          <a:xfrm>
            <a:off x="704088" y="2980944"/>
            <a:ext cx="1280160" cy="310896"/>
          </a:xfrm>
          <a:prstGeom prst="roundRect">
            <a:avLst>
              <a:gd name="adj" fmla="val 50000"/>
            </a:avLst>
          </a:prstGeom>
          <a:solidFill>
            <a:srgbClr val="EAF1F8"/>
          </a:solidFill>
          <a:ln/>
        </p:spPr>
      </p:sp>
      <p:sp>
        <p:nvSpPr>
          <p:cNvPr id="10" name="Text 8"/>
          <p:cNvSpPr/>
          <p:nvPr/>
        </p:nvSpPr>
        <p:spPr>
          <a:xfrm>
            <a:off x="704088" y="2971800"/>
            <a:ext cx="1280160" cy="329184"/>
          </a:xfrm>
          <a:prstGeom prst="rect">
            <a:avLst/>
          </a:prstGeom>
          <a:noFill/>
          <a:ln/>
        </p:spPr>
        <p:txBody>
          <a:bodyPr wrap="square" lIns="0" tIns="0" rIns="0" bIns="0" rtlCol="0" anchor="ctr"/>
          <a:lstStyle/>
          <a:p>
            <a:pPr marL="0" indent="0" algn="ctr">
              <a:buNone/>
            </a:pPr>
            <a:r>
              <a:rPr lang="en-US" sz="1100" b="1" dirty="0">
                <a:solidFill>
                  <a:srgbClr val="1E466E"/>
                </a:solidFill>
                <a:latin typeface="Calibri" pitchFamily="34" charset="0"/>
                <a:ea typeface="Calibri" pitchFamily="34" charset="-122"/>
                <a:cs typeface="Calibri" pitchFamily="34" charset="-120"/>
              </a:rPr>
              <a:t>LEMA 6</a:t>
            </a:r>
            <a:endParaRPr lang="en-US" sz="1100" dirty="0"/>
          </a:p>
        </p:txBody>
      </p:sp>
      <p:sp>
        <p:nvSpPr>
          <p:cNvPr id="11" name="Text 9"/>
          <p:cNvSpPr/>
          <p:nvPr/>
        </p:nvSpPr>
        <p:spPr>
          <a:xfrm>
            <a:off x="2194560" y="2807208"/>
            <a:ext cx="6217920" cy="658368"/>
          </a:xfrm>
          <a:prstGeom prst="rect">
            <a:avLst/>
          </a:prstGeom>
          <a:noFill/>
          <a:ln/>
        </p:spPr>
        <p:txBody>
          <a:bodyPr wrap="square" lIns="0" tIns="0" rIns="0" bIns="0" rtlCol="0" anchor="ctr"/>
          <a:lstStyle/>
          <a:p>
            <a:r>
              <a:rPr lang="en-US" sz="1200" dirty="0">
                <a:solidFill>
                  <a:srgbClr val="44556A"/>
                </a:solidFill>
                <a:latin typeface="Calibri" pitchFamily="34" charset="0"/>
                <a:ea typeface="Calibri" pitchFamily="34" charset="-122"/>
                <a:cs typeface="Calibri" pitchFamily="34" charset="-120"/>
              </a:rPr>
              <a:t>Ako posten zakljuca v, SVI posteni postave validValue = v pre nego sto napuste </a:t>
            </a:r>
            <a:r>
              <a:rPr lang="en-US" sz="1200" dirty="0" err="1">
                <a:solidFill>
                  <a:srgbClr val="44556A"/>
                </a:solidFill>
                <a:latin typeface="Calibri" pitchFamily="34" charset="0"/>
                <a:ea typeface="Calibri" pitchFamily="34" charset="-122"/>
                <a:cs typeface="Calibri" pitchFamily="34" charset="-120"/>
              </a:rPr>
              <a:t>rundu</a:t>
            </a:r>
            <a:r>
              <a:rPr lang="en-US" sz="1200" dirty="0">
                <a:solidFill>
                  <a:srgbClr val="44556A"/>
                </a:solidFill>
                <a:latin typeface="Calibri" pitchFamily="34" charset="0"/>
                <a:ea typeface="Calibri" pitchFamily="34" charset="-122"/>
                <a:cs typeface="Calibri" pitchFamily="34" charset="-120"/>
              </a:rPr>
              <a:t> (</a:t>
            </a:r>
            <a:r>
              <a:rPr lang="en-US" sz="1200" dirty="0" err="1"/>
              <a:t>Dokaz</a:t>
            </a:r>
            <a:r>
              <a:rPr lang="en-US" sz="1200" dirty="0"/>
              <a:t> </a:t>
            </a:r>
            <a:r>
              <a:rPr lang="en-US" sz="1200" dirty="0" err="1"/>
              <a:t>poredi</a:t>
            </a:r>
            <a:r>
              <a:rPr lang="en-US" sz="1200" dirty="0"/>
              <a:t> </a:t>
            </a:r>
            <a:r>
              <a:rPr lang="en-US" sz="1200" dirty="0" err="1"/>
              <a:t>vreme</a:t>
            </a:r>
            <a:r>
              <a:rPr lang="en-US" sz="1200" dirty="0"/>
              <a:t> - </a:t>
            </a:r>
            <a:r>
              <a:rPr lang="en-US" sz="1200" dirty="0" err="1"/>
              <a:t>zakljucavanje</a:t>
            </a:r>
            <a:r>
              <a:rPr lang="en-US" sz="1200" dirty="0"/>
              <a:t> ide </a:t>
            </a:r>
            <a:r>
              <a:rPr lang="en-US" sz="1200" dirty="0" err="1"/>
              <a:t>sporo</a:t>
            </a:r>
            <a:r>
              <a:rPr lang="en-US" sz="1200" dirty="0"/>
              <a:t>, </a:t>
            </a:r>
            <a:r>
              <a:rPr lang="en-US" sz="1200" dirty="0" err="1"/>
              <a:t>izlazak</a:t>
            </a:r>
            <a:r>
              <a:rPr lang="en-US" sz="1200" dirty="0"/>
              <a:t> </a:t>
            </a:r>
            <a:r>
              <a:rPr lang="en-US" sz="1200" dirty="0" err="1"/>
              <a:t>iz</a:t>
            </a:r>
            <a:r>
              <a:rPr lang="en-US" sz="1200" dirty="0"/>
              <a:t> </a:t>
            </a:r>
            <a:r>
              <a:rPr lang="en-US" sz="1200" dirty="0" err="1"/>
              <a:t>runde</a:t>
            </a:r>
            <a:r>
              <a:rPr lang="en-US" sz="1200" dirty="0"/>
              <a:t> </a:t>
            </a:r>
            <a:r>
              <a:rPr lang="en-US" sz="1200" dirty="0" err="1"/>
              <a:t>jos</a:t>
            </a:r>
            <a:r>
              <a:rPr lang="en-US" sz="1200" dirty="0"/>
              <a:t> </a:t>
            </a:r>
            <a:r>
              <a:rPr lang="en-US" sz="1200" dirty="0" err="1"/>
              <a:t>sporije</a:t>
            </a:r>
            <a:r>
              <a:rPr lang="en-US" sz="1200" dirty="0"/>
              <a:t>, pa </a:t>
            </a:r>
            <a:r>
              <a:rPr lang="en-US" sz="1200" dirty="0" err="1"/>
              <a:t>svi</a:t>
            </a:r>
            <a:r>
              <a:rPr lang="en-US" sz="1200" dirty="0"/>
              <a:t> </a:t>
            </a:r>
            <a:r>
              <a:rPr lang="en-US" sz="1200" dirty="0" err="1"/>
              <a:t>stignu</a:t>
            </a:r>
            <a:r>
              <a:rPr lang="en-US" sz="1200" dirty="0"/>
              <a:t> da </a:t>
            </a:r>
            <a:r>
              <a:rPr lang="en-US" sz="1200" dirty="0" err="1"/>
              <a:t>uhvate</a:t>
            </a:r>
            <a:r>
              <a:rPr lang="en-US" sz="1200" dirty="0"/>
              <a:t> </a:t>
            </a:r>
            <a:r>
              <a:rPr lang="en-US" sz="1200" dirty="0" err="1"/>
              <a:t>validValue</a:t>
            </a:r>
            <a:r>
              <a:rPr lang="en-US" sz="1200" dirty="0">
                <a:solidFill>
                  <a:srgbClr val="44556A"/>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502920" y="3712464"/>
            <a:ext cx="8138160" cy="914400"/>
          </a:xfrm>
          <a:prstGeom prst="roundRect">
            <a:avLst>
              <a:gd name="adj" fmla="val 9000"/>
            </a:avLst>
          </a:prstGeom>
          <a:solidFill>
            <a:srgbClr val="EFFAF8"/>
          </a:solidFill>
          <a:ln/>
          <a:effectLst>
            <a:outerShdw blurRad="114300" dist="38100" dir="5400000" algn="bl" rotWithShape="0">
              <a:srgbClr val="0B1A2E">
                <a:alpha val="13000"/>
              </a:srgbClr>
            </a:outerShdw>
          </a:effectLst>
        </p:spPr>
      </p:sp>
      <p:sp>
        <p:nvSpPr>
          <p:cNvPr id="13" name="Shape 11"/>
          <p:cNvSpPr/>
          <p:nvPr/>
        </p:nvSpPr>
        <p:spPr>
          <a:xfrm>
            <a:off x="704088" y="4014216"/>
            <a:ext cx="1280160" cy="310896"/>
          </a:xfrm>
          <a:prstGeom prst="roundRect">
            <a:avLst>
              <a:gd name="adj" fmla="val 50000"/>
            </a:avLst>
          </a:prstGeom>
          <a:solidFill>
            <a:srgbClr val="FBEEDD"/>
          </a:solidFill>
          <a:ln/>
        </p:spPr>
      </p:sp>
      <p:sp>
        <p:nvSpPr>
          <p:cNvPr id="14" name="Text 12"/>
          <p:cNvSpPr/>
          <p:nvPr/>
        </p:nvSpPr>
        <p:spPr>
          <a:xfrm>
            <a:off x="704088" y="4005072"/>
            <a:ext cx="1280160" cy="329184"/>
          </a:xfrm>
          <a:prstGeom prst="rect">
            <a:avLst/>
          </a:prstGeom>
          <a:noFill/>
          <a:ln/>
        </p:spPr>
        <p:txBody>
          <a:bodyPr wrap="square" lIns="0" tIns="0" rIns="0" bIns="0" rtlCol="0" anchor="ctr"/>
          <a:lstStyle/>
          <a:p>
            <a:pPr marL="0" indent="0" algn="ctr">
              <a:buNone/>
            </a:pPr>
            <a:r>
              <a:rPr lang="en-US" sz="1100" b="1" dirty="0">
                <a:solidFill>
                  <a:srgbClr val="C9772A"/>
                </a:solidFill>
                <a:latin typeface="Calibri" pitchFamily="34" charset="0"/>
                <a:ea typeface="Calibri" pitchFamily="34" charset="-122"/>
                <a:cs typeface="Calibri" pitchFamily="34" charset="-120"/>
              </a:rPr>
              <a:t>LEMA 7</a:t>
            </a:r>
            <a:endParaRPr lang="en-US" sz="1100" dirty="0"/>
          </a:p>
        </p:txBody>
      </p:sp>
      <p:sp>
        <p:nvSpPr>
          <p:cNvPr id="15" name="Text 13"/>
          <p:cNvSpPr/>
          <p:nvPr/>
        </p:nvSpPr>
        <p:spPr>
          <a:xfrm>
            <a:off x="2194560" y="3840480"/>
            <a:ext cx="6217920" cy="658368"/>
          </a:xfrm>
          <a:prstGeom prst="rect">
            <a:avLst/>
          </a:prstGeom>
          <a:noFill/>
          <a:ln/>
        </p:spPr>
        <p:txBody>
          <a:bodyPr wrap="square" lIns="0" tIns="0" rIns="0" bIns="0" rtlCol="0" anchor="ctr"/>
          <a:lstStyle/>
          <a:p>
            <a:pPr marL="0" indent="0">
              <a:lnSpc>
                <a:spcPct val="100000"/>
              </a:lnSpc>
              <a:buNone/>
            </a:pPr>
            <a:r>
              <a:rPr lang="en-US" sz="1200" dirty="0">
                <a:solidFill>
                  <a:srgbClr val="44556A"/>
                </a:solidFill>
                <a:latin typeface="Calibri" pitchFamily="34" charset="0"/>
                <a:ea typeface="Calibri" pitchFamily="34" charset="-122"/>
                <a:cs typeface="Calibri" pitchFamily="34" charset="-120"/>
              </a:rPr>
              <a:t>Spaja sve: posle GST se pre ili kasnije ostvare uslovi Leme 5 → SVI posteni terminiraju.</a:t>
            </a:r>
            <a:endParaRPr lang="en-US" sz="1200" dirty="0"/>
          </a:p>
        </p:txBody>
      </p:sp>
      <p:sp>
        <p:nvSpPr>
          <p:cNvPr id="16" name="Text 14"/>
          <p:cNvSpPr/>
          <p:nvPr/>
        </p:nvSpPr>
        <p:spPr>
          <a:xfrm>
            <a:off x="502920" y="4526280"/>
            <a:ext cx="8138160" cy="320040"/>
          </a:xfrm>
          <a:prstGeom prst="rect">
            <a:avLst/>
          </a:prstGeom>
          <a:noFill/>
          <a:ln/>
        </p:spPr>
        <p:txBody>
          <a:bodyPr wrap="square" lIns="0" tIns="0" rIns="0" bIns="0" rtlCol="0" anchor="ctr"/>
          <a:lstStyle/>
          <a:p>
            <a:pPr marL="0" indent="0" algn="ctr">
              <a:buNone/>
            </a:pPr>
            <a:r>
              <a:rPr lang="en-US" sz="1100" i="1" dirty="0">
                <a:solidFill>
                  <a:srgbClr val="6B7C93"/>
                </a:solidFill>
                <a:latin typeface="Calibri" pitchFamily="34" charset="0"/>
                <a:ea typeface="Calibri" pitchFamily="34" charset="-122"/>
                <a:cs typeface="Calibri" pitchFamily="34" charset="-120"/>
              </a:rPr>
              <a:t>Ključ: validValue se rasiri svima (Lema 6), uvek postoji 'dobar' predlagac, a tajmauti rastu dok ne premase Δ.</a:t>
            </a:r>
            <a:endParaRPr lang="en-US" sz="1100" dirty="0"/>
          </a:p>
        </p:txBody>
      </p:sp>
      <p:sp>
        <p:nvSpPr>
          <p:cNvPr id="18" name="Text 15"/>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21</a:t>
            </a:r>
            <a:endParaRPr lang="en-US" sz="900" dirty="0"/>
          </a:p>
        </p:txBody>
      </p:sp>
      <p:sp>
        <p:nvSpPr>
          <p:cNvPr id="19" name="Text 16"/>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Osobine — zivost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OSOBINE — SLOZENOST</a:t>
            </a:r>
            <a:endParaRPr lang="en-US" sz="1200" dirty="0"/>
          </a:p>
        </p:txBody>
      </p:sp>
      <p:sp>
        <p:nvSpPr>
          <p:cNvPr id="3" name="Text 1"/>
          <p:cNvSpPr/>
          <p:nvPr/>
        </p:nvSpPr>
        <p:spPr>
          <a:xfrm>
            <a:off x="502920" y="566928"/>
            <a:ext cx="8229600" cy="713232"/>
          </a:xfrm>
          <a:prstGeom prst="rect">
            <a:avLst/>
          </a:prstGeom>
          <a:noFill/>
          <a:ln/>
        </p:spPr>
        <p:txBody>
          <a:bodyPr wrap="square" lIns="0" tIns="0" rIns="0" bIns="0" rtlCol="0" anchor="ctr"/>
          <a:lstStyle/>
          <a:p>
            <a:pPr marL="0" indent="0">
              <a:lnSpc>
                <a:spcPct val="98000"/>
              </a:lnSpc>
              <a:buNone/>
            </a:pPr>
            <a:r>
              <a:rPr lang="en-US" sz="3000" b="1" dirty="0">
                <a:solidFill>
                  <a:srgbClr val="0E2138"/>
                </a:solidFill>
                <a:latin typeface="Cambria" pitchFamily="34" charset="0"/>
                <a:ea typeface="Cambria" pitchFamily="34" charset="-122"/>
                <a:cs typeface="Cambria" pitchFamily="34" charset="-120"/>
              </a:rPr>
              <a:t>Slozenost i prakticne osobine</a:t>
            </a:r>
            <a:endParaRPr lang="en-US" sz="3000" dirty="0"/>
          </a:p>
        </p:txBody>
      </p:sp>
      <p:sp>
        <p:nvSpPr>
          <p:cNvPr id="4" name="Shape 2"/>
          <p:cNvSpPr/>
          <p:nvPr/>
        </p:nvSpPr>
        <p:spPr>
          <a:xfrm>
            <a:off x="502920" y="1627632"/>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5" name="Shape 3"/>
          <p:cNvSpPr/>
          <p:nvPr/>
        </p:nvSpPr>
        <p:spPr>
          <a:xfrm>
            <a:off x="704088" y="1847088"/>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6" name="Image 0" descr="preencoded.png"/>
          <p:cNvPicPr>
            <a:picLocks noChangeAspect="1"/>
          </p:cNvPicPr>
          <p:nvPr/>
        </p:nvPicPr>
        <p:blipFill>
          <a:blip r:embed="rId3"/>
          <a:stretch>
            <a:fillRect/>
          </a:stretch>
        </p:blipFill>
        <p:spPr>
          <a:xfrm>
            <a:off x="836676" y="1979676"/>
            <a:ext cx="265176" cy="265176"/>
          </a:xfrm>
          <a:prstGeom prst="rect">
            <a:avLst/>
          </a:prstGeom>
        </p:spPr>
      </p:pic>
      <p:sp>
        <p:nvSpPr>
          <p:cNvPr id="7" name="Text 4"/>
          <p:cNvSpPr/>
          <p:nvPr/>
        </p:nvSpPr>
        <p:spPr>
          <a:xfrm>
            <a:off x="1371600" y="1847088"/>
            <a:ext cx="2990088" cy="411480"/>
          </a:xfrm>
          <a:prstGeom prst="rect">
            <a:avLst/>
          </a:prstGeom>
          <a:noFill/>
          <a:ln/>
        </p:spPr>
        <p:txBody>
          <a:bodyPr wrap="square" lIns="0" tIns="0" rIns="0" bIns="0" rtlCol="0" anchor="ctr"/>
          <a:lstStyle/>
          <a:p>
            <a:pPr marL="0" indent="0">
              <a:lnSpc>
                <a:spcPct val="95000"/>
              </a:lnSpc>
              <a:buNone/>
            </a:pPr>
            <a:r>
              <a:rPr lang="en-US" sz="1350" b="1" dirty="0">
                <a:solidFill>
                  <a:srgbClr val="0E2138"/>
                </a:solidFill>
                <a:latin typeface="Cambria" pitchFamily="34" charset="0"/>
                <a:ea typeface="Cambria" pitchFamily="34" charset="-122"/>
                <a:cs typeface="Cambria" pitchFamily="34" charset="-120"/>
              </a:rPr>
              <a:t>Poruke: O(n²) po rundi</a:t>
            </a:r>
            <a:endParaRPr lang="en-US" sz="1350" dirty="0"/>
          </a:p>
        </p:txBody>
      </p:sp>
      <p:sp>
        <p:nvSpPr>
          <p:cNvPr id="8" name="Text 5"/>
          <p:cNvSpPr/>
          <p:nvPr/>
        </p:nvSpPr>
        <p:spPr>
          <a:xfrm>
            <a:off x="704088" y="2377440"/>
            <a:ext cx="3593592" cy="566928"/>
          </a:xfrm>
          <a:prstGeom prst="rect">
            <a:avLst/>
          </a:prstGeom>
          <a:noFill/>
          <a:ln/>
        </p:spPr>
        <p:txBody>
          <a:bodyPr wrap="square" lIns="0" tIns="0" rIns="0" bIns="0" rtlCol="0" anchor="ctr"/>
          <a:lstStyle/>
          <a:p>
            <a:pPr>
              <a:lnSpc>
                <a:spcPct val="97000"/>
              </a:lnSpc>
            </a:pPr>
            <a:r>
              <a:rPr lang="en-US" sz="1060" dirty="0">
                <a:solidFill>
                  <a:srgbClr val="44556A"/>
                </a:solidFill>
                <a:latin typeface="Calibri" pitchFamily="34" charset="0"/>
                <a:ea typeface="Calibri" pitchFamily="34" charset="-122"/>
                <a:cs typeface="Calibri" pitchFamily="34" charset="-120"/>
              </a:rPr>
              <a:t>Svaki glas ide svima (gossip all-to-all). Cena jednostavnosti; </a:t>
            </a:r>
            <a:r>
              <a:rPr lang="en-US" sz="1100" dirty="0"/>
              <a:t>Za </a:t>
            </a:r>
            <a:r>
              <a:rPr lang="en-US" sz="1100" dirty="0" err="1"/>
              <a:t>jako</a:t>
            </a:r>
            <a:r>
              <a:rPr lang="en-US" sz="1100" dirty="0"/>
              <a:t> </a:t>
            </a:r>
            <a:r>
              <a:rPr lang="en-US" sz="1100" dirty="0" err="1"/>
              <a:t>velike</a:t>
            </a:r>
            <a:r>
              <a:rPr lang="en-US" sz="1100" dirty="0"/>
              <a:t> </a:t>
            </a:r>
            <a:r>
              <a:rPr lang="en-US" sz="1100" dirty="0" err="1"/>
              <a:t>mreze</a:t>
            </a:r>
            <a:r>
              <a:rPr lang="en-US" sz="1100" dirty="0"/>
              <a:t> je </a:t>
            </a:r>
            <a:r>
              <a:rPr lang="en-US" sz="1100" dirty="0" err="1"/>
              <a:t>usko</a:t>
            </a:r>
            <a:r>
              <a:rPr lang="en-US" sz="1100" dirty="0"/>
              <a:t> </a:t>
            </a:r>
            <a:r>
              <a:rPr lang="en-US" sz="1100" dirty="0" err="1"/>
              <a:t>grlo</a:t>
            </a:r>
            <a:endParaRPr lang="en-US" sz="1060" dirty="0"/>
          </a:p>
        </p:txBody>
      </p:sp>
      <p:sp>
        <p:nvSpPr>
          <p:cNvPr id="9" name="Shape 6"/>
          <p:cNvSpPr/>
          <p:nvPr/>
        </p:nvSpPr>
        <p:spPr>
          <a:xfrm>
            <a:off x="4645152" y="1627632"/>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0" name="Shape 7"/>
          <p:cNvSpPr/>
          <p:nvPr/>
        </p:nvSpPr>
        <p:spPr>
          <a:xfrm>
            <a:off x="4846320" y="1847088"/>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11" name="Image 1" descr="preencoded.png"/>
          <p:cNvPicPr>
            <a:picLocks noChangeAspect="1"/>
          </p:cNvPicPr>
          <p:nvPr/>
        </p:nvPicPr>
        <p:blipFill>
          <a:blip r:embed="rId4"/>
          <a:stretch>
            <a:fillRect/>
          </a:stretch>
        </p:blipFill>
        <p:spPr>
          <a:xfrm>
            <a:off x="4978908" y="1979676"/>
            <a:ext cx="265176" cy="265176"/>
          </a:xfrm>
          <a:prstGeom prst="rect">
            <a:avLst/>
          </a:prstGeom>
        </p:spPr>
      </p:pic>
      <p:sp>
        <p:nvSpPr>
          <p:cNvPr id="12" name="Text 8"/>
          <p:cNvSpPr/>
          <p:nvPr/>
        </p:nvSpPr>
        <p:spPr>
          <a:xfrm>
            <a:off x="5513832" y="1847088"/>
            <a:ext cx="2990088" cy="411480"/>
          </a:xfrm>
          <a:prstGeom prst="rect">
            <a:avLst/>
          </a:prstGeom>
          <a:noFill/>
          <a:ln/>
        </p:spPr>
        <p:txBody>
          <a:bodyPr wrap="square" lIns="0" tIns="0" rIns="0" bIns="0" rtlCol="0" anchor="ctr"/>
          <a:lstStyle/>
          <a:p>
            <a:pPr marL="0" indent="0">
              <a:lnSpc>
                <a:spcPct val="95000"/>
              </a:lnSpc>
              <a:buNone/>
            </a:pPr>
            <a:r>
              <a:rPr lang="en-US" sz="1350" b="1" dirty="0">
                <a:solidFill>
                  <a:srgbClr val="0E2138"/>
                </a:solidFill>
                <a:latin typeface="Cambria" pitchFamily="34" charset="0"/>
                <a:ea typeface="Cambria" pitchFamily="34" charset="-122"/>
                <a:cs typeface="Cambria" pitchFamily="34" charset="-120"/>
              </a:rPr>
              <a:t>Latencija: 3 koraka</a:t>
            </a:r>
            <a:endParaRPr lang="en-US" sz="1350" dirty="0"/>
          </a:p>
        </p:txBody>
      </p:sp>
      <p:sp>
        <p:nvSpPr>
          <p:cNvPr id="13" name="Text 9"/>
          <p:cNvSpPr/>
          <p:nvPr/>
        </p:nvSpPr>
        <p:spPr>
          <a:xfrm>
            <a:off x="4846320" y="2377440"/>
            <a:ext cx="3593592" cy="566928"/>
          </a:xfrm>
          <a:prstGeom prst="rect">
            <a:avLst/>
          </a:prstGeom>
          <a:noFill/>
          <a:ln/>
        </p:spPr>
        <p:txBody>
          <a:bodyPr wrap="square" lIns="0" tIns="0" rIns="0" bIns="0" rtlCol="0" anchor="ctr"/>
          <a:lstStyle/>
          <a:p>
            <a:pPr marL="0" indent="0">
              <a:lnSpc>
                <a:spcPct val="97000"/>
              </a:lnSpc>
              <a:buNone/>
            </a:pPr>
            <a:r>
              <a:rPr lang="en-US" sz="1060" dirty="0">
                <a:solidFill>
                  <a:srgbClr val="44556A"/>
                </a:solidFill>
                <a:latin typeface="Calibri" pitchFamily="34" charset="0"/>
                <a:ea typeface="Calibri" pitchFamily="34" charset="-122"/>
                <a:cs typeface="Calibri" pitchFamily="34" charset="-120"/>
              </a:rPr>
              <a:t>U dobrom slucaju odluka za 3 komunikacione razmene — optimalno za ovu klasu, kao PBFT.</a:t>
            </a:r>
            <a:endParaRPr lang="en-US" sz="1060" dirty="0"/>
          </a:p>
        </p:txBody>
      </p:sp>
      <p:sp>
        <p:nvSpPr>
          <p:cNvPr id="14" name="Shape 10"/>
          <p:cNvSpPr/>
          <p:nvPr/>
        </p:nvSpPr>
        <p:spPr>
          <a:xfrm>
            <a:off x="502920" y="3145536"/>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15" name="Shape 11"/>
          <p:cNvSpPr/>
          <p:nvPr/>
        </p:nvSpPr>
        <p:spPr>
          <a:xfrm>
            <a:off x="704088" y="3364992"/>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16" name="Image 2" descr="preencoded.png"/>
          <p:cNvPicPr>
            <a:picLocks noChangeAspect="1"/>
          </p:cNvPicPr>
          <p:nvPr/>
        </p:nvPicPr>
        <p:blipFill>
          <a:blip r:embed="rId5"/>
          <a:stretch>
            <a:fillRect/>
          </a:stretch>
        </p:blipFill>
        <p:spPr>
          <a:xfrm>
            <a:off x="836676" y="3497580"/>
            <a:ext cx="265176" cy="265176"/>
          </a:xfrm>
          <a:prstGeom prst="rect">
            <a:avLst/>
          </a:prstGeom>
        </p:spPr>
      </p:pic>
      <p:sp>
        <p:nvSpPr>
          <p:cNvPr id="17" name="Text 12"/>
          <p:cNvSpPr/>
          <p:nvPr/>
        </p:nvSpPr>
        <p:spPr>
          <a:xfrm>
            <a:off x="1371600" y="3364992"/>
            <a:ext cx="2990088" cy="411480"/>
          </a:xfrm>
          <a:prstGeom prst="rect">
            <a:avLst/>
          </a:prstGeom>
          <a:noFill/>
          <a:ln/>
        </p:spPr>
        <p:txBody>
          <a:bodyPr wrap="square" lIns="0" tIns="0" rIns="0" bIns="0" rtlCol="0" anchor="ctr"/>
          <a:lstStyle/>
          <a:p>
            <a:pPr marL="0" indent="0">
              <a:lnSpc>
                <a:spcPct val="95000"/>
              </a:lnSpc>
              <a:buNone/>
            </a:pPr>
            <a:r>
              <a:rPr lang="en-US" sz="1350" b="1" dirty="0">
                <a:solidFill>
                  <a:srgbClr val="0E2138"/>
                </a:solidFill>
                <a:latin typeface="Cambria" pitchFamily="34" charset="0"/>
                <a:ea typeface="Cambria" pitchFamily="34" charset="-122"/>
                <a:cs typeface="Cambria" pitchFamily="34" charset="-120"/>
              </a:rPr>
              <a:t>Jedan mod rada</a:t>
            </a:r>
            <a:endParaRPr lang="en-US" sz="1350" dirty="0"/>
          </a:p>
        </p:txBody>
      </p:sp>
      <p:sp>
        <p:nvSpPr>
          <p:cNvPr id="18" name="Text 13"/>
          <p:cNvSpPr/>
          <p:nvPr/>
        </p:nvSpPr>
        <p:spPr>
          <a:xfrm>
            <a:off x="704088" y="3895344"/>
            <a:ext cx="3593592" cy="566928"/>
          </a:xfrm>
          <a:prstGeom prst="rect">
            <a:avLst/>
          </a:prstGeom>
          <a:noFill/>
          <a:ln/>
        </p:spPr>
        <p:txBody>
          <a:bodyPr wrap="square" lIns="0" tIns="0" rIns="0" bIns="0" rtlCol="0" anchor="ctr"/>
          <a:lstStyle/>
          <a:p>
            <a:pPr marL="0" indent="0">
              <a:lnSpc>
                <a:spcPct val="97000"/>
              </a:lnSpc>
              <a:buNone/>
            </a:pPr>
            <a:r>
              <a:rPr lang="en-US" sz="1060" dirty="0">
                <a:solidFill>
                  <a:srgbClr val="44556A"/>
                </a:solidFill>
                <a:latin typeface="Calibri" pitchFamily="34" charset="0"/>
                <a:ea typeface="Calibri" pitchFamily="34" charset="-122"/>
                <a:cs typeface="Calibri" pitchFamily="34" charset="-120"/>
              </a:rPr>
              <a:t>Promena lidera je obican prelaz u novu rundu — nema posebnog 'recovery' </a:t>
            </a:r>
            <a:r>
              <a:rPr lang="en-US" sz="1060" dirty="0" err="1">
                <a:solidFill>
                  <a:srgbClr val="44556A"/>
                </a:solidFill>
                <a:latin typeface="Calibri" pitchFamily="34" charset="0"/>
                <a:ea typeface="Calibri" pitchFamily="34" charset="-122"/>
                <a:cs typeface="Calibri" pitchFamily="34" charset="-120"/>
              </a:rPr>
              <a:t>moda</a:t>
            </a:r>
            <a:r>
              <a:rPr lang="en-US" sz="1060" dirty="0">
                <a:solidFill>
                  <a:srgbClr val="44556A"/>
                </a:solidFill>
                <a:latin typeface="Calibri" pitchFamily="34" charset="0"/>
                <a:ea typeface="Calibri" pitchFamily="34" charset="-122"/>
                <a:cs typeface="Calibri" pitchFamily="34" charset="-120"/>
              </a:rPr>
              <a:t> . </a:t>
            </a:r>
            <a:r>
              <a:rPr lang="en-US" sz="1060" dirty="0" err="1">
                <a:solidFill>
                  <a:srgbClr val="44556A"/>
                </a:solidFill>
                <a:latin typeface="Calibri" pitchFamily="34" charset="0"/>
                <a:ea typeface="Calibri" pitchFamily="34" charset="-122"/>
                <a:cs typeface="Calibri" pitchFamily="34" charset="-120"/>
              </a:rPr>
              <a:t>Jednostavniji</a:t>
            </a:r>
            <a:r>
              <a:rPr lang="en-US" sz="1060" dirty="0">
                <a:solidFill>
                  <a:srgbClr val="44556A"/>
                </a:solidFill>
                <a:latin typeface="Calibri" pitchFamily="34" charset="0"/>
                <a:ea typeface="Calibri" pitchFamily="34" charset="-122"/>
                <a:cs typeface="Calibri" pitchFamily="34" charset="-120"/>
              </a:rPr>
              <a:t> za </a:t>
            </a:r>
            <a:r>
              <a:rPr lang="en-US" sz="1060" dirty="0" err="1">
                <a:solidFill>
                  <a:srgbClr val="44556A"/>
                </a:solidFill>
                <a:latin typeface="Calibri" pitchFamily="34" charset="0"/>
                <a:ea typeface="Calibri" pitchFamily="34" charset="-122"/>
                <a:cs typeface="Calibri" pitchFamily="34" charset="-120"/>
              </a:rPr>
              <a:t>implementaciju</a:t>
            </a:r>
            <a:endParaRPr lang="en-US" sz="1060" dirty="0"/>
          </a:p>
        </p:txBody>
      </p:sp>
      <p:sp>
        <p:nvSpPr>
          <p:cNvPr id="19" name="Shape 14"/>
          <p:cNvSpPr/>
          <p:nvPr/>
        </p:nvSpPr>
        <p:spPr>
          <a:xfrm>
            <a:off x="4645152" y="3145536"/>
            <a:ext cx="3995928" cy="1371600"/>
          </a:xfrm>
          <a:prstGeom prst="roundRect">
            <a:avLst>
              <a:gd name="adj" fmla="val 6667"/>
            </a:avLst>
          </a:prstGeom>
          <a:solidFill>
            <a:srgbClr val="FFFFFF"/>
          </a:solidFill>
          <a:ln/>
          <a:effectLst>
            <a:outerShdw blurRad="114300" dist="38100" dir="5400000" algn="bl" rotWithShape="0">
              <a:srgbClr val="0B1A2E">
                <a:alpha val="13000"/>
              </a:srgbClr>
            </a:outerShdw>
          </a:effectLst>
        </p:spPr>
      </p:sp>
      <p:sp>
        <p:nvSpPr>
          <p:cNvPr id="20" name="Shape 15"/>
          <p:cNvSpPr/>
          <p:nvPr/>
        </p:nvSpPr>
        <p:spPr>
          <a:xfrm>
            <a:off x="4846320" y="3364992"/>
            <a:ext cx="530352" cy="530352"/>
          </a:xfrm>
          <a:prstGeom prst="ellipse">
            <a:avLst/>
          </a:prstGeom>
          <a:solidFill>
            <a:srgbClr val="0E2A47"/>
          </a:solidFill>
          <a:ln/>
          <a:effectLst>
            <a:outerShdw blurRad="88900" dist="25400" dir="5400000" algn="bl" rotWithShape="0">
              <a:srgbClr val="0B1A2E">
                <a:alpha val="16000"/>
              </a:srgbClr>
            </a:outerShdw>
          </a:effectLst>
        </p:spPr>
      </p:sp>
      <p:pic>
        <p:nvPicPr>
          <p:cNvPr id="21" name="Image 3" descr="preencoded.png"/>
          <p:cNvPicPr>
            <a:picLocks noChangeAspect="1"/>
          </p:cNvPicPr>
          <p:nvPr/>
        </p:nvPicPr>
        <p:blipFill>
          <a:blip r:embed="rId6"/>
          <a:stretch>
            <a:fillRect/>
          </a:stretch>
        </p:blipFill>
        <p:spPr>
          <a:xfrm>
            <a:off x="4978908" y="3497580"/>
            <a:ext cx="265176" cy="265176"/>
          </a:xfrm>
          <a:prstGeom prst="rect">
            <a:avLst/>
          </a:prstGeom>
        </p:spPr>
      </p:pic>
      <p:sp>
        <p:nvSpPr>
          <p:cNvPr id="22" name="Text 16"/>
          <p:cNvSpPr/>
          <p:nvPr/>
        </p:nvSpPr>
        <p:spPr>
          <a:xfrm>
            <a:off x="5513832" y="3364992"/>
            <a:ext cx="2990088" cy="411480"/>
          </a:xfrm>
          <a:prstGeom prst="rect">
            <a:avLst/>
          </a:prstGeom>
          <a:noFill/>
          <a:ln/>
        </p:spPr>
        <p:txBody>
          <a:bodyPr wrap="square" lIns="0" tIns="0" rIns="0" bIns="0" rtlCol="0" anchor="ctr"/>
          <a:lstStyle/>
          <a:p>
            <a:pPr marL="0" indent="0">
              <a:lnSpc>
                <a:spcPct val="95000"/>
              </a:lnSpc>
              <a:buNone/>
            </a:pPr>
            <a:r>
              <a:rPr lang="en-US" sz="1350" b="1" dirty="0">
                <a:solidFill>
                  <a:srgbClr val="0E2138"/>
                </a:solidFill>
                <a:latin typeface="Cambria" pitchFamily="34" charset="0"/>
                <a:ea typeface="Cambria" pitchFamily="34" charset="-122"/>
                <a:cs typeface="Cambria" pitchFamily="34" charset="-120"/>
              </a:rPr>
              <a:t>Mali glasovi</a:t>
            </a:r>
            <a:endParaRPr lang="en-US" sz="1350" dirty="0"/>
          </a:p>
        </p:txBody>
      </p:sp>
      <p:sp>
        <p:nvSpPr>
          <p:cNvPr id="23" name="Text 17"/>
          <p:cNvSpPr/>
          <p:nvPr/>
        </p:nvSpPr>
        <p:spPr>
          <a:xfrm>
            <a:off x="4846320" y="3895344"/>
            <a:ext cx="3593592" cy="566928"/>
          </a:xfrm>
          <a:prstGeom prst="rect">
            <a:avLst/>
          </a:prstGeom>
          <a:noFill/>
          <a:ln/>
        </p:spPr>
        <p:txBody>
          <a:bodyPr wrap="square" lIns="0" tIns="0" rIns="0" bIns="0" rtlCol="0" anchor="ctr"/>
          <a:lstStyle/>
          <a:p>
            <a:pPr marL="0" indent="0">
              <a:lnSpc>
                <a:spcPct val="97000"/>
              </a:lnSpc>
              <a:buNone/>
            </a:pPr>
            <a:r>
              <a:rPr lang="en-US" sz="1060" dirty="0">
                <a:solidFill>
                  <a:srgbClr val="44556A"/>
                </a:solidFill>
                <a:latin typeface="Calibri" pitchFamily="34" charset="0"/>
                <a:ea typeface="Calibri" pitchFamily="34" charset="-122"/>
                <a:cs typeface="Calibri" pitchFamily="34" charset="-120"/>
              </a:rPr>
              <a:t>Samo PROPOSAL nosi ceo blok; PREVOTE/PRECOMMIT nose hes id(v) → manje podataka po mrezi.</a:t>
            </a:r>
            <a:endParaRPr lang="en-US" sz="1060" dirty="0"/>
          </a:p>
        </p:txBody>
      </p:sp>
      <p:sp>
        <p:nvSpPr>
          <p:cNvPr id="25" name="Text 18"/>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22</a:t>
            </a:r>
            <a:endParaRPr lang="en-US" sz="900" dirty="0"/>
          </a:p>
        </p:txBody>
      </p:sp>
      <p:sp>
        <p:nvSpPr>
          <p:cNvPr id="26" name="Text 19"/>
          <p:cNvSpPr/>
          <p:nvPr/>
        </p:nvSpPr>
        <p:spPr>
          <a:xfrm>
            <a:off x="502920" y="4828032"/>
            <a:ext cx="6400800" cy="22860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Osobine — slozenost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flipV="1">
            <a:off x="365760" y="3291840"/>
            <a:ext cx="905256" cy="201168"/>
          </a:xfrm>
          <a:prstGeom prst="line">
            <a:avLst/>
          </a:prstGeom>
          <a:noFill/>
          <a:ln w="12700">
            <a:solidFill>
              <a:srgbClr val="5EEAD4">
                <a:alpha val="32000"/>
              </a:srgbClr>
            </a:solidFill>
            <a:prstDash val="solid"/>
          </a:ln>
        </p:spPr>
      </p:sp>
      <p:sp>
        <p:nvSpPr>
          <p:cNvPr id="3" name="Shape 1"/>
          <p:cNvSpPr/>
          <p:nvPr/>
        </p:nvSpPr>
        <p:spPr>
          <a:xfrm>
            <a:off x="1271016" y="3291840"/>
            <a:ext cx="804672" cy="502920"/>
          </a:xfrm>
          <a:prstGeom prst="line">
            <a:avLst/>
          </a:prstGeom>
          <a:noFill/>
          <a:ln w="12700">
            <a:solidFill>
              <a:srgbClr val="5EEAD4">
                <a:alpha val="32000"/>
              </a:srgbClr>
            </a:solidFill>
            <a:prstDash val="solid"/>
          </a:ln>
        </p:spPr>
      </p:sp>
      <p:sp>
        <p:nvSpPr>
          <p:cNvPr id="4" name="Shape 2"/>
          <p:cNvSpPr/>
          <p:nvPr/>
        </p:nvSpPr>
        <p:spPr>
          <a:xfrm>
            <a:off x="365760" y="3493008"/>
            <a:ext cx="301752" cy="804672"/>
          </a:xfrm>
          <a:prstGeom prst="line">
            <a:avLst/>
          </a:prstGeom>
          <a:noFill/>
          <a:ln w="12700">
            <a:solidFill>
              <a:srgbClr val="5EEAD4">
                <a:alpha val="32000"/>
              </a:srgbClr>
            </a:solidFill>
            <a:prstDash val="solid"/>
          </a:ln>
        </p:spPr>
      </p:sp>
      <p:sp>
        <p:nvSpPr>
          <p:cNvPr id="5" name="Shape 3"/>
          <p:cNvSpPr/>
          <p:nvPr/>
        </p:nvSpPr>
        <p:spPr>
          <a:xfrm flipV="1">
            <a:off x="667512" y="3291840"/>
            <a:ext cx="603504" cy="1005840"/>
          </a:xfrm>
          <a:prstGeom prst="line">
            <a:avLst/>
          </a:prstGeom>
          <a:noFill/>
          <a:ln w="12700">
            <a:solidFill>
              <a:srgbClr val="5EEAD4">
                <a:alpha val="32000"/>
              </a:srgbClr>
            </a:solidFill>
            <a:prstDash val="solid"/>
          </a:ln>
        </p:spPr>
      </p:sp>
      <p:sp>
        <p:nvSpPr>
          <p:cNvPr id="6" name="Shape 4"/>
          <p:cNvSpPr/>
          <p:nvPr/>
        </p:nvSpPr>
        <p:spPr>
          <a:xfrm flipV="1">
            <a:off x="1572768" y="3794760"/>
            <a:ext cx="502920" cy="603504"/>
          </a:xfrm>
          <a:prstGeom prst="line">
            <a:avLst/>
          </a:prstGeom>
          <a:noFill/>
          <a:ln w="12700">
            <a:solidFill>
              <a:srgbClr val="5EEAD4">
                <a:alpha val="32000"/>
              </a:srgbClr>
            </a:solidFill>
            <a:prstDash val="solid"/>
          </a:ln>
        </p:spPr>
      </p:sp>
      <p:sp>
        <p:nvSpPr>
          <p:cNvPr id="7" name="Shape 5"/>
          <p:cNvSpPr/>
          <p:nvPr/>
        </p:nvSpPr>
        <p:spPr>
          <a:xfrm>
            <a:off x="667512" y="4297680"/>
            <a:ext cx="905256" cy="100584"/>
          </a:xfrm>
          <a:prstGeom prst="line">
            <a:avLst/>
          </a:prstGeom>
          <a:noFill/>
          <a:ln w="12700">
            <a:solidFill>
              <a:srgbClr val="5EEAD4">
                <a:alpha val="32000"/>
              </a:srgbClr>
            </a:solidFill>
            <a:prstDash val="solid"/>
          </a:ln>
        </p:spPr>
      </p:sp>
      <p:sp>
        <p:nvSpPr>
          <p:cNvPr id="8" name="Shape 6"/>
          <p:cNvSpPr/>
          <p:nvPr/>
        </p:nvSpPr>
        <p:spPr>
          <a:xfrm>
            <a:off x="1572768" y="4398264"/>
            <a:ext cx="905256" cy="150876"/>
          </a:xfrm>
          <a:prstGeom prst="line">
            <a:avLst/>
          </a:prstGeom>
          <a:noFill/>
          <a:ln w="12700">
            <a:solidFill>
              <a:srgbClr val="5EEAD4">
                <a:alpha val="32000"/>
              </a:srgbClr>
            </a:solidFill>
            <a:prstDash val="solid"/>
          </a:ln>
        </p:spPr>
      </p:sp>
      <p:sp>
        <p:nvSpPr>
          <p:cNvPr id="9" name="Shape 7"/>
          <p:cNvSpPr/>
          <p:nvPr/>
        </p:nvSpPr>
        <p:spPr>
          <a:xfrm>
            <a:off x="2075688" y="3794760"/>
            <a:ext cx="402336" cy="754380"/>
          </a:xfrm>
          <a:prstGeom prst="line">
            <a:avLst/>
          </a:prstGeom>
          <a:noFill/>
          <a:ln w="12700">
            <a:solidFill>
              <a:srgbClr val="5EEAD4">
                <a:alpha val="32000"/>
              </a:srgbClr>
            </a:solidFill>
            <a:prstDash val="solid"/>
          </a:ln>
        </p:spPr>
      </p:sp>
      <p:sp>
        <p:nvSpPr>
          <p:cNvPr id="10" name="Shape 8"/>
          <p:cNvSpPr/>
          <p:nvPr/>
        </p:nvSpPr>
        <p:spPr>
          <a:xfrm>
            <a:off x="306324" y="3433572"/>
            <a:ext cx="118872" cy="118872"/>
          </a:xfrm>
          <a:prstGeom prst="ellipse">
            <a:avLst/>
          </a:prstGeom>
          <a:solidFill>
            <a:srgbClr val="5EEAD4">
              <a:alpha val="32000"/>
            </a:srgbClr>
          </a:solidFill>
          <a:ln/>
        </p:spPr>
      </p:sp>
      <p:sp>
        <p:nvSpPr>
          <p:cNvPr id="11" name="Shape 9"/>
          <p:cNvSpPr/>
          <p:nvPr/>
        </p:nvSpPr>
        <p:spPr>
          <a:xfrm>
            <a:off x="1229868" y="3250692"/>
            <a:ext cx="82296" cy="82296"/>
          </a:xfrm>
          <a:prstGeom prst="ellipse">
            <a:avLst/>
          </a:prstGeom>
          <a:solidFill>
            <a:srgbClr val="16BFA6">
              <a:alpha val="32000"/>
            </a:srgbClr>
          </a:solidFill>
          <a:ln/>
        </p:spPr>
      </p:sp>
      <p:sp>
        <p:nvSpPr>
          <p:cNvPr id="12" name="Shape 10"/>
          <p:cNvSpPr/>
          <p:nvPr/>
        </p:nvSpPr>
        <p:spPr>
          <a:xfrm>
            <a:off x="2034540" y="3753612"/>
            <a:ext cx="82296" cy="82296"/>
          </a:xfrm>
          <a:prstGeom prst="ellipse">
            <a:avLst/>
          </a:prstGeom>
          <a:solidFill>
            <a:srgbClr val="5EEAD4">
              <a:alpha val="32000"/>
            </a:srgbClr>
          </a:solidFill>
          <a:ln/>
        </p:spPr>
      </p:sp>
      <p:sp>
        <p:nvSpPr>
          <p:cNvPr id="13" name="Shape 11"/>
          <p:cNvSpPr/>
          <p:nvPr/>
        </p:nvSpPr>
        <p:spPr>
          <a:xfrm>
            <a:off x="1513332" y="4338828"/>
            <a:ext cx="118872" cy="118872"/>
          </a:xfrm>
          <a:prstGeom prst="ellipse">
            <a:avLst/>
          </a:prstGeom>
          <a:solidFill>
            <a:srgbClr val="16BFA6">
              <a:alpha val="32000"/>
            </a:srgbClr>
          </a:solidFill>
          <a:ln/>
        </p:spPr>
      </p:sp>
      <p:sp>
        <p:nvSpPr>
          <p:cNvPr id="14" name="Shape 12"/>
          <p:cNvSpPr/>
          <p:nvPr/>
        </p:nvSpPr>
        <p:spPr>
          <a:xfrm>
            <a:off x="626364" y="4256532"/>
            <a:ext cx="82296" cy="82296"/>
          </a:xfrm>
          <a:prstGeom prst="ellipse">
            <a:avLst/>
          </a:prstGeom>
          <a:solidFill>
            <a:srgbClr val="5EEAD4">
              <a:alpha val="32000"/>
            </a:srgbClr>
          </a:solidFill>
          <a:ln/>
        </p:spPr>
      </p:sp>
      <p:sp>
        <p:nvSpPr>
          <p:cNvPr id="15" name="Shape 13"/>
          <p:cNvSpPr/>
          <p:nvPr/>
        </p:nvSpPr>
        <p:spPr>
          <a:xfrm>
            <a:off x="2436876" y="4507992"/>
            <a:ext cx="82296" cy="82296"/>
          </a:xfrm>
          <a:prstGeom prst="ellipse">
            <a:avLst/>
          </a:prstGeom>
          <a:solidFill>
            <a:srgbClr val="16BFA6">
              <a:alpha val="32000"/>
            </a:srgbClr>
          </a:solidFill>
          <a:ln/>
        </p:spPr>
      </p:sp>
      <p:sp>
        <p:nvSpPr>
          <p:cNvPr id="16" name="Shape 14"/>
          <p:cNvSpPr/>
          <p:nvPr/>
        </p:nvSpPr>
        <p:spPr>
          <a:xfrm flipV="1">
            <a:off x="6583680" y="457200"/>
            <a:ext cx="905256" cy="201168"/>
          </a:xfrm>
          <a:prstGeom prst="line">
            <a:avLst/>
          </a:prstGeom>
          <a:noFill/>
          <a:ln w="12700">
            <a:solidFill>
              <a:srgbClr val="5EEAD4">
                <a:alpha val="38000"/>
              </a:srgbClr>
            </a:solidFill>
            <a:prstDash val="solid"/>
          </a:ln>
        </p:spPr>
      </p:sp>
      <p:sp>
        <p:nvSpPr>
          <p:cNvPr id="17" name="Shape 15"/>
          <p:cNvSpPr/>
          <p:nvPr/>
        </p:nvSpPr>
        <p:spPr>
          <a:xfrm>
            <a:off x="7488936" y="457200"/>
            <a:ext cx="804672" cy="502920"/>
          </a:xfrm>
          <a:prstGeom prst="line">
            <a:avLst/>
          </a:prstGeom>
          <a:noFill/>
          <a:ln w="12700">
            <a:solidFill>
              <a:srgbClr val="5EEAD4">
                <a:alpha val="38000"/>
              </a:srgbClr>
            </a:solidFill>
            <a:prstDash val="solid"/>
          </a:ln>
        </p:spPr>
      </p:sp>
      <p:sp>
        <p:nvSpPr>
          <p:cNvPr id="18" name="Shape 16"/>
          <p:cNvSpPr/>
          <p:nvPr/>
        </p:nvSpPr>
        <p:spPr>
          <a:xfrm>
            <a:off x="6583680" y="658368"/>
            <a:ext cx="301752" cy="804672"/>
          </a:xfrm>
          <a:prstGeom prst="line">
            <a:avLst/>
          </a:prstGeom>
          <a:noFill/>
          <a:ln w="12700">
            <a:solidFill>
              <a:srgbClr val="5EEAD4">
                <a:alpha val="38000"/>
              </a:srgbClr>
            </a:solidFill>
            <a:prstDash val="solid"/>
          </a:ln>
        </p:spPr>
      </p:sp>
      <p:sp>
        <p:nvSpPr>
          <p:cNvPr id="19" name="Shape 17"/>
          <p:cNvSpPr/>
          <p:nvPr/>
        </p:nvSpPr>
        <p:spPr>
          <a:xfrm flipV="1">
            <a:off x="6885432" y="457200"/>
            <a:ext cx="603504" cy="1005840"/>
          </a:xfrm>
          <a:prstGeom prst="line">
            <a:avLst/>
          </a:prstGeom>
          <a:noFill/>
          <a:ln w="12700">
            <a:solidFill>
              <a:srgbClr val="5EEAD4">
                <a:alpha val="38000"/>
              </a:srgbClr>
            </a:solidFill>
            <a:prstDash val="solid"/>
          </a:ln>
        </p:spPr>
      </p:sp>
      <p:sp>
        <p:nvSpPr>
          <p:cNvPr id="20" name="Shape 18"/>
          <p:cNvSpPr/>
          <p:nvPr/>
        </p:nvSpPr>
        <p:spPr>
          <a:xfrm flipV="1">
            <a:off x="7790688" y="960120"/>
            <a:ext cx="502920" cy="603504"/>
          </a:xfrm>
          <a:prstGeom prst="line">
            <a:avLst/>
          </a:prstGeom>
          <a:noFill/>
          <a:ln w="12700">
            <a:solidFill>
              <a:srgbClr val="5EEAD4">
                <a:alpha val="38000"/>
              </a:srgbClr>
            </a:solidFill>
            <a:prstDash val="solid"/>
          </a:ln>
        </p:spPr>
      </p:sp>
      <p:sp>
        <p:nvSpPr>
          <p:cNvPr id="21" name="Shape 19"/>
          <p:cNvSpPr/>
          <p:nvPr/>
        </p:nvSpPr>
        <p:spPr>
          <a:xfrm>
            <a:off x="6885432" y="1463040"/>
            <a:ext cx="905256" cy="100584"/>
          </a:xfrm>
          <a:prstGeom prst="line">
            <a:avLst/>
          </a:prstGeom>
          <a:noFill/>
          <a:ln w="12700">
            <a:solidFill>
              <a:srgbClr val="5EEAD4">
                <a:alpha val="38000"/>
              </a:srgbClr>
            </a:solidFill>
            <a:prstDash val="solid"/>
          </a:ln>
        </p:spPr>
      </p:sp>
      <p:sp>
        <p:nvSpPr>
          <p:cNvPr id="22" name="Shape 20"/>
          <p:cNvSpPr/>
          <p:nvPr/>
        </p:nvSpPr>
        <p:spPr>
          <a:xfrm>
            <a:off x="7790688" y="1563624"/>
            <a:ext cx="905256" cy="150876"/>
          </a:xfrm>
          <a:prstGeom prst="line">
            <a:avLst/>
          </a:prstGeom>
          <a:noFill/>
          <a:ln w="12700">
            <a:solidFill>
              <a:srgbClr val="5EEAD4">
                <a:alpha val="38000"/>
              </a:srgbClr>
            </a:solidFill>
            <a:prstDash val="solid"/>
          </a:ln>
        </p:spPr>
      </p:sp>
      <p:sp>
        <p:nvSpPr>
          <p:cNvPr id="23" name="Shape 21"/>
          <p:cNvSpPr/>
          <p:nvPr/>
        </p:nvSpPr>
        <p:spPr>
          <a:xfrm>
            <a:off x="8293608" y="960120"/>
            <a:ext cx="402336" cy="754380"/>
          </a:xfrm>
          <a:prstGeom prst="line">
            <a:avLst/>
          </a:prstGeom>
          <a:noFill/>
          <a:ln w="12700">
            <a:solidFill>
              <a:srgbClr val="5EEAD4">
                <a:alpha val="38000"/>
              </a:srgbClr>
            </a:solidFill>
            <a:prstDash val="solid"/>
          </a:ln>
        </p:spPr>
      </p:sp>
      <p:sp>
        <p:nvSpPr>
          <p:cNvPr id="24" name="Shape 22"/>
          <p:cNvSpPr/>
          <p:nvPr/>
        </p:nvSpPr>
        <p:spPr>
          <a:xfrm>
            <a:off x="6524244" y="598932"/>
            <a:ext cx="118872" cy="118872"/>
          </a:xfrm>
          <a:prstGeom prst="ellipse">
            <a:avLst/>
          </a:prstGeom>
          <a:solidFill>
            <a:srgbClr val="5EEAD4">
              <a:alpha val="38000"/>
            </a:srgbClr>
          </a:solidFill>
          <a:ln/>
        </p:spPr>
      </p:sp>
      <p:sp>
        <p:nvSpPr>
          <p:cNvPr id="25" name="Shape 23"/>
          <p:cNvSpPr/>
          <p:nvPr/>
        </p:nvSpPr>
        <p:spPr>
          <a:xfrm>
            <a:off x="7447788" y="416052"/>
            <a:ext cx="82296" cy="82296"/>
          </a:xfrm>
          <a:prstGeom prst="ellipse">
            <a:avLst/>
          </a:prstGeom>
          <a:solidFill>
            <a:srgbClr val="16BFA6">
              <a:alpha val="38000"/>
            </a:srgbClr>
          </a:solidFill>
          <a:ln/>
        </p:spPr>
      </p:sp>
      <p:sp>
        <p:nvSpPr>
          <p:cNvPr id="26" name="Shape 24"/>
          <p:cNvSpPr/>
          <p:nvPr/>
        </p:nvSpPr>
        <p:spPr>
          <a:xfrm>
            <a:off x="8252460" y="918972"/>
            <a:ext cx="82296" cy="82296"/>
          </a:xfrm>
          <a:prstGeom prst="ellipse">
            <a:avLst/>
          </a:prstGeom>
          <a:solidFill>
            <a:srgbClr val="5EEAD4">
              <a:alpha val="38000"/>
            </a:srgbClr>
          </a:solidFill>
          <a:ln/>
        </p:spPr>
      </p:sp>
      <p:sp>
        <p:nvSpPr>
          <p:cNvPr id="27" name="Shape 25"/>
          <p:cNvSpPr/>
          <p:nvPr/>
        </p:nvSpPr>
        <p:spPr>
          <a:xfrm>
            <a:off x="7731252" y="1504188"/>
            <a:ext cx="118872" cy="118872"/>
          </a:xfrm>
          <a:prstGeom prst="ellipse">
            <a:avLst/>
          </a:prstGeom>
          <a:solidFill>
            <a:srgbClr val="16BFA6">
              <a:alpha val="38000"/>
            </a:srgbClr>
          </a:solidFill>
          <a:ln/>
        </p:spPr>
      </p:sp>
      <p:sp>
        <p:nvSpPr>
          <p:cNvPr id="28" name="Shape 26"/>
          <p:cNvSpPr/>
          <p:nvPr/>
        </p:nvSpPr>
        <p:spPr>
          <a:xfrm>
            <a:off x="6844284" y="1421892"/>
            <a:ext cx="82296" cy="82296"/>
          </a:xfrm>
          <a:prstGeom prst="ellipse">
            <a:avLst/>
          </a:prstGeom>
          <a:solidFill>
            <a:srgbClr val="5EEAD4">
              <a:alpha val="38000"/>
            </a:srgbClr>
          </a:solidFill>
          <a:ln/>
        </p:spPr>
      </p:sp>
      <p:sp>
        <p:nvSpPr>
          <p:cNvPr id="29" name="Shape 27"/>
          <p:cNvSpPr/>
          <p:nvPr/>
        </p:nvSpPr>
        <p:spPr>
          <a:xfrm>
            <a:off x="8654796" y="1673352"/>
            <a:ext cx="82296" cy="82296"/>
          </a:xfrm>
          <a:prstGeom prst="ellipse">
            <a:avLst/>
          </a:prstGeom>
          <a:solidFill>
            <a:srgbClr val="16BFA6">
              <a:alpha val="38000"/>
            </a:srgbClr>
          </a:solidFill>
          <a:ln/>
        </p:spPr>
      </p:sp>
      <p:sp>
        <p:nvSpPr>
          <p:cNvPr id="30" name="Shape 28"/>
          <p:cNvSpPr/>
          <p:nvPr/>
        </p:nvSpPr>
        <p:spPr>
          <a:xfrm>
            <a:off x="4069080" y="1280160"/>
            <a:ext cx="1005840" cy="1005840"/>
          </a:xfrm>
          <a:prstGeom prst="ellipse">
            <a:avLst/>
          </a:prstGeom>
          <a:solidFill>
            <a:srgbClr val="16BFA6"/>
          </a:solidFill>
          <a:ln/>
          <a:effectLst>
            <a:outerShdw blurRad="88900" dist="25400" dir="5400000" algn="bl" rotWithShape="0">
              <a:srgbClr val="0B1A2E">
                <a:alpha val="16000"/>
              </a:srgbClr>
            </a:outerShdw>
          </a:effectLst>
        </p:spPr>
      </p:sp>
      <p:pic>
        <p:nvPicPr>
          <p:cNvPr id="31" name="Image 0" descr="preencoded.png"/>
          <p:cNvPicPr>
            <a:picLocks noChangeAspect="1"/>
          </p:cNvPicPr>
          <p:nvPr/>
        </p:nvPicPr>
        <p:blipFill>
          <a:blip r:embed="rId3"/>
          <a:stretch>
            <a:fillRect/>
          </a:stretch>
        </p:blipFill>
        <p:spPr>
          <a:xfrm>
            <a:off x="4295394" y="1506474"/>
            <a:ext cx="553212" cy="553212"/>
          </a:xfrm>
          <a:prstGeom prst="rect">
            <a:avLst/>
          </a:prstGeom>
        </p:spPr>
      </p:pic>
      <p:sp>
        <p:nvSpPr>
          <p:cNvPr id="32" name="Text 29"/>
          <p:cNvSpPr/>
          <p:nvPr/>
        </p:nvSpPr>
        <p:spPr>
          <a:xfrm>
            <a:off x="914400" y="2468880"/>
            <a:ext cx="731520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Pitanja?</a:t>
            </a:r>
            <a:endParaRPr lang="en-US" sz="4600" dirty="0"/>
          </a:p>
        </p:txBody>
      </p:sp>
      <p:sp>
        <p:nvSpPr>
          <p:cNvPr id="33" name="Text 30"/>
          <p:cNvSpPr/>
          <p:nvPr/>
        </p:nvSpPr>
        <p:spPr>
          <a:xfrm>
            <a:off x="914400" y="3383280"/>
            <a:ext cx="7315200" cy="365760"/>
          </a:xfrm>
          <a:prstGeom prst="rect">
            <a:avLst/>
          </a:prstGeom>
          <a:noFill/>
          <a:ln/>
        </p:spPr>
        <p:txBody>
          <a:bodyPr wrap="square" lIns="0" tIns="0" rIns="0" bIns="0" rtlCol="0" anchor="ctr"/>
          <a:lstStyle/>
          <a:p>
            <a:pPr marL="0" indent="0" algn="ctr">
              <a:buNone/>
            </a:pPr>
            <a:r>
              <a:rPr lang="en-US" sz="1300" i="1" dirty="0">
                <a:solidFill>
                  <a:srgbClr val="5EEAD4"/>
                </a:solidFill>
                <a:latin typeface="Calibri" pitchFamily="34" charset="0"/>
                <a:ea typeface="Calibri" pitchFamily="34" charset="-122"/>
                <a:cs typeface="Calibri" pitchFamily="34" charset="-120"/>
              </a:rPr>
              <a:t>Algoritam kroz pseudokod  ·  bezbednost  ·  zivost  ·  slozenost</a:t>
            </a:r>
            <a:endParaRPr lang="en-US" sz="1300" dirty="0"/>
          </a:p>
        </p:txBody>
      </p:sp>
      <p:sp>
        <p:nvSpPr>
          <p:cNvPr id="35" name="Text 31"/>
          <p:cNvSpPr/>
          <p:nvPr/>
        </p:nvSpPr>
        <p:spPr>
          <a:xfrm>
            <a:off x="8503920" y="4828032"/>
            <a:ext cx="502920" cy="228600"/>
          </a:xfrm>
          <a:prstGeom prst="rect">
            <a:avLst/>
          </a:prstGeom>
          <a:noFill/>
          <a:ln/>
        </p:spPr>
        <p:txBody>
          <a:bodyPr wrap="square" lIns="0" tIns="0" rIns="0" bIns="0"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2371</TotalTime>
  <Words>7860</Words>
  <Application>Microsoft Office PowerPoint</Application>
  <PresentationFormat>On-screen Show (16:9)</PresentationFormat>
  <Paragraphs>496</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Tendermint BFT — analiza algoritma i osobine</dc:title>
  <dc:subject>PptxGenJS Presentation</dc:subject>
  <dc:creator>Tamara</dc:creator>
  <cp:lastModifiedBy>Student</cp:lastModifiedBy>
  <cp:revision>7</cp:revision>
  <dcterms:created xsi:type="dcterms:W3CDTF">2026-06-23T18:07:17Z</dcterms:created>
  <dcterms:modified xsi:type="dcterms:W3CDTF">2026-06-25T22:58:48Z</dcterms:modified>
</cp:coreProperties>
</file>